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1 · 30 s
Cada semana evalúo la condición física de mis pacientes: fuerza de prensión, caminata de 6 minutos, levantarse de la silla, medidas corporales. Cada valor hay que buscarlo en una tabla de percentiles según sexo, edad y talla, interpretarlo, escribirlo y compararlo con la visita anterior. Me llevaba ___ minutos por paciente y no tenía forma cómoda de ver la evolución. Elegí esta tarea porque es la que más se repite y la que más fricción me generaba.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2 · 90 s
Usé Claude (plan ___). Le describí la tarea en castellano y me devolvió código Python. Lo publiqué con Streamlit, que lo convierte en una página web. Al principio era una calculadora de tres pruebas. Cuando quise ver la evolución de cada paciente, agregamos una base de datos (Supabase) y el código se guarda en GitHub para poder volver atrás.
El primer prompt era de dos líneas y devolvía algo genérico. El que funcionó tenía tres cosas: el rol, la tabla de referencia pegada tal cual, y el formato exacto de salida (semáforo por percentil). Hicieron falta ___ intentos.
Qué no le di: nunca datos reales de pacientes. Siempre casos inventados.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BLOQUE 3 · 120 s
Lo uso en cada consulta desde abril: ___ pacientes. El informe con semáforo sale en segundos y me ahorra ___ minutos por paciente.
Lo que falló: (1) El código funciona, pero yo no puedo leerlo. Descubrí que no tenía forma de saber si un percentil estaba bien calculado salvo rehaciéndolo a mano. (2) La aplicación estuvo meses abierta en internet sin contraseña: cualquiera con el enlace podía entrar. Lo arreglamos la semana pasada. (3) Las tablas de referencia quedaron metidas dentro del código, sin anotar de qué publicación salen. Si un colega me pregunta la fuente, hoy tengo que buscarla.
BLOQUE 4 · 60 s
Repito: la calculadora, y pedirle siempre a la IA el código completo. Descarto: dar por bueno algo porque corre. Me falta: usuarios y contraseña, copias de seguridad, y aprender a revisar un cambio antes de publicarlo.
Si mañana lo hiciera otra vez, empezaría por la seguridad y los casos de prueba, no por el informe bonito.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BLOQUE 1 · EL PROBLEMA</a:t>
            </a:r>
            <a:endParaRPr lang="en-US" sz="1100" dirty="0"/>
          </a:p>
        </p:txBody>
      </p:sp>
      <p:sp>
        <p:nvSpPr>
          <p:cNvPr id="3" name="Text 1"/>
          <p:cNvSpPr txBox="1"/>
          <p:nvPr/>
        </p:nvSpPr>
        <p:spPr>
          <a:xfrm>
            <a:off x="457200" y="566928"/>
            <a:ext cx="6858000" cy="868680"/>
          </a:xfrm>
          <a:prstGeom prst="rect">
            <a:avLst/>
          </a:prstGeom>
          <a:noFill/>
          <a:ln/>
        </p:spPr>
        <p:txBody>
          <a:bodyPr wrap="square" lIns="0" tIns="0" rIns="0" bIns="0" rtlCol="0" anchor="t"/>
          <a:lstStyle/>
          <a:p>
            <a:pPr indent="0" marL="0">
              <a:buNone/>
            </a:pPr>
            <a:r>
              <a:rPr lang="en-US" sz="2400" b="1" dirty="0">
                <a:solidFill>
                  <a:srgbClr val="1F2A30"/>
                </a:solidFill>
                <a:latin typeface="Cambria" pitchFamily="34" charset="0"/>
                <a:ea typeface="Cambria" pitchFamily="34" charset="-122"/>
                <a:cs typeface="Cambria" pitchFamily="34" charset="-120"/>
              </a:rPr>
              <a:t>Evaluar la condición física llevaba más tiempo que la consulta</a:t>
            </a:r>
            <a:endParaRPr lang="en-US" sz="2400" dirty="0"/>
          </a:p>
        </p:txBody>
      </p:sp>
      <p:sp>
        <p:nvSpPr>
          <p:cNvPr id="4" name="Shape 2"/>
          <p:cNvSpPr/>
          <p:nvPr/>
        </p:nvSpPr>
        <p:spPr>
          <a:xfrm>
            <a:off x="7589520" y="411480"/>
            <a:ext cx="1097280" cy="384048"/>
          </a:xfrm>
          <a:prstGeom prst="roundRect">
            <a:avLst>
              <a:gd name="adj" fmla="val 23810"/>
            </a:avLst>
          </a:prstGeom>
          <a:solidFill>
            <a:srgbClr val="E6F3F4"/>
          </a:solidFill>
          <a:ln w="12700">
            <a:solidFill>
              <a:srgbClr val="E6F3F4"/>
            </a:solidFill>
            <a:prstDash val="solid"/>
          </a:ln>
        </p:spPr>
      </p:sp>
      <p:sp>
        <p:nvSpPr>
          <p:cNvPr id="5" name="Text 3"/>
          <p:cNvSpPr txBox="1"/>
          <p:nvPr/>
        </p:nvSpPr>
        <p:spPr>
          <a:xfrm>
            <a:off x="7589520" y="411480"/>
            <a:ext cx="1097280" cy="384048"/>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 30 s</a:t>
            </a:r>
            <a:endParaRPr lang="en-US" sz="1200" dirty="0"/>
          </a:p>
        </p:txBody>
      </p:sp>
      <p:sp>
        <p:nvSpPr>
          <p:cNvPr id="6" name="Text 4"/>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1000" dirty="0">
                <a:solidFill>
                  <a:srgbClr val="6B7A82"/>
                </a:solidFill>
                <a:latin typeface="Calibri" pitchFamily="34" charset="0"/>
                <a:ea typeface="Calibri" pitchFamily="34" charset="-122"/>
                <a:cs typeface="Calibri" pitchFamily="34" charset="-120"/>
              </a:rPr>
              <a:t>01</a:t>
            </a:r>
            <a:endParaRPr lang="en-US" sz="1000" dirty="0"/>
          </a:p>
        </p:txBody>
      </p:sp>
      <p:sp>
        <p:nvSpPr>
          <p:cNvPr id="7" name="Text 5"/>
          <p:cNvSpPr txBox="1"/>
          <p:nvPr/>
        </p:nvSpPr>
        <p:spPr>
          <a:xfrm>
            <a:off x="457200" y="1572768"/>
            <a:ext cx="4206240" cy="1737360"/>
          </a:xfrm>
          <a:prstGeom prst="rect">
            <a:avLst/>
          </a:prstGeom>
          <a:noFill/>
          <a:ln/>
        </p:spPr>
        <p:txBody>
          <a:bodyPr wrap="square" lIns="0" tIns="0" rIns="0" bIns="0" rtlCol="0" anchor="t"/>
          <a:lstStyle/>
          <a:p>
            <a:pPr indent="0" marL="0">
              <a:buNone/>
            </a:pPr>
            <a:r>
              <a:rPr lang="en-US" sz="1400" dirty="0">
                <a:solidFill>
                  <a:srgbClr val="1F2A30"/>
                </a:solidFill>
                <a:latin typeface="Calibri" pitchFamily="34" charset="0"/>
                <a:ea typeface="Calibri" pitchFamily="34" charset="-122"/>
                <a:cs typeface="Calibri" pitchFamily="34" charset="-120"/>
              </a:rPr>
              <a:t>Prensión manual, caminata de 6 minutos, levantarse de la silla, antropometría. Cada resultado hay que buscarlo en una tabla de percentiles por sexo, edad y talla, interpretarlo, escribirlo en el informe y compararlo con la visita anterior.</a:t>
            </a:r>
            <a:endParaRPr lang="en-US" sz="1400" dirty="0"/>
          </a:p>
        </p:txBody>
      </p:sp>
      <p:sp>
        <p:nvSpPr>
          <p:cNvPr id="8" name="Text 6"/>
          <p:cNvSpPr txBox="1"/>
          <p:nvPr/>
        </p:nvSpPr>
        <p:spPr>
          <a:xfrm>
            <a:off x="457200" y="3401568"/>
            <a:ext cx="4206240" cy="457200"/>
          </a:xfrm>
          <a:prstGeom prst="rect">
            <a:avLst/>
          </a:prstGeom>
          <a:noFill/>
          <a:ln/>
        </p:spPr>
        <p:txBody>
          <a:bodyPr wrap="square" lIns="0" tIns="0" rIns="0" bIns="0" rtlCol="0" anchor="ctr"/>
          <a:lstStyle/>
          <a:p>
            <a:pPr indent="0" marL="0">
              <a:buNone/>
            </a:pPr>
            <a:r>
              <a:rPr lang="en-US" sz="1500" i="1" dirty="0">
                <a:solidFill>
                  <a:srgbClr val="028090"/>
                </a:solidFill>
                <a:latin typeface="Cambria" pitchFamily="34" charset="0"/>
                <a:ea typeface="Cambria" pitchFamily="34" charset="-122"/>
                <a:cs typeface="Cambria" pitchFamily="34" charset="-120"/>
              </a:rPr>
              <a:t>Cada paciente, cada visita. A mano y en Excel.</a:t>
            </a:r>
            <a:endParaRPr lang="en-US" sz="1500" dirty="0"/>
          </a:p>
        </p:txBody>
      </p:sp>
      <p:sp>
        <p:nvSpPr>
          <p:cNvPr id="9" name="Shape 7"/>
          <p:cNvSpPr/>
          <p:nvPr/>
        </p:nvSpPr>
        <p:spPr>
          <a:xfrm>
            <a:off x="5120640" y="1572768"/>
            <a:ext cx="3566160" cy="868680"/>
          </a:xfrm>
          <a:prstGeom prst="roundRect">
            <a:avLst>
              <a:gd name="adj" fmla="val 12632"/>
            </a:avLst>
          </a:prstGeom>
          <a:solidFill>
            <a:srgbClr val="E6F3F4"/>
          </a:solidFill>
          <a:ln w="12700">
            <a:solidFill>
              <a:srgbClr val="E6F3F4"/>
            </a:solidFill>
            <a:prstDash val="solid"/>
          </a:ln>
        </p:spPr>
      </p:sp>
      <p:sp>
        <p:nvSpPr>
          <p:cNvPr id="10" name="Text 8"/>
          <p:cNvSpPr txBox="1"/>
          <p:nvPr/>
        </p:nvSpPr>
        <p:spPr>
          <a:xfrm>
            <a:off x="5303520" y="1645920"/>
            <a:ext cx="1463040" cy="731520"/>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___ min</a:t>
            </a:r>
            <a:endParaRPr lang="en-US" sz="3000" dirty="0"/>
          </a:p>
        </p:txBody>
      </p:sp>
      <p:sp>
        <p:nvSpPr>
          <p:cNvPr id="11" name="Text 9"/>
          <p:cNvSpPr txBox="1"/>
          <p:nvPr/>
        </p:nvSpPr>
        <p:spPr>
          <a:xfrm>
            <a:off x="6812280" y="1645920"/>
            <a:ext cx="1783080" cy="731520"/>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por paciente, antes</a:t>
            </a:r>
            <a:endParaRPr lang="en-US" sz="1200" dirty="0"/>
          </a:p>
        </p:txBody>
      </p:sp>
      <p:sp>
        <p:nvSpPr>
          <p:cNvPr id="12" name="Shape 10"/>
          <p:cNvSpPr/>
          <p:nvPr/>
        </p:nvSpPr>
        <p:spPr>
          <a:xfrm>
            <a:off x="5120640" y="2596896"/>
            <a:ext cx="3566160" cy="868680"/>
          </a:xfrm>
          <a:prstGeom prst="roundRect">
            <a:avLst>
              <a:gd name="adj" fmla="val 12632"/>
            </a:avLst>
          </a:prstGeom>
          <a:solidFill>
            <a:srgbClr val="E6F3F4"/>
          </a:solidFill>
          <a:ln w="12700">
            <a:solidFill>
              <a:srgbClr val="E6F3F4"/>
            </a:solidFill>
            <a:prstDash val="solid"/>
          </a:ln>
        </p:spPr>
      </p:sp>
      <p:sp>
        <p:nvSpPr>
          <p:cNvPr id="13" name="Text 11"/>
          <p:cNvSpPr txBox="1"/>
          <p:nvPr/>
        </p:nvSpPr>
        <p:spPr>
          <a:xfrm>
            <a:off x="5303520" y="2670048"/>
            <a:ext cx="1463040" cy="731520"/>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6+</a:t>
            </a:r>
            <a:endParaRPr lang="en-US" sz="3000" dirty="0"/>
          </a:p>
        </p:txBody>
      </p:sp>
      <p:sp>
        <p:nvSpPr>
          <p:cNvPr id="14" name="Text 12"/>
          <p:cNvSpPr txBox="1"/>
          <p:nvPr/>
        </p:nvSpPr>
        <p:spPr>
          <a:xfrm>
            <a:off x="6812280" y="2670048"/>
            <a:ext cx="1783080" cy="731520"/>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pruebas y tablas distintas</a:t>
            </a:r>
            <a:endParaRPr lang="en-US" sz="1200" dirty="0"/>
          </a:p>
        </p:txBody>
      </p:sp>
      <p:sp>
        <p:nvSpPr>
          <p:cNvPr id="15" name="Shape 13"/>
          <p:cNvSpPr/>
          <p:nvPr/>
        </p:nvSpPr>
        <p:spPr>
          <a:xfrm>
            <a:off x="5120640" y="3621024"/>
            <a:ext cx="3566160" cy="868680"/>
          </a:xfrm>
          <a:prstGeom prst="roundRect">
            <a:avLst>
              <a:gd name="adj" fmla="val 12632"/>
            </a:avLst>
          </a:prstGeom>
          <a:solidFill>
            <a:srgbClr val="E6F3F4"/>
          </a:solidFill>
          <a:ln w="12700">
            <a:solidFill>
              <a:srgbClr val="E6F3F4"/>
            </a:solidFill>
            <a:prstDash val="solid"/>
          </a:ln>
        </p:spPr>
      </p:sp>
      <p:sp>
        <p:nvSpPr>
          <p:cNvPr id="16" name="Text 14"/>
          <p:cNvSpPr txBox="1"/>
          <p:nvPr/>
        </p:nvSpPr>
        <p:spPr>
          <a:xfrm>
            <a:off x="5303520" y="3694176"/>
            <a:ext cx="1463040" cy="731520"/>
          </a:xfrm>
          <a:prstGeom prst="rect">
            <a:avLst/>
          </a:prstGeom>
          <a:noFill/>
          <a:ln/>
        </p:spPr>
        <p:txBody>
          <a:bodyPr wrap="square" lIns="0" tIns="0" rIns="0" bIns="0" rtlCol="0" anchor="ctr"/>
          <a:lstStyle/>
          <a:p>
            <a:pPr indent="0" marL="0">
              <a:buNone/>
            </a:pPr>
            <a:r>
              <a:rPr lang="en-US" sz="3000" b="1" dirty="0">
                <a:solidFill>
                  <a:srgbClr val="028090"/>
                </a:solidFill>
                <a:latin typeface="Cambria" pitchFamily="34" charset="0"/>
                <a:ea typeface="Cambria" pitchFamily="34" charset="-122"/>
                <a:cs typeface="Cambria" pitchFamily="34" charset="-120"/>
              </a:rPr>
              <a:t>0</a:t>
            </a:r>
            <a:endParaRPr lang="en-US" sz="3000" dirty="0"/>
          </a:p>
        </p:txBody>
      </p:sp>
      <p:sp>
        <p:nvSpPr>
          <p:cNvPr id="17" name="Text 15"/>
          <p:cNvSpPr txBox="1"/>
          <p:nvPr/>
        </p:nvSpPr>
        <p:spPr>
          <a:xfrm>
            <a:off x="6812280" y="3694176"/>
            <a:ext cx="1783080" cy="731520"/>
          </a:xfrm>
          <a:prstGeom prst="rect">
            <a:avLst/>
          </a:prstGeom>
          <a:noFill/>
          <a:ln/>
        </p:spPr>
        <p:txBody>
          <a:bodyPr wrap="square" lIns="0" tIns="0" rIns="0" bIns="0" rtlCol="0" anchor="ctr"/>
          <a:lstStyle/>
          <a:p>
            <a:pPr indent="0" marL="0">
              <a:buNone/>
            </a:pPr>
            <a:r>
              <a:rPr lang="en-US" sz="1200" dirty="0">
                <a:solidFill>
                  <a:srgbClr val="1F2A30"/>
                </a:solidFill>
                <a:latin typeface="Calibri" pitchFamily="34" charset="0"/>
                <a:ea typeface="Calibri" pitchFamily="34" charset="-122"/>
                <a:cs typeface="Calibri" pitchFamily="34" charset="-120"/>
              </a:rPr>
              <a:t>seguimiento entre visitas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BLOQUE 2 · QUÉ PROBÉ</a:t>
            </a:r>
            <a:endParaRPr lang="en-US" sz="1100" dirty="0"/>
          </a:p>
        </p:txBody>
      </p:sp>
      <p:sp>
        <p:nvSpPr>
          <p:cNvPr id="3" name="Text 1"/>
          <p:cNvSpPr txBox="1"/>
          <p:nvPr/>
        </p:nvSpPr>
        <p:spPr>
          <a:xfrm>
            <a:off x="457200" y="566928"/>
            <a:ext cx="6858000" cy="868680"/>
          </a:xfrm>
          <a:prstGeom prst="rect">
            <a:avLst/>
          </a:prstGeom>
          <a:noFill/>
          <a:ln/>
        </p:spPr>
        <p:txBody>
          <a:bodyPr wrap="square" lIns="0" tIns="0" rIns="0" bIns="0" rtlCol="0" anchor="t"/>
          <a:lstStyle/>
          <a:p>
            <a:pPr indent="0" marL="0">
              <a:buNone/>
            </a:pPr>
            <a:r>
              <a:rPr lang="en-US" sz="2400" b="1" dirty="0">
                <a:solidFill>
                  <a:srgbClr val="1F2A30"/>
                </a:solidFill>
                <a:latin typeface="Cambria" pitchFamily="34" charset="0"/>
                <a:ea typeface="Cambria" pitchFamily="34" charset="-122"/>
                <a:cs typeface="Cambria" pitchFamily="34" charset="-120"/>
              </a:rPr>
              <a:t>Construí una calculadora web con IA, sin saber programar</a:t>
            </a:r>
            <a:endParaRPr lang="en-US" sz="2400" dirty="0"/>
          </a:p>
        </p:txBody>
      </p:sp>
      <p:sp>
        <p:nvSpPr>
          <p:cNvPr id="4" name="Shape 2"/>
          <p:cNvSpPr/>
          <p:nvPr/>
        </p:nvSpPr>
        <p:spPr>
          <a:xfrm>
            <a:off x="7589520" y="411480"/>
            <a:ext cx="1097280" cy="384048"/>
          </a:xfrm>
          <a:prstGeom prst="roundRect">
            <a:avLst>
              <a:gd name="adj" fmla="val 23810"/>
            </a:avLst>
          </a:prstGeom>
          <a:solidFill>
            <a:srgbClr val="E6F3F4"/>
          </a:solidFill>
          <a:ln w="12700">
            <a:solidFill>
              <a:srgbClr val="E6F3F4"/>
            </a:solidFill>
            <a:prstDash val="solid"/>
          </a:ln>
        </p:spPr>
      </p:sp>
      <p:sp>
        <p:nvSpPr>
          <p:cNvPr id="5" name="Text 3"/>
          <p:cNvSpPr txBox="1"/>
          <p:nvPr/>
        </p:nvSpPr>
        <p:spPr>
          <a:xfrm>
            <a:off x="7589520" y="411480"/>
            <a:ext cx="1097280" cy="384048"/>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 90 s</a:t>
            </a:r>
            <a:endParaRPr lang="en-US" sz="1200" dirty="0"/>
          </a:p>
        </p:txBody>
      </p:sp>
      <p:sp>
        <p:nvSpPr>
          <p:cNvPr id="6" name="Text 4"/>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1000" dirty="0">
                <a:solidFill>
                  <a:srgbClr val="6B7A82"/>
                </a:solidFill>
                <a:latin typeface="Calibri" pitchFamily="34" charset="0"/>
                <a:ea typeface="Calibri" pitchFamily="34" charset="-122"/>
                <a:cs typeface="Calibri" pitchFamily="34" charset="-120"/>
              </a:rPr>
              <a:t>02</a:t>
            </a:r>
            <a:endParaRPr lang="en-US" sz="1000" dirty="0"/>
          </a:p>
        </p:txBody>
      </p:sp>
      <p:sp>
        <p:nvSpPr>
          <p:cNvPr id="7" name="Shape 5"/>
          <p:cNvSpPr/>
          <p:nvPr/>
        </p:nvSpPr>
        <p:spPr>
          <a:xfrm>
            <a:off x="457200" y="1618488"/>
            <a:ext cx="457200" cy="457200"/>
          </a:xfrm>
          <a:prstGeom prst="ellipse">
            <a:avLst/>
          </a:prstGeom>
          <a:solidFill>
            <a:srgbClr val="028090"/>
          </a:solidFill>
          <a:ln w="12700">
            <a:solidFill>
              <a:srgbClr val="028090"/>
            </a:solidFill>
            <a:prstDash val="solid"/>
          </a:ln>
        </p:spPr>
      </p:sp>
      <p:sp>
        <p:nvSpPr>
          <p:cNvPr id="8" name="Text 6"/>
          <p:cNvSpPr txBox="1"/>
          <p:nvPr/>
        </p:nvSpPr>
        <p:spPr>
          <a:xfrm>
            <a:off x="457200" y="16184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051560" y="1572768"/>
            <a:ext cx="3108960" cy="27432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Claude (plan ___)</a:t>
            </a:r>
            <a:endParaRPr lang="en-US" sz="1400" dirty="0"/>
          </a:p>
        </p:txBody>
      </p:sp>
      <p:sp>
        <p:nvSpPr>
          <p:cNvPr id="10" name="Text 8"/>
          <p:cNvSpPr txBox="1"/>
          <p:nvPr/>
        </p:nvSpPr>
        <p:spPr>
          <a:xfrm>
            <a:off x="1051560" y="1847088"/>
            <a:ext cx="3108960" cy="457200"/>
          </a:xfrm>
          <a:prstGeom prst="rect">
            <a:avLst/>
          </a:prstGeom>
          <a:noFill/>
          <a:ln/>
        </p:spPr>
        <p:txBody>
          <a:bodyPr wrap="square" lIns="0" tIns="0" rIns="0" bIns="0" rtlCol="0" anchor="t"/>
          <a:lstStyle/>
          <a:p>
            <a:pPr indent="0" marL="0">
              <a:buNone/>
            </a:pPr>
            <a:r>
              <a:rPr lang="en-US" sz="1150" dirty="0">
                <a:solidFill>
                  <a:srgbClr val="6B7A82"/>
                </a:solidFill>
                <a:latin typeface="Calibri" pitchFamily="34" charset="0"/>
                <a:ea typeface="Calibri" pitchFamily="34" charset="-122"/>
                <a:cs typeface="Calibri" pitchFamily="34" charset="-120"/>
              </a:rPr>
              <a:t>Escribe el código. Yo describo lo que necesito en castellano.</a:t>
            </a:r>
            <a:endParaRPr lang="en-US" sz="1150" dirty="0"/>
          </a:p>
        </p:txBody>
      </p:sp>
      <p:sp>
        <p:nvSpPr>
          <p:cNvPr id="11" name="Shape 9"/>
          <p:cNvSpPr/>
          <p:nvPr/>
        </p:nvSpPr>
        <p:spPr>
          <a:xfrm>
            <a:off x="457200" y="2395728"/>
            <a:ext cx="457200" cy="457200"/>
          </a:xfrm>
          <a:prstGeom prst="ellipse">
            <a:avLst/>
          </a:prstGeom>
          <a:solidFill>
            <a:srgbClr val="028090"/>
          </a:solidFill>
          <a:ln w="12700">
            <a:solidFill>
              <a:srgbClr val="028090"/>
            </a:solidFill>
            <a:prstDash val="solid"/>
          </a:ln>
        </p:spPr>
      </p:sp>
      <p:sp>
        <p:nvSpPr>
          <p:cNvPr id="12" name="Text 10"/>
          <p:cNvSpPr txBox="1"/>
          <p:nvPr/>
        </p:nvSpPr>
        <p:spPr>
          <a:xfrm>
            <a:off x="457200" y="239572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1051560" y="2350008"/>
            <a:ext cx="3108960" cy="27432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Streamlit</a:t>
            </a:r>
            <a:endParaRPr lang="en-US" sz="1400" dirty="0"/>
          </a:p>
        </p:txBody>
      </p:sp>
      <p:sp>
        <p:nvSpPr>
          <p:cNvPr id="14" name="Text 12"/>
          <p:cNvSpPr txBox="1"/>
          <p:nvPr/>
        </p:nvSpPr>
        <p:spPr>
          <a:xfrm>
            <a:off x="1051560" y="2624328"/>
            <a:ext cx="3108960" cy="457200"/>
          </a:xfrm>
          <a:prstGeom prst="rect">
            <a:avLst/>
          </a:prstGeom>
          <a:noFill/>
          <a:ln/>
        </p:spPr>
        <p:txBody>
          <a:bodyPr wrap="square" lIns="0" tIns="0" rIns="0" bIns="0" rtlCol="0" anchor="t"/>
          <a:lstStyle/>
          <a:p>
            <a:pPr indent="0" marL="0">
              <a:buNone/>
            </a:pPr>
            <a:r>
              <a:rPr lang="en-US" sz="1150" dirty="0">
                <a:solidFill>
                  <a:srgbClr val="6B7A82"/>
                </a:solidFill>
                <a:latin typeface="Calibri" pitchFamily="34" charset="0"/>
                <a:ea typeface="Calibri" pitchFamily="34" charset="-122"/>
                <a:cs typeface="Calibri" pitchFamily="34" charset="-120"/>
              </a:rPr>
              <a:t>Publica la aplicación en internet, usable desde el móvil.</a:t>
            </a:r>
            <a:endParaRPr lang="en-US" sz="1150" dirty="0"/>
          </a:p>
        </p:txBody>
      </p:sp>
      <p:sp>
        <p:nvSpPr>
          <p:cNvPr id="15" name="Shape 13"/>
          <p:cNvSpPr/>
          <p:nvPr/>
        </p:nvSpPr>
        <p:spPr>
          <a:xfrm>
            <a:off x="457200" y="3172968"/>
            <a:ext cx="457200" cy="457200"/>
          </a:xfrm>
          <a:prstGeom prst="ellipse">
            <a:avLst/>
          </a:prstGeom>
          <a:solidFill>
            <a:srgbClr val="028090"/>
          </a:solidFill>
          <a:ln w="12700">
            <a:solidFill>
              <a:srgbClr val="028090"/>
            </a:solidFill>
            <a:prstDash val="solid"/>
          </a:ln>
        </p:spPr>
      </p:sp>
      <p:sp>
        <p:nvSpPr>
          <p:cNvPr id="16" name="Text 14"/>
          <p:cNvSpPr txBox="1"/>
          <p:nvPr/>
        </p:nvSpPr>
        <p:spPr>
          <a:xfrm>
            <a:off x="457200" y="317296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051560" y="3127248"/>
            <a:ext cx="3108960" cy="27432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Supabase</a:t>
            </a:r>
            <a:endParaRPr lang="en-US" sz="1400" dirty="0"/>
          </a:p>
        </p:txBody>
      </p:sp>
      <p:sp>
        <p:nvSpPr>
          <p:cNvPr id="18" name="Text 16"/>
          <p:cNvSpPr txBox="1"/>
          <p:nvPr/>
        </p:nvSpPr>
        <p:spPr>
          <a:xfrm>
            <a:off x="1051560" y="3401568"/>
            <a:ext cx="3108960" cy="457200"/>
          </a:xfrm>
          <a:prstGeom prst="rect">
            <a:avLst/>
          </a:prstGeom>
          <a:noFill/>
          <a:ln/>
        </p:spPr>
        <p:txBody>
          <a:bodyPr wrap="square" lIns="0" tIns="0" rIns="0" bIns="0" rtlCol="0" anchor="t"/>
          <a:lstStyle/>
          <a:p>
            <a:pPr indent="0" marL="0">
              <a:buNone/>
            </a:pPr>
            <a:r>
              <a:rPr lang="en-US" sz="1150" dirty="0">
                <a:solidFill>
                  <a:srgbClr val="6B7A82"/>
                </a:solidFill>
                <a:latin typeface="Calibri" pitchFamily="34" charset="0"/>
                <a:ea typeface="Calibri" pitchFamily="34" charset="-122"/>
                <a:cs typeface="Calibri" pitchFamily="34" charset="-120"/>
              </a:rPr>
              <a:t>Guarda pacientes y evaluaciones para ver la evolución.</a:t>
            </a:r>
            <a:endParaRPr lang="en-US" sz="1150" dirty="0"/>
          </a:p>
        </p:txBody>
      </p:sp>
      <p:sp>
        <p:nvSpPr>
          <p:cNvPr id="19" name="Shape 17"/>
          <p:cNvSpPr/>
          <p:nvPr/>
        </p:nvSpPr>
        <p:spPr>
          <a:xfrm>
            <a:off x="457200" y="3950208"/>
            <a:ext cx="457200" cy="457200"/>
          </a:xfrm>
          <a:prstGeom prst="ellipse">
            <a:avLst/>
          </a:prstGeom>
          <a:solidFill>
            <a:srgbClr val="028090"/>
          </a:solidFill>
          <a:ln w="12700">
            <a:solidFill>
              <a:srgbClr val="028090"/>
            </a:solidFill>
            <a:prstDash val="solid"/>
          </a:ln>
        </p:spPr>
      </p:sp>
      <p:sp>
        <p:nvSpPr>
          <p:cNvPr id="20" name="Text 18"/>
          <p:cNvSpPr txBox="1"/>
          <p:nvPr/>
        </p:nvSpPr>
        <p:spPr>
          <a:xfrm>
            <a:off x="457200" y="395020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1" name="Text 19"/>
          <p:cNvSpPr txBox="1"/>
          <p:nvPr/>
        </p:nvSpPr>
        <p:spPr>
          <a:xfrm>
            <a:off x="1051560" y="3904488"/>
            <a:ext cx="3108960" cy="274320"/>
          </a:xfrm>
          <a:prstGeom prst="rect">
            <a:avLst/>
          </a:prstGeom>
          <a:noFill/>
          <a:ln/>
        </p:spPr>
        <p:txBody>
          <a:bodyPr wrap="square" lIns="0" tIns="0" rIns="0" bIns="0" rtlCol="0" anchor="ctr"/>
          <a:lstStyle/>
          <a:p>
            <a:pPr indent="0" marL="0">
              <a:buNone/>
            </a:pPr>
            <a:r>
              <a:rPr lang="en-US" sz="1400" b="1" dirty="0">
                <a:solidFill>
                  <a:srgbClr val="1F2A30"/>
                </a:solidFill>
                <a:latin typeface="Calibri" pitchFamily="34" charset="0"/>
                <a:ea typeface="Calibri" pitchFamily="34" charset="-122"/>
                <a:cs typeface="Calibri" pitchFamily="34" charset="-120"/>
              </a:rPr>
              <a:t>GitHub</a:t>
            </a:r>
            <a:endParaRPr lang="en-US" sz="1400" dirty="0"/>
          </a:p>
        </p:txBody>
      </p:sp>
      <p:sp>
        <p:nvSpPr>
          <p:cNvPr id="22" name="Text 20"/>
          <p:cNvSpPr txBox="1"/>
          <p:nvPr/>
        </p:nvSpPr>
        <p:spPr>
          <a:xfrm>
            <a:off x="1051560" y="4178808"/>
            <a:ext cx="3108960" cy="457200"/>
          </a:xfrm>
          <a:prstGeom prst="rect">
            <a:avLst/>
          </a:prstGeom>
          <a:noFill/>
          <a:ln/>
        </p:spPr>
        <p:txBody>
          <a:bodyPr wrap="square" lIns="0" tIns="0" rIns="0" bIns="0" rtlCol="0" anchor="t"/>
          <a:lstStyle/>
          <a:p>
            <a:pPr indent="0" marL="0">
              <a:buNone/>
            </a:pPr>
            <a:r>
              <a:rPr lang="en-US" sz="1150" dirty="0">
                <a:solidFill>
                  <a:srgbClr val="6B7A82"/>
                </a:solidFill>
                <a:latin typeface="Calibri" pitchFamily="34" charset="0"/>
                <a:ea typeface="Calibri" pitchFamily="34" charset="-122"/>
                <a:cs typeface="Calibri" pitchFamily="34" charset="-120"/>
              </a:rPr>
              <a:t>Guarda el código y cada versión; se puede volver atrás.</a:t>
            </a:r>
            <a:endParaRPr lang="en-US" sz="1150" dirty="0"/>
          </a:p>
        </p:txBody>
      </p:sp>
      <p:sp>
        <p:nvSpPr>
          <p:cNvPr id="23" name="Text 21"/>
          <p:cNvSpPr txBox="1"/>
          <p:nvPr/>
        </p:nvSpPr>
        <p:spPr>
          <a:xfrm>
            <a:off x="457200" y="4590288"/>
            <a:ext cx="3931920" cy="457200"/>
          </a:xfrm>
          <a:prstGeom prst="rect">
            <a:avLst/>
          </a:prstGeom>
          <a:noFill/>
          <a:ln/>
        </p:spPr>
        <p:txBody>
          <a:bodyPr wrap="square" lIns="0" tIns="0" rIns="0" bIns="0" rtlCol="0" anchor="ctr"/>
          <a:lstStyle/>
          <a:p>
            <a:pPr indent="0" marL="0">
              <a:buNone/>
            </a:pPr>
            <a:r>
              <a:rPr lang="en-US" sz="1200" i="1" dirty="0">
                <a:solidFill>
                  <a:srgbClr val="028090"/>
                </a:solidFill>
                <a:latin typeface="Cambria" pitchFamily="34" charset="0"/>
                <a:ea typeface="Cambria" pitchFamily="34" charset="-122"/>
                <a:cs typeface="Cambria" pitchFamily="34" charset="-120"/>
              </a:rPr>
              <a:t>Empezó con 3 pruebas y una pantalla. ___ vueltas después: pacientes, evolución, informe en PDF.</a:t>
            </a:r>
            <a:endParaRPr lang="en-US" sz="1200" dirty="0"/>
          </a:p>
        </p:txBody>
      </p:sp>
      <p:sp>
        <p:nvSpPr>
          <p:cNvPr id="24" name="Shape 22"/>
          <p:cNvSpPr/>
          <p:nvPr/>
        </p:nvSpPr>
        <p:spPr>
          <a:xfrm>
            <a:off x="4663440" y="1572768"/>
            <a:ext cx="4023360" cy="3291840"/>
          </a:xfrm>
          <a:prstGeom prst="roundRect">
            <a:avLst>
              <a:gd name="adj" fmla="val 3333"/>
            </a:avLst>
          </a:prstGeom>
          <a:solidFill>
            <a:srgbClr val="F4F7F8"/>
          </a:solidFill>
          <a:ln w="9525">
            <a:solidFill>
              <a:srgbClr val="D5DFE2"/>
            </a:solidFill>
            <a:prstDash val="solid"/>
          </a:ln>
        </p:spPr>
      </p:sp>
      <p:sp>
        <p:nvSpPr>
          <p:cNvPr id="25" name="Text 23"/>
          <p:cNvSpPr txBox="1"/>
          <p:nvPr/>
        </p:nvSpPr>
        <p:spPr>
          <a:xfrm>
            <a:off x="4892040" y="1709928"/>
            <a:ext cx="3657600" cy="274320"/>
          </a:xfrm>
          <a:prstGeom prst="rect">
            <a:avLst/>
          </a:prstGeom>
          <a:noFill/>
          <a:ln/>
        </p:spPr>
        <p:txBody>
          <a:bodyPr wrap="square" lIns="0" tIns="0" rIns="0" bIns="0" rtlCol="0" anchor="ctr"/>
          <a:lstStyle/>
          <a:p>
            <a:pPr indent="0" marL="0">
              <a:buNone/>
            </a:pPr>
            <a:r>
              <a:rPr lang="en-US" sz="950" b="1" spc="150" kern="0" dirty="0">
                <a:solidFill>
                  <a:srgbClr val="028090"/>
                </a:solidFill>
                <a:latin typeface="Calibri" pitchFamily="34" charset="0"/>
                <a:ea typeface="Calibri" pitchFamily="34" charset="-122"/>
                <a:cs typeface="Calibri" pitchFamily="34" charset="-120"/>
              </a:rPr>
              <a:t>PROMPT QUE FUNCIONÓ · PEGADO TAL CUAL</a:t>
            </a:r>
            <a:endParaRPr lang="en-US" sz="950" dirty="0"/>
          </a:p>
        </p:txBody>
      </p:sp>
      <p:sp>
        <p:nvSpPr>
          <p:cNvPr id="26" name="Text 24"/>
          <p:cNvSpPr txBox="1"/>
          <p:nvPr/>
        </p:nvSpPr>
        <p:spPr>
          <a:xfrm>
            <a:off x="4892040" y="2029968"/>
            <a:ext cx="3657600" cy="2971800"/>
          </a:xfrm>
          <a:prstGeom prst="rect">
            <a:avLst/>
          </a:prstGeom>
          <a:noFill/>
          <a:ln/>
        </p:spPr>
        <p:txBody>
          <a:bodyPr wrap="square" lIns="0" tIns="0" rIns="0" bIns="0" rtlCol="0" anchor="t"/>
          <a:lstStyle/>
          <a:p>
            <a:pPr indent="0" marL="0">
              <a:buNone/>
            </a:pPr>
            <a:r>
              <a:rPr lang="en-US" sz="1000" dirty="0">
                <a:solidFill>
                  <a:srgbClr val="1F2A30"/>
                </a:solidFill>
                <a:latin typeface="Courier New" pitchFamily="34" charset="0"/>
                <a:ea typeface="Courier New" pitchFamily="34" charset="-122"/>
                <a:cs typeface="Courier New" pitchFamily="34" charset="-120"/>
              </a:rPr>
              <a:t>Sos un desarrollador senior de Python y Streamlit. Necesito una app para mi consulta: dado sexo, edad y el resultado de la prueba de fuerza de prensión en kg, buscá el percentil en esta tabla (la pego abajo), interpolá si el valor cae entre dos filas, y mostrá un semáforo: rojo &lt;P10, naranja &lt;P25, verde hasta P75, azul &gt;P75. Devolveme el código completo listo para pegar, sin explicaciones.</a:t>
            </a:r>
            <a:endParaRPr lang="en-US" sz="1000" dirty="0"/>
          </a:p>
          <a:p>
            <a:pPr indent="0" marL="0">
              <a:buNone/>
            </a:pPr>
            <a:endParaRPr lang="en-US" sz="1000" dirty="0"/>
          </a:p>
          <a:p>
            <a:pPr indent="0" marL="0">
              <a:buNone/>
            </a:pPr>
            <a:r>
              <a:rPr lang="en-US" sz="1000" dirty="0">
                <a:solidFill>
                  <a:srgbClr val="1F2A30"/>
                </a:solidFill>
                <a:latin typeface="Courier New" pitchFamily="34" charset="0"/>
                <a:ea typeface="Courier New" pitchFamily="34" charset="-122"/>
                <a:cs typeface="Courier New" pitchFamily="34" charset="-120"/>
              </a:rPr>
              <a:t>[tabla de percentiles]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548640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BLOQUES 3 Y 4 · QUÉ PASÓ · QUÉ ME LLEVO</a:t>
            </a:r>
            <a:endParaRPr lang="en-US" sz="1100" dirty="0"/>
          </a:p>
        </p:txBody>
      </p:sp>
      <p:sp>
        <p:nvSpPr>
          <p:cNvPr id="3" name="Text 1"/>
          <p:cNvSpPr txBox="1"/>
          <p:nvPr/>
        </p:nvSpPr>
        <p:spPr>
          <a:xfrm>
            <a:off x="457200" y="566928"/>
            <a:ext cx="6858000" cy="868680"/>
          </a:xfrm>
          <a:prstGeom prst="rect">
            <a:avLst/>
          </a:prstGeom>
          <a:noFill/>
          <a:ln/>
        </p:spPr>
        <p:txBody>
          <a:bodyPr wrap="square" lIns="0" tIns="0" rIns="0" bIns="0" rtlCol="0" anchor="t"/>
          <a:lstStyle/>
          <a:p>
            <a:pPr indent="0" marL="0">
              <a:buNone/>
            </a:pPr>
            <a:r>
              <a:rPr lang="en-US" sz="2400" b="1" dirty="0">
                <a:solidFill>
                  <a:srgbClr val="1F2A30"/>
                </a:solidFill>
                <a:latin typeface="Cambria" pitchFamily="34" charset="0"/>
                <a:ea typeface="Cambria" pitchFamily="34" charset="-122"/>
                <a:cs typeface="Cambria" pitchFamily="34" charset="-120"/>
              </a:rPr>
              <a:t>Funciona a diario. Y tiene grietas que no veía.</a:t>
            </a:r>
            <a:endParaRPr lang="en-US" sz="2400" dirty="0"/>
          </a:p>
        </p:txBody>
      </p:sp>
      <p:sp>
        <p:nvSpPr>
          <p:cNvPr id="4" name="Shape 2"/>
          <p:cNvSpPr/>
          <p:nvPr/>
        </p:nvSpPr>
        <p:spPr>
          <a:xfrm>
            <a:off x="7589520" y="411480"/>
            <a:ext cx="1097280" cy="384048"/>
          </a:xfrm>
          <a:prstGeom prst="roundRect">
            <a:avLst>
              <a:gd name="adj" fmla="val 23810"/>
            </a:avLst>
          </a:prstGeom>
          <a:solidFill>
            <a:srgbClr val="E6F3F4"/>
          </a:solidFill>
          <a:ln w="12700">
            <a:solidFill>
              <a:srgbClr val="E6F3F4"/>
            </a:solidFill>
            <a:prstDash val="solid"/>
          </a:ln>
        </p:spPr>
      </p:sp>
      <p:sp>
        <p:nvSpPr>
          <p:cNvPr id="5" name="Text 3"/>
          <p:cNvSpPr txBox="1"/>
          <p:nvPr/>
        </p:nvSpPr>
        <p:spPr>
          <a:xfrm>
            <a:off x="7589520" y="411480"/>
            <a:ext cx="1097280" cy="384048"/>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 3 min</a:t>
            </a:r>
            <a:endParaRPr lang="en-US" sz="1200" dirty="0"/>
          </a:p>
        </p:txBody>
      </p:sp>
      <p:sp>
        <p:nvSpPr>
          <p:cNvPr id="6" name="Text 4"/>
          <p:cNvSpPr txBox="1"/>
          <p:nvPr/>
        </p:nvSpPr>
        <p:spPr>
          <a:xfrm>
            <a:off x="8229600" y="4800600"/>
            <a:ext cx="457200" cy="274320"/>
          </a:xfrm>
          <a:prstGeom prst="rect">
            <a:avLst/>
          </a:prstGeom>
          <a:noFill/>
          <a:ln/>
        </p:spPr>
        <p:txBody>
          <a:bodyPr wrap="square" lIns="0" tIns="0" rIns="0" bIns="0" rtlCol="0" anchor="ctr"/>
          <a:lstStyle/>
          <a:p>
            <a:pPr algn="r" indent="0" marL="0">
              <a:buNone/>
            </a:pPr>
            <a:r>
              <a:rPr lang="en-US" sz="1000" dirty="0">
                <a:solidFill>
                  <a:srgbClr val="6B7A82"/>
                </a:solidFill>
                <a:latin typeface="Calibri" pitchFamily="34" charset="0"/>
                <a:ea typeface="Calibri" pitchFamily="34" charset="-122"/>
                <a:cs typeface="Calibri" pitchFamily="34" charset="-120"/>
              </a:rPr>
              <a:t>03</a:t>
            </a:r>
            <a:endParaRPr lang="en-US" sz="1000" dirty="0"/>
          </a:p>
        </p:txBody>
      </p:sp>
      <p:sp>
        <p:nvSpPr>
          <p:cNvPr id="7" name="Text 5"/>
          <p:cNvSpPr txBox="1"/>
          <p:nvPr/>
        </p:nvSpPr>
        <p:spPr>
          <a:xfrm>
            <a:off x="457200" y="1527048"/>
            <a:ext cx="393192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QUÉ PASÓ</a:t>
            </a:r>
            <a:endParaRPr lang="en-US" sz="1100" dirty="0"/>
          </a:p>
        </p:txBody>
      </p:sp>
      <p:sp>
        <p:nvSpPr>
          <p:cNvPr id="8" name="Text 6"/>
          <p:cNvSpPr txBox="1"/>
          <p:nvPr/>
        </p:nvSpPr>
        <p:spPr>
          <a:xfrm>
            <a:off x="457200" y="1847088"/>
            <a:ext cx="3931920" cy="640080"/>
          </a:xfrm>
          <a:prstGeom prst="rect">
            <a:avLst/>
          </a:prstGeom>
          <a:noFill/>
          <a:ln/>
        </p:spPr>
        <p:txBody>
          <a:bodyPr wrap="square" lIns="0" tIns="0" rIns="0" bIns="0" rtlCol="0" anchor="t"/>
          <a:lstStyle/>
          <a:p>
            <a:pPr indent="0" marL="0">
              <a:buNone/>
            </a:pPr>
            <a:r>
              <a:rPr lang="en-US" sz="1300" dirty="0">
                <a:solidFill>
                  <a:srgbClr val="1F2A30"/>
                </a:solidFill>
                <a:latin typeface="Calibri" pitchFamily="34" charset="0"/>
                <a:ea typeface="Calibri" pitchFamily="34" charset="-122"/>
                <a:cs typeface="Calibri" pitchFamily="34" charset="-120"/>
              </a:rPr>
              <a:t>___ pacientes evaluados desde abril. El informe sale en segundos, con semáforo e interpretación.</a:t>
            </a:r>
            <a:endParaRPr lang="en-US" sz="1300" dirty="0"/>
          </a:p>
        </p:txBody>
      </p:sp>
      <p:sp>
        <p:nvSpPr>
          <p:cNvPr id="9" name="Text 7"/>
          <p:cNvSpPr txBox="1"/>
          <p:nvPr/>
        </p:nvSpPr>
        <p:spPr>
          <a:xfrm>
            <a:off x="457200" y="2578608"/>
            <a:ext cx="3931920" cy="274320"/>
          </a:xfrm>
          <a:prstGeom prst="rect">
            <a:avLst/>
          </a:prstGeom>
          <a:noFill/>
          <a:ln/>
        </p:spPr>
        <p:txBody>
          <a:bodyPr wrap="square" lIns="0" tIns="0" rIns="0" bIns="0" rtlCol="0" anchor="ctr"/>
          <a:lstStyle/>
          <a:p>
            <a:pPr indent="0" marL="0">
              <a:buNone/>
            </a:pPr>
            <a:r>
              <a:rPr lang="en-US" sz="1000" b="1" spc="200" kern="0" dirty="0">
                <a:solidFill>
                  <a:srgbClr val="B84A3A"/>
                </a:solidFill>
                <a:latin typeface="Calibri" pitchFamily="34" charset="0"/>
                <a:ea typeface="Calibri" pitchFamily="34" charset="-122"/>
                <a:cs typeface="Calibri" pitchFamily="34" charset="-120"/>
              </a:rPr>
              <a:t>LO QUE FALLÓ</a:t>
            </a:r>
            <a:endParaRPr lang="en-US" sz="1000" dirty="0"/>
          </a:p>
        </p:txBody>
      </p:sp>
      <p:sp>
        <p:nvSpPr>
          <p:cNvPr id="10" name="Text 8"/>
          <p:cNvSpPr txBox="1"/>
          <p:nvPr/>
        </p:nvSpPr>
        <p:spPr>
          <a:xfrm>
            <a:off x="457200" y="2852928"/>
            <a:ext cx="3931920" cy="2103120"/>
          </a:xfrm>
          <a:prstGeom prst="rect">
            <a:avLst/>
          </a:prstGeom>
          <a:noFill/>
          <a:ln/>
        </p:spPr>
        <p:txBody>
          <a:bodyPr wrap="square" lIns="0" tIns="0" rIns="0" bIns="0" rtlCol="0" anchor="t"/>
          <a:lstStyle/>
          <a:p>
            <a:pPr marL="342900" indent="-342900">
              <a:spcAft>
                <a:spcPts val="600"/>
              </a:spcAft>
              <a:buSzPct val="100000"/>
              <a:buChar char="•"/>
            </a:pPr>
            <a:r>
              <a:rPr lang="en-US" sz="1150" dirty="0">
                <a:solidFill>
                  <a:srgbClr val="1F2A30"/>
                </a:solidFill>
                <a:latin typeface="Calibri" pitchFamily="34" charset="0"/>
                <a:ea typeface="Calibri" pitchFamily="34" charset="-122"/>
                <a:cs typeface="Calibri" pitchFamily="34" charset="-120"/>
              </a:rPr>
              <a:t>El código «funciona» pero no tengo forma de saber si un percentil está bien sin recalcularlo a mano.</a:t>
            </a:r>
            <a:endParaRPr lang="en-US" sz="1150" dirty="0"/>
          </a:p>
          <a:p>
            <a:pPr marL="342900" indent="-342900">
              <a:spcAft>
                <a:spcPts val="600"/>
              </a:spcAft>
              <a:buSzPct val="100000"/>
              <a:buChar char="•"/>
            </a:pPr>
            <a:r>
              <a:rPr lang="en-US" sz="1150" dirty="0">
                <a:solidFill>
                  <a:srgbClr val="1F2A30"/>
                </a:solidFill>
                <a:latin typeface="Calibri" pitchFamily="34" charset="0"/>
                <a:ea typeface="Calibri" pitchFamily="34" charset="-122"/>
                <a:cs typeface="Calibri" pitchFamily="34" charset="-120"/>
              </a:rPr>
              <a:t>Dejó la aplicación abierta en internet sin contraseña durante meses.</a:t>
            </a:r>
            <a:endParaRPr lang="en-US" sz="1150" dirty="0"/>
          </a:p>
          <a:p>
            <a:pPr marL="342900" indent="-342900">
              <a:spcAft>
                <a:spcPts val="600"/>
              </a:spcAft>
              <a:buSzPct val="100000"/>
              <a:buChar char="•"/>
            </a:pPr>
            <a:r>
              <a:rPr lang="en-US" sz="1150" dirty="0">
                <a:solidFill>
                  <a:srgbClr val="1F2A30"/>
                </a:solidFill>
                <a:latin typeface="Calibri" pitchFamily="34" charset="0"/>
                <a:ea typeface="Calibri" pitchFamily="34" charset="-122"/>
                <a:cs typeface="Calibri" pitchFamily="34" charset="-120"/>
              </a:rPr>
              <a:t>Las tablas de referencia quedaron dentro del código, sin fuente ni versión.</a:t>
            </a:r>
            <a:endParaRPr lang="en-US" sz="1150" dirty="0"/>
          </a:p>
        </p:txBody>
      </p:sp>
      <p:sp>
        <p:nvSpPr>
          <p:cNvPr id="11" name="Shape 9"/>
          <p:cNvSpPr/>
          <p:nvPr/>
        </p:nvSpPr>
        <p:spPr>
          <a:xfrm>
            <a:off x="4617720" y="1572768"/>
            <a:ext cx="0" cy="3383280"/>
          </a:xfrm>
          <a:prstGeom prst="line">
            <a:avLst/>
          </a:prstGeom>
          <a:noFill/>
          <a:ln w="12700">
            <a:solidFill>
              <a:srgbClr val="D5DFE2"/>
            </a:solidFill>
            <a:prstDash val="solid"/>
          </a:ln>
        </p:spPr>
      </p:sp>
      <p:sp>
        <p:nvSpPr>
          <p:cNvPr id="12" name="Text 10"/>
          <p:cNvSpPr txBox="1"/>
          <p:nvPr/>
        </p:nvSpPr>
        <p:spPr>
          <a:xfrm>
            <a:off x="4892040" y="1527048"/>
            <a:ext cx="3794760" cy="274320"/>
          </a:xfrm>
          <a:prstGeom prst="rect">
            <a:avLst/>
          </a:prstGeom>
          <a:noFill/>
          <a:ln/>
        </p:spPr>
        <p:txBody>
          <a:bodyPr wrap="square" lIns="0" tIns="0" rIns="0" bIns="0" rtlCol="0" anchor="ctr"/>
          <a:lstStyle/>
          <a:p>
            <a:pPr indent="0" marL="0">
              <a:buNone/>
            </a:pPr>
            <a:r>
              <a:rPr lang="en-US" sz="1100" b="1" spc="200" kern="0" dirty="0">
                <a:solidFill>
                  <a:srgbClr val="028090"/>
                </a:solidFill>
                <a:latin typeface="Calibri" pitchFamily="34" charset="0"/>
                <a:ea typeface="Calibri" pitchFamily="34" charset="-122"/>
                <a:cs typeface="Calibri" pitchFamily="34" charset="-120"/>
              </a:rPr>
              <a:t>QUÉ ME LLEVO</a:t>
            </a:r>
            <a:endParaRPr lang="en-US" sz="1100" dirty="0"/>
          </a:p>
        </p:txBody>
      </p:sp>
      <p:sp>
        <p:nvSpPr>
          <p:cNvPr id="13" name="Shape 11"/>
          <p:cNvSpPr/>
          <p:nvPr/>
        </p:nvSpPr>
        <p:spPr>
          <a:xfrm>
            <a:off x="4892040" y="1892808"/>
            <a:ext cx="3794760" cy="868680"/>
          </a:xfrm>
          <a:prstGeom prst="roundRect">
            <a:avLst>
              <a:gd name="adj" fmla="val 10526"/>
            </a:avLst>
          </a:prstGeom>
          <a:solidFill>
            <a:srgbClr val="E6F3F4"/>
          </a:solidFill>
          <a:ln w="12700">
            <a:solidFill>
              <a:srgbClr val="E6F3F4"/>
            </a:solidFill>
            <a:prstDash val="solid"/>
          </a:ln>
        </p:spPr>
      </p:sp>
      <p:sp>
        <p:nvSpPr>
          <p:cNvPr id="14" name="Text 12"/>
          <p:cNvSpPr txBox="1"/>
          <p:nvPr/>
        </p:nvSpPr>
        <p:spPr>
          <a:xfrm>
            <a:off x="5074920" y="1984248"/>
            <a:ext cx="3474720" cy="228600"/>
          </a:xfrm>
          <a:prstGeom prst="rect">
            <a:avLst/>
          </a:prstGeom>
          <a:noFill/>
          <a:ln/>
        </p:spPr>
        <p:txBody>
          <a:bodyPr wrap="square" lIns="0" tIns="0" rIns="0" bIns="0" rtlCol="0" anchor="ctr"/>
          <a:lstStyle/>
          <a:p>
            <a:pPr indent="0" marL="0">
              <a:buNone/>
            </a:pPr>
            <a:r>
              <a:rPr lang="en-US" sz="950" b="1" spc="150" kern="0" dirty="0">
                <a:solidFill>
                  <a:srgbClr val="028090"/>
                </a:solidFill>
                <a:latin typeface="Calibri" pitchFamily="34" charset="0"/>
                <a:ea typeface="Calibri" pitchFamily="34" charset="-122"/>
                <a:cs typeface="Calibri" pitchFamily="34" charset="-120"/>
              </a:rPr>
              <a:t>LO REPITO</a:t>
            </a:r>
            <a:endParaRPr lang="en-US" sz="950" dirty="0"/>
          </a:p>
        </p:txBody>
      </p:sp>
      <p:sp>
        <p:nvSpPr>
          <p:cNvPr id="15" name="Text 13"/>
          <p:cNvSpPr txBox="1"/>
          <p:nvPr/>
        </p:nvSpPr>
        <p:spPr>
          <a:xfrm>
            <a:off x="5074920" y="2221992"/>
            <a:ext cx="3474720" cy="530352"/>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La calculadora en cada consulta. Y pedir siempre el código completo, nunca fragmentos.</a:t>
            </a:r>
            <a:endParaRPr lang="en-US" sz="1100" dirty="0"/>
          </a:p>
        </p:txBody>
      </p:sp>
      <p:sp>
        <p:nvSpPr>
          <p:cNvPr id="16" name="Shape 14"/>
          <p:cNvSpPr/>
          <p:nvPr/>
        </p:nvSpPr>
        <p:spPr>
          <a:xfrm>
            <a:off x="4892040" y="2852928"/>
            <a:ext cx="3794760" cy="868680"/>
          </a:xfrm>
          <a:prstGeom prst="roundRect">
            <a:avLst>
              <a:gd name="adj" fmla="val 10526"/>
            </a:avLst>
          </a:prstGeom>
          <a:solidFill>
            <a:srgbClr val="E6F3F4"/>
          </a:solidFill>
          <a:ln w="12700">
            <a:solidFill>
              <a:srgbClr val="E6F3F4"/>
            </a:solidFill>
            <a:prstDash val="solid"/>
          </a:ln>
        </p:spPr>
      </p:sp>
      <p:sp>
        <p:nvSpPr>
          <p:cNvPr id="17" name="Text 15"/>
          <p:cNvSpPr txBox="1"/>
          <p:nvPr/>
        </p:nvSpPr>
        <p:spPr>
          <a:xfrm>
            <a:off x="5074920" y="2944368"/>
            <a:ext cx="3474720" cy="228600"/>
          </a:xfrm>
          <a:prstGeom prst="rect">
            <a:avLst/>
          </a:prstGeom>
          <a:noFill/>
          <a:ln/>
        </p:spPr>
        <p:txBody>
          <a:bodyPr wrap="square" lIns="0" tIns="0" rIns="0" bIns="0" rtlCol="0" anchor="ctr"/>
          <a:lstStyle/>
          <a:p>
            <a:pPr indent="0" marL="0">
              <a:buNone/>
            </a:pPr>
            <a:r>
              <a:rPr lang="en-US" sz="950" b="1" spc="150" kern="0" dirty="0">
                <a:solidFill>
                  <a:srgbClr val="028090"/>
                </a:solidFill>
                <a:latin typeface="Calibri" pitchFamily="34" charset="0"/>
                <a:ea typeface="Calibri" pitchFamily="34" charset="-122"/>
                <a:cs typeface="Calibri" pitchFamily="34" charset="-120"/>
              </a:rPr>
              <a:t>LO DESCARTO</a:t>
            </a:r>
            <a:endParaRPr lang="en-US" sz="950" dirty="0"/>
          </a:p>
        </p:txBody>
      </p:sp>
      <p:sp>
        <p:nvSpPr>
          <p:cNvPr id="18" name="Text 16"/>
          <p:cNvSpPr txBox="1"/>
          <p:nvPr/>
        </p:nvSpPr>
        <p:spPr>
          <a:xfrm>
            <a:off x="5074920" y="3182112"/>
            <a:ext cx="3474720" cy="530352"/>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Confiar en que «corre» equivale a «está bien». Sin casos de prueba conocidos, no.</a:t>
            </a:r>
            <a:endParaRPr lang="en-US" sz="1100" dirty="0"/>
          </a:p>
        </p:txBody>
      </p:sp>
      <p:sp>
        <p:nvSpPr>
          <p:cNvPr id="19" name="Shape 17"/>
          <p:cNvSpPr/>
          <p:nvPr/>
        </p:nvSpPr>
        <p:spPr>
          <a:xfrm>
            <a:off x="4892040" y="3813048"/>
            <a:ext cx="3794760" cy="868680"/>
          </a:xfrm>
          <a:prstGeom prst="roundRect">
            <a:avLst>
              <a:gd name="adj" fmla="val 10526"/>
            </a:avLst>
          </a:prstGeom>
          <a:solidFill>
            <a:srgbClr val="E6F3F4"/>
          </a:solidFill>
          <a:ln w="12700">
            <a:solidFill>
              <a:srgbClr val="E6F3F4"/>
            </a:solidFill>
            <a:prstDash val="solid"/>
          </a:ln>
        </p:spPr>
      </p:sp>
      <p:sp>
        <p:nvSpPr>
          <p:cNvPr id="20" name="Text 18"/>
          <p:cNvSpPr txBox="1"/>
          <p:nvPr/>
        </p:nvSpPr>
        <p:spPr>
          <a:xfrm>
            <a:off x="5074920" y="3904488"/>
            <a:ext cx="3474720" cy="228600"/>
          </a:xfrm>
          <a:prstGeom prst="rect">
            <a:avLst/>
          </a:prstGeom>
          <a:noFill/>
          <a:ln/>
        </p:spPr>
        <p:txBody>
          <a:bodyPr wrap="square" lIns="0" tIns="0" rIns="0" bIns="0" rtlCol="0" anchor="ctr"/>
          <a:lstStyle/>
          <a:p>
            <a:pPr indent="0" marL="0">
              <a:buNone/>
            </a:pPr>
            <a:r>
              <a:rPr lang="en-US" sz="950" b="1" spc="150" kern="0" dirty="0">
                <a:solidFill>
                  <a:srgbClr val="028090"/>
                </a:solidFill>
                <a:latin typeface="Calibri" pitchFamily="34" charset="0"/>
                <a:ea typeface="Calibri" pitchFamily="34" charset="-122"/>
                <a:cs typeface="Calibri" pitchFamily="34" charset="-120"/>
              </a:rPr>
              <a:t>LO QUE ME FALTA</a:t>
            </a:r>
            <a:endParaRPr lang="en-US" sz="950" dirty="0"/>
          </a:p>
        </p:txBody>
      </p:sp>
      <p:sp>
        <p:nvSpPr>
          <p:cNvPr id="21" name="Text 19"/>
          <p:cNvSpPr txBox="1"/>
          <p:nvPr/>
        </p:nvSpPr>
        <p:spPr>
          <a:xfrm>
            <a:off x="5074920" y="4142232"/>
            <a:ext cx="3474720" cy="530352"/>
          </a:xfrm>
          <a:prstGeom prst="rect">
            <a:avLst/>
          </a:prstGeom>
          <a:noFill/>
          <a:ln/>
        </p:spPr>
        <p:txBody>
          <a:bodyPr wrap="square" lIns="0" tIns="0" rIns="0" bIns="0" rtlCol="0" anchor="t"/>
          <a:lstStyle/>
          <a:p>
            <a:pPr indent="0" marL="0">
              <a:buNone/>
            </a:pPr>
            <a:r>
              <a:rPr lang="en-US" sz="1100" dirty="0">
                <a:solidFill>
                  <a:srgbClr val="1F2A30"/>
                </a:solidFill>
                <a:latin typeface="Calibri" pitchFamily="34" charset="0"/>
                <a:ea typeface="Calibri" pitchFamily="34" charset="-122"/>
                <a:cs typeface="Calibri" pitchFamily="34" charset="-120"/>
              </a:rPr>
              <a:t>Contraseña y usuarios, copias de seguridad y aprender a revisar cambios antes de publicarlos.</a:t>
            </a:r>
            <a:endParaRPr lang="en-US" sz="1100" dirty="0"/>
          </a:p>
        </p:txBody>
      </p:sp>
      <p:sp>
        <p:nvSpPr>
          <p:cNvPr id="22" name="Text 20"/>
          <p:cNvSpPr txBox="1"/>
          <p:nvPr/>
        </p:nvSpPr>
        <p:spPr>
          <a:xfrm>
            <a:off x="457200" y="4773168"/>
            <a:ext cx="8229600" cy="274320"/>
          </a:xfrm>
          <a:prstGeom prst="rect">
            <a:avLst/>
          </a:prstGeom>
          <a:noFill/>
          <a:ln/>
        </p:spPr>
        <p:txBody>
          <a:bodyPr wrap="square" lIns="0" tIns="0" rIns="0" bIns="0" rtlCol="0" anchor="ctr"/>
          <a:lstStyle/>
          <a:p>
            <a:pPr indent="0" marL="0">
              <a:buNone/>
            </a:pPr>
            <a:r>
              <a:rPr lang="en-US" sz="1200" i="1" dirty="0">
                <a:solidFill>
                  <a:srgbClr val="028090"/>
                </a:solidFill>
                <a:latin typeface="Cambria" pitchFamily="34" charset="0"/>
                <a:ea typeface="Cambria" pitchFamily="34" charset="-122"/>
                <a:cs typeface="Cambria" pitchFamily="34" charset="-120"/>
              </a:rPr>
              <a:t>Si mañana lo hiciera otra vez, empezaría por la contraseña y los casos de prueba, no por el PDF bonito.</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2026-09-10T22:42:11Z</dcterms:created>
  <dcterms:modified xsi:type="dcterms:W3CDTF">2026-09-10T22:42:11Z</dcterms:modified>
</cp:coreProperties>
</file>