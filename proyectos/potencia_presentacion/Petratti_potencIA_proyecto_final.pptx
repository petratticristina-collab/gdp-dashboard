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días. Soy Cristina Petratti, médica de familia, especialista en obesidad. Este es mi proyecto final: una herramienta que convirtió una tarea de veinte minutos en una de veinte segundos. Pero más que la herramienta, quiero contaros cómo he cambiado mi forma de trabajar con la IA durante estas ocho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nada, transparencia: tengo conflicto de interés con Novo Nordisk, patrocinador de este programa. Lo digo al principio porque es lo que aprendimos en el módulo de compliance: declarar de más no cuesta nada; declarar de menos, mucho. Y una segunda cosa: nada de lo que veréis viene de pacientes reales.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módulo siete nos pidió mapear nuestra jornada en cinco momentos y cruzarla con herramientas. Este es mi mapa. Lo importante no es la lista de herramientas, sino la frase de abajo, que es la regla de oro del módulo dos: copiloto, no piloto. Todo lo que sale del modelo pasa por mí antes de llegar a un paciente.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curso nos enseñó una escalera: chatbots, razonadores, agentes. Mi proyecto la sube entera. Empecé preguntando a un chat, pasé a pedirle que razonara y se auditara, y terminé dándole herramientas a un agente para que escribiera y probara el código. El cuarto peldaño es el que me interesa como clínica: una herramienta que no opina, calcula.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 punto de la plantilla: el problema. En obesidad quiero saber cómo funciona el cuerpo, no solo cuánto pesa. Tres pruebas sencillas de hacer, pero interpretarlas era un suplicio: tres artículos, tres tablas, interpolar a mano. Unos veinte minutos por paciente que en una consulta de diez no existen. Así que, siendo honesta, se hacía 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Segundo punto: la herramienta. Aquí está la idea que más me marcó del módulo cuatro: usar una máquina probabilística para construir una determinista. El chat y el agente son no deterministas; cambian con cada prompt. Pero lo que producen es una calculadora que siempre da el mismo percentil al mismo dato. Eso es lo que puedo llevar a consulta con tranquilidad.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Tercer punto: los datos. Tres publicaciones, verificadas una a una en PubMed, no aceptadas porque las dijera el chat. Ojo con la primera: es población alemana sana; lo digo porque ese matiz importa al interpretar a una persona con obesidad y hay que tenerlo visible. Y lo más importante: la app no almacena ningún dato del paciente. RGPD por diseño, como aprendimos en el módulo uno.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Cuarto punto: la solución, tal cual la veo yo en consulta. Elijo la prueba, meto sexo o talla, edad y el valor medido, y en el mismo segundo tengo el percentil interpolado, el rango, la referencia del percentil cincuenta y una frase de interpretación. El semáforo lo entiende el paciente sin que yo traduzca nada. Rojo, naranja, verde, azul.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Cómo la construí, con la cadena de prompts del módulo dos: estructurar, generar, criticar, comunicar. Añadí un paso que para mí es el más importante: probar con casos donde sé la respuesta. Si meto el valor exacto del percentil cincuenta de la tabla, la app tiene que decir cincuenta. Si no, algo está mal. Abajo tenéis el prompt de arranque resumido: fijaos en las restricciones, que son la parte que de verdad protege.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Quinto punto: validación. Y aquí quiero ser especialmente honesta, porque es lo que el curso nos pidió: el modelo debe saber decir no lo sé, y yo también. A la izquierda, lo que he comprobado. A la derecha, tres límites reales que encontré al auditar la app con el mismo espíritu crítico que usamos con los razonadores. Los estoy corrigiendo. Presentar una herramienta sin sus límites sería exactamente el exceso de seguridad que aprendimos a detectar.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Sexto punto: impacto. De veinte minutos a menos de uno. Pero el número que más me importa es el tercero: ahora hago las tres pruebas en todas las visitas de seguimiento, cuando antes las hacía cuando podía. Y eso cambia la conversación con la persona: la función mejora antes que el peso, y ahora tengo un semáforo para enseñárselo. Sed conscientes de que los tiempos son estimación mía; medir el impacto clínico es lo siguiente.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Séptimo punto: escalabilidad. La app es de código abierto; cualquier compañero puede usarla hoy. Lo siguiente: más pruebas del mismo estudio español, informe en PDF, prensión normalizada por talla, que en obesidad es más informativa, y las correcciones que he mencionado. Y, para mí, lo más bonito: convertirla en material docente para enseñar a otros médicos de familia a hacer lo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son las ocho técnicas del programa que uso de verdad, con el módulo del que salen. No las cuento como teoría: cada una tiene un sitio en la calculadora o en mi consulta. Si tuviera que quedarme con dos: el prompt estructurado, porque es la especificación de todo lo demás, y la autocrítica del modelo, porque es lo que convierte una respuesta bonita en una respuesta útil.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nuncas y tres siempres. Son las reglas con las que trabajo con IA desde el módulo de compliance. La que más me costó interiorizar es la tercera: la tentación de reenviar una hoja de paciente generada por el modelo sin releerla es enorme cuando vas con prisa. Y la prisa, como aprendimos, es la causa de casi todos los problemas.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Termino con lo que de verdad me llevo. La IA no me ha dado certezas, y desconfío de quien diga que se las da. Me ha dado tiempo. Y en una consulta de obesidad el tiempo es lo más terapéutico que tengo.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B3C"/>
        </a:solidFill>
      </p:bgPr>
    </p:bg>
    <p:spTree>
      <p:nvGrpSpPr>
        <p:cNvPr id="1" name=""/>
        <p:cNvGrpSpPr/>
        <p:nvPr/>
      </p:nvGrpSpPr>
      <p:grpSpPr>
        <a:xfrm>
          <a:off x="0" y="0"/>
          <a:ext cx="0" cy="0"/>
          <a:chOff x="0" y="0"/>
          <a:chExt cx="0" cy="0"/>
        </a:xfrm>
      </p:grpSpPr>
      <p:sp>
        <p:nvSpPr>
          <p:cNvPr id="2" name="Shape 0"/>
          <p:cNvSpPr/>
          <p:nvPr/>
        </p:nvSpPr>
        <p:spPr>
          <a:xfrm>
            <a:off x="8412480" y="-1463040"/>
            <a:ext cx="5669280" cy="5669280"/>
          </a:xfrm>
          <a:prstGeom prst="ellipse">
            <a:avLst/>
          </a:prstGeom>
          <a:solidFill>
            <a:srgbClr val="0E7C86">
              <a:alpha val="30000"/>
            </a:srgbClr>
          </a:solidFill>
          <a:ln w="12700">
            <a:solidFill>
              <a:srgbClr val="0E7C86">
                <a:alpha val="30000"/>
              </a:srgbClr>
            </a:solidFill>
            <a:prstDash val="solid"/>
          </a:ln>
        </p:spPr>
      </p:sp>
      <p:sp>
        <p:nvSpPr>
          <p:cNvPr id="3" name="Shape 1"/>
          <p:cNvSpPr/>
          <p:nvPr/>
        </p:nvSpPr>
        <p:spPr>
          <a:xfrm>
            <a:off x="9692640" y="3108960"/>
            <a:ext cx="4023360" cy="4023360"/>
          </a:xfrm>
          <a:prstGeom prst="ellipse">
            <a:avLst/>
          </a:prstGeom>
          <a:solidFill>
            <a:srgbClr val="22B8CF">
              <a:alpha val="20000"/>
            </a:srgbClr>
          </a:solidFill>
          <a:ln w="12700">
            <a:solidFill>
              <a:srgbClr val="22B8CF">
                <a:alpha val="20000"/>
              </a:srgbClr>
            </a:solidFill>
            <a:prstDash val="solid"/>
          </a:ln>
        </p:spPr>
      </p:sp>
      <p:sp>
        <p:nvSpPr>
          <p:cNvPr id="4" name="Text 2"/>
          <p:cNvSpPr txBox="1"/>
          <p:nvPr/>
        </p:nvSpPr>
        <p:spPr>
          <a:xfrm>
            <a:off x="640080" y="640080"/>
            <a:ext cx="8229600" cy="365760"/>
          </a:xfrm>
          <a:prstGeom prst="rect">
            <a:avLst/>
          </a:prstGeom>
          <a:noFill/>
          <a:ln/>
        </p:spPr>
        <p:txBody>
          <a:bodyPr wrap="square" lIns="0" tIns="0" rIns="0" bIns="0" rtlCol="0" anchor="ctr"/>
          <a:lstStyle/>
          <a:p>
            <a:pPr indent="0" marL="0">
              <a:buNone/>
            </a:pPr>
            <a:r>
              <a:rPr lang="en-US" sz="1400" dirty="0">
                <a:solidFill>
                  <a:srgbClr val="22B8CF"/>
                </a:solidFill>
                <a:latin typeface="Calibri" pitchFamily="34" charset="0"/>
                <a:ea typeface="Calibri" pitchFamily="34" charset="-122"/>
                <a:cs typeface="Calibri" pitchFamily="34" charset="-120"/>
              </a:rPr>
              <a:t>Proyecto final · potencIA 2026 · Impulsa tu práctica asistencial con IA</a:t>
            </a:r>
            <a:endParaRPr lang="en-US" sz="1400" dirty="0"/>
          </a:p>
        </p:txBody>
      </p:sp>
      <p:sp>
        <p:nvSpPr>
          <p:cNvPr id="5" name="Text 3"/>
          <p:cNvSpPr txBox="1"/>
          <p:nvPr/>
        </p:nvSpPr>
        <p:spPr>
          <a:xfrm>
            <a:off x="640080" y="1371600"/>
            <a:ext cx="8686800" cy="2377440"/>
          </a:xfrm>
          <a:prstGeom prst="rect">
            <a:avLst/>
          </a:prstGeom>
          <a:noFill/>
          <a:ln/>
        </p:spPr>
        <p:txBody>
          <a:bodyPr wrap="square" lIns="0" tIns="0" rIns="0" bIns="0" rtlCol="0" anchor="t"/>
          <a:lstStyle/>
          <a:p>
            <a:pPr indent="0" marL="0">
              <a:lnSpc>
                <a:spcPct val="95000"/>
              </a:lnSpc>
              <a:buNone/>
            </a:pPr>
            <a:r>
              <a:rPr lang="en-US" sz="6000" b="1" dirty="0">
                <a:solidFill>
                  <a:srgbClr val="FFFFFF"/>
                </a:solidFill>
                <a:latin typeface="Cambria" pitchFamily="34" charset="0"/>
                <a:ea typeface="Cambria" pitchFamily="34" charset="-122"/>
                <a:cs typeface="Cambria" pitchFamily="34" charset="-120"/>
              </a:rPr>
              <a:t>De 20 minutos</a:t>
            </a:r>
            <a:endParaRPr lang="en-US" sz="6000" dirty="0"/>
          </a:p>
          <a:p>
            <a:pPr indent="0" marL="0">
              <a:lnSpc>
                <a:spcPct val="95000"/>
              </a:lnSpc>
              <a:buNone/>
            </a:pPr>
            <a:r>
              <a:rPr lang="en-US" sz="6000" b="1" dirty="0">
                <a:solidFill>
                  <a:srgbClr val="FFFFFF"/>
                </a:solidFill>
                <a:latin typeface="Cambria" pitchFamily="34" charset="0"/>
                <a:ea typeface="Cambria" pitchFamily="34" charset="-122"/>
                <a:cs typeface="Cambria" pitchFamily="34" charset="-120"/>
              </a:rPr>
              <a:t>a 20 segundos</a:t>
            </a:r>
            <a:endParaRPr lang="en-US" sz="6000" dirty="0"/>
          </a:p>
        </p:txBody>
      </p:sp>
      <p:sp>
        <p:nvSpPr>
          <p:cNvPr id="6" name="Text 4"/>
          <p:cNvSpPr txBox="1"/>
          <p:nvPr/>
        </p:nvSpPr>
        <p:spPr>
          <a:xfrm>
            <a:off x="640080" y="3886200"/>
            <a:ext cx="7863840" cy="822960"/>
          </a:xfrm>
          <a:prstGeom prst="rect">
            <a:avLst/>
          </a:prstGeom>
          <a:noFill/>
          <a:ln/>
        </p:spPr>
        <p:txBody>
          <a:bodyPr wrap="square" lIns="0" tIns="0" rIns="0" bIns="0" rtlCol="0" anchor="ctr"/>
          <a:lstStyle/>
          <a:p>
            <a:pPr indent="0" marL="0">
              <a:buNone/>
            </a:pPr>
            <a:r>
              <a:rPr lang="en-US" sz="2000" dirty="0">
                <a:solidFill>
                  <a:srgbClr val="CADCE3"/>
                </a:solidFill>
                <a:latin typeface="Calibri" pitchFamily="34" charset="0"/>
                <a:ea typeface="Calibri" pitchFamily="34" charset="-122"/>
                <a:cs typeface="Calibri" pitchFamily="34" charset="-120"/>
              </a:rPr>
              <a:t>Cómo, para qué y con qué uso la inteligencia artificial en mi consulta de obesidad</a:t>
            </a:r>
            <a:endParaRPr lang="en-US" sz="2000" dirty="0"/>
          </a:p>
        </p:txBody>
      </p:sp>
      <p:sp>
        <p:nvSpPr>
          <p:cNvPr id="7" name="Text 5"/>
          <p:cNvSpPr txBox="1"/>
          <p:nvPr/>
        </p:nvSpPr>
        <p:spPr>
          <a:xfrm>
            <a:off x="640080" y="5120640"/>
            <a:ext cx="822960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Dra. Cristina Petratti</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Médica de familia · Especialista en obesidad · SEEDO · Alicante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Desde dónde hablo</a:t>
            </a:r>
            <a:endParaRPr lang="en-US" sz="2800" dirty="0"/>
          </a:p>
        </p:txBody>
      </p:sp>
      <p:sp>
        <p:nvSpPr>
          <p:cNvPr id="3" name="Shape 1"/>
          <p:cNvSpPr/>
          <p:nvPr/>
        </p:nvSpPr>
        <p:spPr>
          <a:xfrm>
            <a:off x="548640" y="1463040"/>
            <a:ext cx="640080" cy="640080"/>
          </a:xfrm>
          <a:prstGeom prst="ellipse">
            <a:avLst/>
          </a:prstGeom>
          <a:solidFill>
            <a:srgbClr val="F2F6F7"/>
          </a:solidFill>
          <a:ln w="12700">
            <a:solidFill>
              <a:srgbClr val="F2F6F7"/>
            </a:solidFill>
            <a:prstDash val="solid"/>
          </a:ln>
        </p:spPr>
      </p:sp>
      <p:pic>
        <p:nvPicPr>
          <p:cNvPr id="4" name="Image 0" descr="preencoded.png">    </p:cNvPr>
          <p:cNvPicPr>
            <a:picLocks noChangeAspect="1"/>
          </p:cNvPicPr>
          <p:nvPr/>
        </p:nvPicPr>
        <p:blipFill>
          <a:blip r:embed="rId1"/>
          <a:stretch>
            <a:fillRect/>
          </a:stretch>
        </p:blipFill>
        <p:spPr>
          <a:xfrm>
            <a:off x="689458" y="1603858"/>
            <a:ext cx="358445" cy="358445"/>
          </a:xfrm>
          <a:prstGeom prst="rect">
            <a:avLst/>
          </a:prstGeom>
        </p:spPr>
      </p:pic>
      <p:sp>
        <p:nvSpPr>
          <p:cNvPr id="5" name="Text 2"/>
          <p:cNvSpPr txBox="1"/>
          <p:nvPr/>
        </p:nvSpPr>
        <p:spPr>
          <a:xfrm>
            <a:off x="1371600" y="1371600"/>
            <a:ext cx="4937760" cy="1097280"/>
          </a:xfrm>
          <a:prstGeom prst="rect">
            <a:avLst/>
          </a:prstGeom>
          <a:noFill/>
          <a:ln/>
        </p:spPr>
        <p:txBody>
          <a:bodyPr wrap="square" lIns="0" tIns="0" rIns="0" bIns="0" rtlCol="0" anchor="t"/>
          <a:lstStyle/>
          <a:p>
            <a:pPr indent="0" marL="0">
              <a:buNone/>
            </a:pPr>
            <a:r>
              <a:rPr lang="en-US" sz="1400" b="1" dirty="0">
                <a:solidFill>
                  <a:srgbClr val="1B2A34"/>
                </a:solidFill>
                <a:latin typeface="Calibri" pitchFamily="34" charset="0"/>
                <a:ea typeface="Calibri" pitchFamily="34" charset="-122"/>
                <a:cs typeface="Calibri" pitchFamily="34" charset="-120"/>
              </a:rPr>
              <a:t>Más de 25 años de consulta</a:t>
            </a:r>
            <a:endParaRPr lang="en-US" sz="1400" dirty="0"/>
          </a:p>
          <a:p>
            <a:pPr indent="0" marL="0">
              <a:buNone/>
            </a:pPr>
            <a:r>
              <a:rPr lang="en-US" sz="1400" dirty="0">
                <a:solidFill>
                  <a:srgbClr val="1B2A34"/>
                </a:solidFill>
                <a:latin typeface="Calibri" pitchFamily="34" charset="0"/>
                <a:ea typeface="Calibri" pitchFamily="34" charset="-122"/>
                <a:cs typeface="Calibri" pitchFamily="34" charset="-120"/>
              </a:rPr>
              <a:t>Médica de familia. Especialista en obesidad y salud metabólica. Miembro de la SEEDO. Consulta en El Campello, Alicante.</a:t>
            </a:r>
            <a:endParaRPr lang="en-US" sz="1400" dirty="0"/>
          </a:p>
        </p:txBody>
      </p:sp>
      <p:sp>
        <p:nvSpPr>
          <p:cNvPr id="6" name="Shape 3"/>
          <p:cNvSpPr/>
          <p:nvPr/>
        </p:nvSpPr>
        <p:spPr>
          <a:xfrm>
            <a:off x="548640" y="2743200"/>
            <a:ext cx="640080" cy="640080"/>
          </a:xfrm>
          <a:prstGeom prst="ellipse">
            <a:avLst/>
          </a:prstGeom>
          <a:solidFill>
            <a:srgbClr val="F2F6F7"/>
          </a:solidFill>
          <a:ln w="12700">
            <a:solidFill>
              <a:srgbClr val="F2F6F7"/>
            </a:solidFill>
            <a:prstDash val="solid"/>
          </a:ln>
        </p:spPr>
      </p:sp>
      <p:pic>
        <p:nvPicPr>
          <p:cNvPr id="7" name="Image 1" descr="preencoded.png">    </p:cNvPr>
          <p:cNvPicPr>
            <a:picLocks noChangeAspect="1"/>
          </p:cNvPicPr>
          <p:nvPr/>
        </p:nvPicPr>
        <p:blipFill>
          <a:blip r:embed="rId2"/>
          <a:stretch>
            <a:fillRect/>
          </a:stretch>
        </p:blipFill>
        <p:spPr>
          <a:xfrm>
            <a:off x="689458" y="2884018"/>
            <a:ext cx="358445" cy="358445"/>
          </a:xfrm>
          <a:prstGeom prst="rect">
            <a:avLst/>
          </a:prstGeom>
        </p:spPr>
      </p:pic>
      <p:sp>
        <p:nvSpPr>
          <p:cNvPr id="8" name="Text 4"/>
          <p:cNvSpPr txBox="1"/>
          <p:nvPr/>
        </p:nvSpPr>
        <p:spPr>
          <a:xfrm>
            <a:off x="1371600" y="2651760"/>
            <a:ext cx="4937760" cy="1371600"/>
          </a:xfrm>
          <a:prstGeom prst="rect">
            <a:avLst/>
          </a:prstGeom>
          <a:noFill/>
          <a:ln/>
        </p:spPr>
        <p:txBody>
          <a:bodyPr wrap="square" lIns="0" tIns="0" rIns="0" bIns="0" rtlCol="0" anchor="t"/>
          <a:lstStyle/>
          <a:p>
            <a:pPr indent="0" marL="0">
              <a:buNone/>
            </a:pPr>
            <a:r>
              <a:rPr lang="en-US" sz="1400" b="1" dirty="0">
                <a:solidFill>
                  <a:srgbClr val="1B2A34"/>
                </a:solidFill>
                <a:latin typeface="Calibri" pitchFamily="34" charset="0"/>
                <a:ea typeface="Calibri" pitchFamily="34" charset="-122"/>
                <a:cs typeface="Calibri" pitchFamily="34" charset="-120"/>
              </a:rPr>
              <a:t>Mi frase de cabecera</a:t>
            </a:r>
            <a:endParaRPr lang="en-US" sz="1400" dirty="0"/>
          </a:p>
          <a:p>
            <a:pPr indent="0" marL="0">
              <a:buNone/>
            </a:pPr>
            <a:r>
              <a:rPr lang="en-US" sz="1400" dirty="0">
                <a:solidFill>
                  <a:srgbClr val="1B2A34"/>
                </a:solidFill>
                <a:latin typeface="Calibri" pitchFamily="34" charset="0"/>
                <a:ea typeface="Calibri" pitchFamily="34" charset="-122"/>
                <a:cs typeface="Calibri" pitchFamily="34" charset="-120"/>
              </a:rPr>
              <a:t>“Es biología, no falta de voluntad.” La obesidad es una enfermedad crónica, compleja y con biología detrás. Eso cambia cómo se mide, cómo se trata y cómo se habla con la persona.</a:t>
            </a:r>
            <a:endParaRPr lang="en-US" sz="1400" dirty="0"/>
          </a:p>
        </p:txBody>
      </p:sp>
      <p:sp>
        <p:nvSpPr>
          <p:cNvPr id="9" name="Shape 5"/>
          <p:cNvSpPr/>
          <p:nvPr/>
        </p:nvSpPr>
        <p:spPr>
          <a:xfrm>
            <a:off x="548640" y="4206240"/>
            <a:ext cx="640080" cy="640080"/>
          </a:xfrm>
          <a:prstGeom prst="ellipse">
            <a:avLst/>
          </a:prstGeom>
          <a:solidFill>
            <a:srgbClr val="F2F6F7"/>
          </a:solidFill>
          <a:ln w="12700">
            <a:solidFill>
              <a:srgbClr val="F2F6F7"/>
            </a:solidFill>
            <a:prstDash val="solid"/>
          </a:ln>
        </p:spPr>
      </p:sp>
      <p:pic>
        <p:nvPicPr>
          <p:cNvPr id="10" name="Image 2" descr="preencoded.png">    </p:cNvPr>
          <p:cNvPicPr>
            <a:picLocks noChangeAspect="1"/>
          </p:cNvPicPr>
          <p:nvPr/>
        </p:nvPicPr>
        <p:blipFill>
          <a:blip r:embed="rId3"/>
          <a:stretch>
            <a:fillRect/>
          </a:stretch>
        </p:blipFill>
        <p:spPr>
          <a:xfrm>
            <a:off x="689458" y="4347058"/>
            <a:ext cx="358445" cy="358445"/>
          </a:xfrm>
          <a:prstGeom prst="rect">
            <a:avLst/>
          </a:prstGeom>
        </p:spPr>
      </p:pic>
      <p:sp>
        <p:nvSpPr>
          <p:cNvPr id="11" name="Text 6"/>
          <p:cNvSpPr txBox="1"/>
          <p:nvPr/>
        </p:nvSpPr>
        <p:spPr>
          <a:xfrm>
            <a:off x="1371600" y="4114800"/>
            <a:ext cx="4937760" cy="1371600"/>
          </a:xfrm>
          <a:prstGeom prst="rect">
            <a:avLst/>
          </a:prstGeom>
          <a:noFill/>
          <a:ln/>
        </p:spPr>
        <p:txBody>
          <a:bodyPr wrap="square" lIns="0" tIns="0" rIns="0" bIns="0" rtlCol="0" anchor="t"/>
          <a:lstStyle/>
          <a:p>
            <a:pPr indent="0" marL="0">
              <a:buNone/>
            </a:pPr>
            <a:r>
              <a:rPr lang="en-US" sz="1400" b="1" dirty="0">
                <a:solidFill>
                  <a:srgbClr val="1B2A34"/>
                </a:solidFill>
                <a:latin typeface="Calibri" pitchFamily="34" charset="0"/>
                <a:ea typeface="Calibri" pitchFamily="34" charset="-122"/>
                <a:cs typeface="Calibri" pitchFamily="34" charset="-120"/>
              </a:rPr>
              <a:t>Por qué me importa la función física</a:t>
            </a:r>
            <a:endParaRPr lang="en-US" sz="1400" dirty="0"/>
          </a:p>
          <a:p>
            <a:pPr indent="0" marL="0">
              <a:buNone/>
            </a:pPr>
            <a:r>
              <a:rPr lang="en-US" sz="1400" dirty="0">
                <a:solidFill>
                  <a:srgbClr val="1B2A34"/>
                </a:solidFill>
                <a:latin typeface="Calibri" pitchFamily="34" charset="0"/>
                <a:ea typeface="Calibri" pitchFamily="34" charset="-122"/>
                <a:cs typeface="Calibri" pitchFamily="34" charset="-120"/>
              </a:rPr>
              <a:t>En obesidad, el peso cuenta poco si no sé cómo camina, cuánta fuerza tiene y si puede levantarse de una silla. La capacidad funcional predice más que el IMC.</a:t>
            </a:r>
            <a:endParaRPr lang="en-US" sz="1400" dirty="0"/>
          </a:p>
        </p:txBody>
      </p:sp>
      <p:sp>
        <p:nvSpPr>
          <p:cNvPr id="12" name="Shape 7"/>
          <p:cNvSpPr/>
          <p:nvPr/>
        </p:nvSpPr>
        <p:spPr>
          <a:xfrm>
            <a:off x="6949440" y="1371600"/>
            <a:ext cx="4663440" cy="4206240"/>
          </a:xfrm>
          <a:prstGeom prst="roundRect">
            <a:avLst>
              <a:gd name="adj" fmla="val 2609"/>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3" name="Image 3" descr="preencoded.png">    </p:cNvPr>
          <p:cNvPicPr>
            <a:picLocks noChangeAspect="1"/>
          </p:cNvPicPr>
          <p:nvPr/>
        </p:nvPicPr>
        <p:blipFill>
          <a:blip r:embed="rId4"/>
          <a:stretch>
            <a:fillRect/>
          </a:stretch>
        </p:blipFill>
        <p:spPr>
          <a:xfrm>
            <a:off x="7269480" y="1691640"/>
            <a:ext cx="457200" cy="457200"/>
          </a:xfrm>
          <a:prstGeom prst="rect">
            <a:avLst/>
          </a:prstGeom>
        </p:spPr>
      </p:pic>
      <p:sp>
        <p:nvSpPr>
          <p:cNvPr id="14" name="Text 8"/>
          <p:cNvSpPr txBox="1"/>
          <p:nvPr/>
        </p:nvSpPr>
        <p:spPr>
          <a:xfrm>
            <a:off x="7863840" y="1645920"/>
            <a:ext cx="3474720" cy="548640"/>
          </a:xfrm>
          <a:prstGeom prst="rect">
            <a:avLst/>
          </a:prstGeom>
          <a:noFill/>
          <a:ln/>
        </p:spPr>
        <p:txBody>
          <a:bodyPr wrap="square" lIns="0" tIns="0" rIns="0" bIns="0" rtlCol="0" anchor="ctr"/>
          <a:lstStyle/>
          <a:p>
            <a:pPr indent="0" marL="0">
              <a:buNone/>
            </a:pPr>
            <a:r>
              <a:rPr lang="en-US" sz="2000" b="1" dirty="0">
                <a:solidFill>
                  <a:srgbClr val="0F2B3C"/>
                </a:solidFill>
                <a:latin typeface="Cambria" pitchFamily="34" charset="0"/>
                <a:ea typeface="Cambria" pitchFamily="34" charset="-122"/>
                <a:cs typeface="Cambria" pitchFamily="34" charset="-120"/>
              </a:rPr>
              <a:t>Transparencia</a:t>
            </a:r>
            <a:endParaRPr lang="en-US" sz="2000" dirty="0"/>
          </a:p>
        </p:txBody>
      </p:sp>
      <p:sp>
        <p:nvSpPr>
          <p:cNvPr id="15" name="Text 9"/>
          <p:cNvSpPr txBox="1"/>
          <p:nvPr/>
        </p:nvSpPr>
        <p:spPr>
          <a:xfrm>
            <a:off x="7269480" y="2331720"/>
            <a:ext cx="4069080" cy="3017520"/>
          </a:xfrm>
          <a:prstGeom prst="rect">
            <a:avLst/>
          </a:prstGeom>
          <a:noFill/>
          <a:ln/>
        </p:spPr>
        <p:txBody>
          <a:bodyPr wrap="square" lIns="0" tIns="0" rIns="0" bIns="0" rtlCol="0" anchor="t"/>
          <a:lstStyle/>
          <a:p>
            <a:pPr indent="0" marL="0">
              <a:spcAft>
                <a:spcPts val="800"/>
              </a:spcAft>
              <a:buNone/>
            </a:pPr>
            <a:r>
              <a:rPr lang="en-US" sz="1300" dirty="0">
                <a:solidFill>
                  <a:srgbClr val="1B2A34"/>
                </a:solidFill>
                <a:latin typeface="Calibri" pitchFamily="34" charset="0"/>
                <a:ea typeface="Calibri" pitchFamily="34" charset="-122"/>
                <a:cs typeface="Calibri" pitchFamily="34" charset="-120"/>
              </a:rPr>
              <a:t>Declaro conflicto de interés con Novo Nordisk: he recibido formación en programas patrocinados por la compañía, entre ellos este.</a:t>
            </a:r>
            <a:endParaRPr lang="en-US" sz="1300" dirty="0"/>
          </a:p>
          <a:p>
            <a:pPr indent="0" marL="0">
              <a:spcAft>
                <a:spcPts val="800"/>
              </a:spcAft>
              <a:buNone/>
            </a:pPr>
            <a:r>
              <a:rPr lang="en-US" sz="1300" dirty="0">
                <a:solidFill>
                  <a:srgbClr val="1B2A34"/>
                </a:solidFill>
                <a:latin typeface="Calibri" pitchFamily="34" charset="0"/>
                <a:ea typeface="Calibri" pitchFamily="34" charset="-122"/>
                <a:cs typeface="Calibri" pitchFamily="34" charset="-120"/>
              </a:rPr>
              <a:t>Esta presentación es formativa e independiente. No menciona nombres comerciales de medicamentos de prescripción: los fármacos se citan por principio activo o clase terapéutica.</a:t>
            </a:r>
            <a:endParaRPr lang="en-US" sz="1300" dirty="0"/>
          </a:p>
          <a:p>
            <a:pPr indent="0" marL="0">
              <a:buNone/>
            </a:pPr>
            <a:r>
              <a:rPr lang="en-US" sz="1300" b="1" dirty="0">
                <a:solidFill>
                  <a:srgbClr val="1B2A34"/>
                </a:solidFill>
                <a:latin typeface="Calibri" pitchFamily="34" charset="0"/>
                <a:ea typeface="Calibri" pitchFamily="34" charset="-122"/>
                <a:cs typeface="Calibri" pitchFamily="34" charset="-120"/>
              </a:rPr>
              <a:t>Ningún dato de esta charla procede de pacientes reales.</a:t>
            </a:r>
            <a:endParaRPr lang="en-US" sz="1300" dirty="0"/>
          </a:p>
        </p:txBody>
      </p:sp>
      <p:sp>
        <p:nvSpPr>
          <p:cNvPr id="16" name="Text 1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Para qué uso la IA: los cinco momentos de mi jornada</a:t>
            </a:r>
            <a:endParaRPr lang="en-US" sz="2800" dirty="0"/>
          </a:p>
        </p:txBody>
      </p:sp>
      <p:sp>
        <p:nvSpPr>
          <p:cNvPr id="3" name="Shape 1"/>
          <p:cNvSpPr/>
          <p:nvPr/>
        </p:nvSpPr>
        <p:spPr>
          <a:xfrm>
            <a:off x="548640" y="1463040"/>
            <a:ext cx="2157984" cy="3931920"/>
          </a:xfrm>
          <a:prstGeom prst="roundRect">
            <a:avLst>
              <a:gd name="adj" fmla="val 5085"/>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77240" y="1737360"/>
            <a:ext cx="640080" cy="640080"/>
          </a:xfrm>
          <a:prstGeom prst="ellipse">
            <a:avLst/>
          </a:prstGeom>
          <a:solidFill>
            <a:srgbClr val="F2F6F7"/>
          </a:solidFill>
          <a:ln w="12700">
            <a:solidFill>
              <a:srgbClr val="F2F6F7"/>
            </a:solidFill>
            <a:prstDash val="solid"/>
          </a:ln>
        </p:spPr>
      </p:sp>
      <p:pic>
        <p:nvPicPr>
          <p:cNvPr id="5" name="Image 0" descr="preencoded.png">    </p:cNvPr>
          <p:cNvPicPr>
            <a:picLocks noChangeAspect="1"/>
          </p:cNvPicPr>
          <p:nvPr/>
        </p:nvPicPr>
        <p:blipFill>
          <a:blip r:embed="rId1"/>
          <a:stretch>
            <a:fillRect/>
          </a:stretch>
        </p:blipFill>
        <p:spPr>
          <a:xfrm>
            <a:off x="918058" y="1878178"/>
            <a:ext cx="358445" cy="358445"/>
          </a:xfrm>
          <a:prstGeom prst="rect">
            <a:avLst/>
          </a:prstGeom>
        </p:spPr>
      </p:pic>
      <p:sp>
        <p:nvSpPr>
          <p:cNvPr id="6" name="Text 3"/>
          <p:cNvSpPr txBox="1"/>
          <p:nvPr/>
        </p:nvSpPr>
        <p:spPr>
          <a:xfrm>
            <a:off x="731520" y="2514600"/>
            <a:ext cx="1792224" cy="640080"/>
          </a:xfrm>
          <a:prstGeom prst="rect">
            <a:avLst/>
          </a:prstGeom>
          <a:noFill/>
          <a:ln/>
        </p:spPr>
        <p:txBody>
          <a:bodyPr wrap="square" lIns="0" tIns="0" rIns="0" bIns="0" rtlCol="0" anchor="t"/>
          <a:lstStyle/>
          <a:p>
            <a:pPr indent="0" marL="0">
              <a:buNone/>
            </a:pPr>
            <a:r>
              <a:rPr lang="en-US" sz="1600" b="1" dirty="0">
                <a:solidFill>
                  <a:srgbClr val="0F2B3C"/>
                </a:solidFill>
                <a:latin typeface="Cambria" pitchFamily="34" charset="0"/>
                <a:ea typeface="Cambria" pitchFamily="34" charset="-122"/>
                <a:cs typeface="Cambria" pitchFamily="34" charset="-120"/>
              </a:rPr>
              <a:t>Consulta</a:t>
            </a:r>
            <a:endParaRPr lang="en-US" sz="1600" dirty="0"/>
          </a:p>
        </p:txBody>
      </p:sp>
      <p:sp>
        <p:nvSpPr>
          <p:cNvPr id="7" name="Text 4"/>
          <p:cNvSpPr txBox="1"/>
          <p:nvPr/>
        </p:nvSpPr>
        <p:spPr>
          <a:xfrm>
            <a:off x="731520" y="3200400"/>
            <a:ext cx="1792224" cy="201168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Ordenar el caso antes de decidir. Convertir notas sueltas en una nota estructurada sin inventar huecos.</a:t>
            </a:r>
            <a:endParaRPr lang="en-US" sz="1250" dirty="0"/>
          </a:p>
        </p:txBody>
      </p:sp>
      <p:sp>
        <p:nvSpPr>
          <p:cNvPr id="8" name="Shape 5"/>
          <p:cNvSpPr/>
          <p:nvPr/>
        </p:nvSpPr>
        <p:spPr>
          <a:xfrm>
            <a:off x="2889504" y="1463040"/>
            <a:ext cx="2157984" cy="3931920"/>
          </a:xfrm>
          <a:prstGeom prst="roundRect">
            <a:avLst>
              <a:gd name="adj" fmla="val 5085"/>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3118104" y="1737360"/>
            <a:ext cx="640080" cy="640080"/>
          </a:xfrm>
          <a:prstGeom prst="ellipse">
            <a:avLst/>
          </a:prstGeom>
          <a:solidFill>
            <a:srgbClr val="F2F6F7"/>
          </a:solidFill>
          <a:ln w="12700">
            <a:solidFill>
              <a:srgbClr val="F2F6F7"/>
            </a:solidFill>
            <a:prstDash val="solid"/>
          </a:ln>
        </p:spPr>
      </p:sp>
      <p:pic>
        <p:nvPicPr>
          <p:cNvPr id="10" name="Image 1" descr="preencoded.png">    </p:cNvPr>
          <p:cNvPicPr>
            <a:picLocks noChangeAspect="1"/>
          </p:cNvPicPr>
          <p:nvPr/>
        </p:nvPicPr>
        <p:blipFill>
          <a:blip r:embed="rId2"/>
          <a:stretch>
            <a:fillRect/>
          </a:stretch>
        </p:blipFill>
        <p:spPr>
          <a:xfrm>
            <a:off x="3258922" y="1878178"/>
            <a:ext cx="358445" cy="358445"/>
          </a:xfrm>
          <a:prstGeom prst="rect">
            <a:avLst/>
          </a:prstGeom>
        </p:spPr>
      </p:pic>
      <p:sp>
        <p:nvSpPr>
          <p:cNvPr id="11" name="Text 7"/>
          <p:cNvSpPr txBox="1"/>
          <p:nvPr/>
        </p:nvSpPr>
        <p:spPr>
          <a:xfrm>
            <a:off x="3072384" y="2514600"/>
            <a:ext cx="1792224" cy="640080"/>
          </a:xfrm>
          <a:prstGeom prst="rect">
            <a:avLst/>
          </a:prstGeom>
          <a:noFill/>
          <a:ln/>
        </p:spPr>
        <p:txBody>
          <a:bodyPr wrap="square" lIns="0" tIns="0" rIns="0" bIns="0" rtlCol="0" anchor="t"/>
          <a:lstStyle/>
          <a:p>
            <a:pPr indent="0" marL="0">
              <a:buNone/>
            </a:pPr>
            <a:r>
              <a:rPr lang="en-US" sz="1600" b="1" dirty="0">
                <a:solidFill>
                  <a:srgbClr val="0F2B3C"/>
                </a:solidFill>
                <a:latin typeface="Cambria" pitchFamily="34" charset="0"/>
                <a:ea typeface="Cambria" pitchFamily="34" charset="-122"/>
                <a:cs typeface="Cambria" pitchFamily="34" charset="-120"/>
              </a:rPr>
              <a:t>Seguimiento de crónicos</a:t>
            </a:r>
            <a:endParaRPr lang="en-US" sz="1600" dirty="0"/>
          </a:p>
        </p:txBody>
      </p:sp>
      <p:sp>
        <p:nvSpPr>
          <p:cNvPr id="12" name="Text 8"/>
          <p:cNvSpPr txBox="1"/>
          <p:nvPr/>
        </p:nvSpPr>
        <p:spPr>
          <a:xfrm>
            <a:off x="3072384" y="3200400"/>
            <a:ext cx="1792224" cy="201168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Ver la tendencia, no la foto: peso, cintura, HbA1c, función. Y ahora, percentiles funcionales al instante.</a:t>
            </a:r>
            <a:endParaRPr lang="en-US" sz="1250" dirty="0"/>
          </a:p>
        </p:txBody>
      </p:sp>
      <p:sp>
        <p:nvSpPr>
          <p:cNvPr id="13" name="Shape 9"/>
          <p:cNvSpPr/>
          <p:nvPr/>
        </p:nvSpPr>
        <p:spPr>
          <a:xfrm>
            <a:off x="5230368" y="1463040"/>
            <a:ext cx="2157984" cy="3931920"/>
          </a:xfrm>
          <a:prstGeom prst="roundRect">
            <a:avLst>
              <a:gd name="adj" fmla="val 5085"/>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4" name="Shape 10"/>
          <p:cNvSpPr/>
          <p:nvPr/>
        </p:nvSpPr>
        <p:spPr>
          <a:xfrm>
            <a:off x="5458968" y="1737360"/>
            <a:ext cx="640080" cy="640080"/>
          </a:xfrm>
          <a:prstGeom prst="ellipse">
            <a:avLst/>
          </a:prstGeom>
          <a:solidFill>
            <a:srgbClr val="F2F6F7"/>
          </a:solidFill>
          <a:ln w="12700">
            <a:solidFill>
              <a:srgbClr val="F2F6F7"/>
            </a:solidFill>
            <a:prstDash val="solid"/>
          </a:ln>
        </p:spPr>
      </p:sp>
      <p:pic>
        <p:nvPicPr>
          <p:cNvPr id="15" name="Image 2" descr="preencoded.png">    </p:cNvPr>
          <p:cNvPicPr>
            <a:picLocks noChangeAspect="1"/>
          </p:cNvPicPr>
          <p:nvPr/>
        </p:nvPicPr>
        <p:blipFill>
          <a:blip r:embed="rId3"/>
          <a:stretch>
            <a:fillRect/>
          </a:stretch>
        </p:blipFill>
        <p:spPr>
          <a:xfrm>
            <a:off x="5599786" y="1878178"/>
            <a:ext cx="358445" cy="358445"/>
          </a:xfrm>
          <a:prstGeom prst="rect">
            <a:avLst/>
          </a:prstGeom>
        </p:spPr>
      </p:pic>
      <p:sp>
        <p:nvSpPr>
          <p:cNvPr id="16" name="Text 11"/>
          <p:cNvSpPr txBox="1"/>
          <p:nvPr/>
        </p:nvSpPr>
        <p:spPr>
          <a:xfrm>
            <a:off x="5413248" y="2514600"/>
            <a:ext cx="1792224" cy="640080"/>
          </a:xfrm>
          <a:prstGeom prst="rect">
            <a:avLst/>
          </a:prstGeom>
          <a:noFill/>
          <a:ln/>
        </p:spPr>
        <p:txBody>
          <a:bodyPr wrap="square" lIns="0" tIns="0" rIns="0" bIns="0" rtlCol="0" anchor="t"/>
          <a:lstStyle/>
          <a:p>
            <a:pPr indent="0" marL="0">
              <a:buNone/>
            </a:pPr>
            <a:r>
              <a:rPr lang="en-US" sz="1600" b="1" dirty="0">
                <a:solidFill>
                  <a:srgbClr val="0F2B3C"/>
                </a:solidFill>
                <a:latin typeface="Cambria" pitchFamily="34" charset="0"/>
                <a:ea typeface="Cambria" pitchFamily="34" charset="-122"/>
                <a:cs typeface="Cambria" pitchFamily="34" charset="-120"/>
              </a:rPr>
              <a:t>Administración</a:t>
            </a:r>
            <a:endParaRPr lang="en-US" sz="1600" dirty="0"/>
          </a:p>
        </p:txBody>
      </p:sp>
      <p:sp>
        <p:nvSpPr>
          <p:cNvPr id="17" name="Text 12"/>
          <p:cNvSpPr txBox="1"/>
          <p:nvPr/>
        </p:nvSpPr>
        <p:spPr>
          <a:xfrm>
            <a:off x="5413248" y="3200400"/>
            <a:ext cx="1792224" cy="201168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Cartas a especializada, informes, hojas de paciente en el idioma de cada persona.</a:t>
            </a:r>
            <a:endParaRPr lang="en-US" sz="1250" dirty="0"/>
          </a:p>
        </p:txBody>
      </p:sp>
      <p:sp>
        <p:nvSpPr>
          <p:cNvPr id="18" name="Shape 13"/>
          <p:cNvSpPr/>
          <p:nvPr/>
        </p:nvSpPr>
        <p:spPr>
          <a:xfrm>
            <a:off x="7571232" y="1463040"/>
            <a:ext cx="2157984" cy="3931920"/>
          </a:xfrm>
          <a:prstGeom prst="roundRect">
            <a:avLst>
              <a:gd name="adj" fmla="val 5085"/>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7799832" y="1737360"/>
            <a:ext cx="640080" cy="640080"/>
          </a:xfrm>
          <a:prstGeom prst="ellipse">
            <a:avLst/>
          </a:prstGeom>
          <a:solidFill>
            <a:srgbClr val="F2F6F7"/>
          </a:solidFill>
          <a:ln w="12700">
            <a:solidFill>
              <a:srgbClr val="F2F6F7"/>
            </a:solidFill>
            <a:prstDash val="solid"/>
          </a:ln>
        </p:spPr>
      </p:sp>
      <p:pic>
        <p:nvPicPr>
          <p:cNvPr id="20" name="Image 3" descr="preencoded.png">    </p:cNvPr>
          <p:cNvPicPr>
            <a:picLocks noChangeAspect="1"/>
          </p:cNvPicPr>
          <p:nvPr/>
        </p:nvPicPr>
        <p:blipFill>
          <a:blip r:embed="rId4"/>
          <a:stretch>
            <a:fillRect/>
          </a:stretch>
        </p:blipFill>
        <p:spPr>
          <a:xfrm>
            <a:off x="7940650" y="1878178"/>
            <a:ext cx="358445" cy="358445"/>
          </a:xfrm>
          <a:prstGeom prst="rect">
            <a:avLst/>
          </a:prstGeom>
        </p:spPr>
      </p:pic>
      <p:sp>
        <p:nvSpPr>
          <p:cNvPr id="21" name="Text 15"/>
          <p:cNvSpPr txBox="1"/>
          <p:nvPr/>
        </p:nvSpPr>
        <p:spPr>
          <a:xfrm>
            <a:off x="7754112" y="2514600"/>
            <a:ext cx="1792224" cy="640080"/>
          </a:xfrm>
          <a:prstGeom prst="rect">
            <a:avLst/>
          </a:prstGeom>
          <a:noFill/>
          <a:ln/>
        </p:spPr>
        <p:txBody>
          <a:bodyPr wrap="square" lIns="0" tIns="0" rIns="0" bIns="0" rtlCol="0" anchor="t"/>
          <a:lstStyle/>
          <a:p>
            <a:pPr indent="0" marL="0">
              <a:buNone/>
            </a:pPr>
            <a:r>
              <a:rPr lang="en-US" sz="1600" b="1" dirty="0">
                <a:solidFill>
                  <a:srgbClr val="0F2B3C"/>
                </a:solidFill>
                <a:latin typeface="Cambria" pitchFamily="34" charset="0"/>
                <a:ea typeface="Cambria" pitchFamily="34" charset="-122"/>
                <a:cs typeface="Cambria" pitchFamily="34" charset="-120"/>
              </a:rPr>
              <a:t>Docencia y evidencia</a:t>
            </a:r>
            <a:endParaRPr lang="en-US" sz="1600" dirty="0"/>
          </a:p>
        </p:txBody>
      </p:sp>
      <p:sp>
        <p:nvSpPr>
          <p:cNvPr id="22" name="Text 16"/>
          <p:cNvSpPr txBox="1"/>
          <p:nvPr/>
        </p:nvSpPr>
        <p:spPr>
          <a:xfrm>
            <a:off x="7754112" y="3200400"/>
            <a:ext cx="1792224" cy="201168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Buscar con Consensus, Elicit, Scite y OpenEvidence. Leer papers con espíritu crítico, no con fe.</a:t>
            </a:r>
            <a:endParaRPr lang="en-US" sz="1250" dirty="0"/>
          </a:p>
        </p:txBody>
      </p:sp>
      <p:sp>
        <p:nvSpPr>
          <p:cNvPr id="23" name="Shape 17"/>
          <p:cNvSpPr/>
          <p:nvPr/>
        </p:nvSpPr>
        <p:spPr>
          <a:xfrm>
            <a:off x="9912096" y="1463040"/>
            <a:ext cx="2157984" cy="3931920"/>
          </a:xfrm>
          <a:prstGeom prst="roundRect">
            <a:avLst>
              <a:gd name="adj" fmla="val 5085"/>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4" name="Shape 18"/>
          <p:cNvSpPr/>
          <p:nvPr/>
        </p:nvSpPr>
        <p:spPr>
          <a:xfrm>
            <a:off x="10140696" y="1737360"/>
            <a:ext cx="640080" cy="640080"/>
          </a:xfrm>
          <a:prstGeom prst="ellipse">
            <a:avLst/>
          </a:prstGeom>
          <a:solidFill>
            <a:srgbClr val="F2F6F7"/>
          </a:solidFill>
          <a:ln w="12700">
            <a:solidFill>
              <a:srgbClr val="F2F6F7"/>
            </a:solidFill>
            <a:prstDash val="solid"/>
          </a:ln>
        </p:spPr>
      </p:sp>
      <p:pic>
        <p:nvPicPr>
          <p:cNvPr id="25" name="Image 4" descr="preencoded.png">    </p:cNvPr>
          <p:cNvPicPr>
            <a:picLocks noChangeAspect="1"/>
          </p:cNvPicPr>
          <p:nvPr/>
        </p:nvPicPr>
        <p:blipFill>
          <a:blip r:embed="rId5"/>
          <a:stretch>
            <a:fillRect/>
          </a:stretch>
        </p:blipFill>
        <p:spPr>
          <a:xfrm>
            <a:off x="10281514" y="1878178"/>
            <a:ext cx="358445" cy="358445"/>
          </a:xfrm>
          <a:prstGeom prst="rect">
            <a:avLst/>
          </a:prstGeom>
        </p:spPr>
      </p:pic>
      <p:sp>
        <p:nvSpPr>
          <p:cNvPr id="26" name="Text 19"/>
          <p:cNvSpPr txBox="1"/>
          <p:nvPr/>
        </p:nvSpPr>
        <p:spPr>
          <a:xfrm>
            <a:off x="10094976" y="2514600"/>
            <a:ext cx="1792224" cy="640080"/>
          </a:xfrm>
          <a:prstGeom prst="rect">
            <a:avLst/>
          </a:prstGeom>
          <a:noFill/>
          <a:ln/>
        </p:spPr>
        <p:txBody>
          <a:bodyPr wrap="square" lIns="0" tIns="0" rIns="0" bIns="0" rtlCol="0" anchor="t"/>
          <a:lstStyle/>
          <a:p>
            <a:pPr indent="0" marL="0">
              <a:buNone/>
            </a:pPr>
            <a:r>
              <a:rPr lang="en-US" sz="1600" b="1" dirty="0">
                <a:solidFill>
                  <a:srgbClr val="0F2B3C"/>
                </a:solidFill>
                <a:latin typeface="Cambria" pitchFamily="34" charset="0"/>
                <a:ea typeface="Cambria" pitchFamily="34" charset="-122"/>
                <a:cs typeface="Cambria" pitchFamily="34" charset="-120"/>
              </a:rPr>
              <a:t>Divulgación</a:t>
            </a:r>
            <a:endParaRPr lang="en-US" sz="1600" dirty="0"/>
          </a:p>
        </p:txBody>
      </p:sp>
      <p:sp>
        <p:nvSpPr>
          <p:cNvPr id="27" name="Text 20"/>
          <p:cNvSpPr txBox="1"/>
          <p:nvPr/>
        </p:nvSpPr>
        <p:spPr>
          <a:xfrm>
            <a:off x="10094976" y="3200400"/>
            <a:ext cx="1792224" cy="201168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Reels y posts con guion, disclaimer y checklist de compliance antes de publicar.</a:t>
            </a:r>
            <a:endParaRPr lang="en-US" sz="1250" dirty="0"/>
          </a:p>
        </p:txBody>
      </p:sp>
      <p:sp>
        <p:nvSpPr>
          <p:cNvPr id="28" name="Text 21"/>
          <p:cNvSpPr txBox="1"/>
          <p:nvPr/>
        </p:nvSpPr>
        <p:spPr>
          <a:xfrm>
            <a:off x="548640" y="5623560"/>
            <a:ext cx="10972800" cy="45720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La IA es copiloto, no piloto. El modelo razona, estructura y redacta; yo verifico y firmo.</a:t>
            </a:r>
            <a:endParaRPr lang="en-US" sz="1400" dirty="0"/>
          </a:p>
        </p:txBody>
      </p:sp>
      <p:sp>
        <p:nvSpPr>
          <p:cNvPr id="29" name="Text 22"/>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Cómo la uso: subir la escalera sin saltarse peldaños</a:t>
            </a:r>
            <a:endParaRPr lang="en-US" sz="2800" dirty="0"/>
          </a:p>
        </p:txBody>
      </p:sp>
      <p:sp>
        <p:nvSpPr>
          <p:cNvPr id="3" name="Shape 1"/>
          <p:cNvSpPr/>
          <p:nvPr/>
        </p:nvSpPr>
        <p:spPr>
          <a:xfrm>
            <a:off x="548640" y="3108960"/>
            <a:ext cx="2651760" cy="2560320"/>
          </a:xfrm>
          <a:prstGeom prst="roundRect">
            <a:avLst>
              <a:gd name="adj" fmla="val 4286"/>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77240" y="3337560"/>
            <a:ext cx="548640" cy="548640"/>
          </a:xfrm>
          <a:prstGeom prst="ellipse">
            <a:avLst/>
          </a:prstGeom>
          <a:solidFill>
            <a:srgbClr val="FFFFFF"/>
          </a:solidFill>
          <a:ln w="12700">
            <a:solidFill>
              <a:srgbClr val="FFFFFF"/>
            </a:solidFill>
            <a:prstDash val="solid"/>
          </a:ln>
        </p:spPr>
      </p:sp>
      <p:pic>
        <p:nvPicPr>
          <p:cNvPr id="5" name="Image 0" descr="preencoded.png">    </p:cNvPr>
          <p:cNvPicPr>
            <a:picLocks noChangeAspect="1"/>
          </p:cNvPicPr>
          <p:nvPr/>
        </p:nvPicPr>
        <p:blipFill>
          <a:blip r:embed="rId1"/>
          <a:stretch>
            <a:fillRect/>
          </a:stretch>
        </p:blipFill>
        <p:spPr>
          <a:xfrm>
            <a:off x="897941" y="3458261"/>
            <a:ext cx="307238" cy="307238"/>
          </a:xfrm>
          <a:prstGeom prst="rect">
            <a:avLst/>
          </a:prstGeom>
        </p:spPr>
      </p:pic>
      <p:sp>
        <p:nvSpPr>
          <p:cNvPr id="6" name="Text 3"/>
          <p:cNvSpPr txBox="1"/>
          <p:nvPr/>
        </p:nvSpPr>
        <p:spPr>
          <a:xfrm>
            <a:off x="1417320" y="3337560"/>
            <a:ext cx="1600200" cy="548640"/>
          </a:xfrm>
          <a:prstGeom prst="rect">
            <a:avLst/>
          </a:prstGeom>
          <a:noFill/>
          <a:ln/>
        </p:spPr>
        <p:txBody>
          <a:bodyPr wrap="square" lIns="0" tIns="0" rIns="0" bIns="0" rtlCol="0" anchor="ctr"/>
          <a:lstStyle/>
          <a:p>
            <a:pPr indent="0" marL="0">
              <a:buNone/>
            </a:pPr>
            <a:r>
              <a:rPr lang="en-US" sz="1600" b="1" dirty="0">
                <a:solidFill>
                  <a:srgbClr val="0F2B3C"/>
                </a:solidFill>
                <a:latin typeface="Cambria" pitchFamily="34" charset="0"/>
                <a:ea typeface="Cambria" pitchFamily="34" charset="-122"/>
                <a:cs typeface="Cambria" pitchFamily="34" charset="-120"/>
              </a:rPr>
              <a:t>1 · Chatbot</a:t>
            </a:r>
            <a:endParaRPr lang="en-US" sz="1600" dirty="0"/>
          </a:p>
        </p:txBody>
      </p:sp>
      <p:sp>
        <p:nvSpPr>
          <p:cNvPr id="7" name="Text 4"/>
          <p:cNvSpPr txBox="1"/>
          <p:nvPr/>
        </p:nvSpPr>
        <p:spPr>
          <a:xfrm>
            <a:off x="777240" y="3977640"/>
            <a:ext cx="2194560" cy="1554480"/>
          </a:xfrm>
          <a:prstGeom prst="rect">
            <a:avLst/>
          </a:prstGeom>
          <a:noFill/>
          <a:ln/>
        </p:spPr>
        <p:txBody>
          <a:bodyPr wrap="square" lIns="0" tIns="0" rIns="0" bIns="0" rtlCol="0" anchor="t"/>
          <a:lstStyle/>
          <a:p>
            <a:pPr indent="0" marL="0">
              <a:buNone/>
            </a:pPr>
            <a:r>
              <a:rPr lang="en-US" sz="1200" dirty="0">
                <a:solidFill>
                  <a:srgbClr val="1B2A34"/>
                </a:solidFill>
                <a:latin typeface="Calibri" pitchFamily="34" charset="0"/>
                <a:ea typeface="Calibri" pitchFamily="34" charset="-122"/>
                <a:cs typeface="Calibri" pitchFamily="34" charset="-120"/>
              </a:rPr>
              <a:t>Pregunto, resumo, redacto. Prompt estructurado: rol, contexto, tarea, formato. Few-shot con mis propios documentos anonimizados.</a:t>
            </a:r>
            <a:endParaRPr lang="en-US" sz="1200" dirty="0"/>
          </a:p>
        </p:txBody>
      </p:sp>
      <p:sp>
        <p:nvSpPr>
          <p:cNvPr id="8" name="Shape 5"/>
          <p:cNvSpPr/>
          <p:nvPr/>
        </p:nvSpPr>
        <p:spPr>
          <a:xfrm>
            <a:off x="3401568" y="2743200"/>
            <a:ext cx="2651760" cy="2926080"/>
          </a:xfrm>
          <a:prstGeom prst="roundRect">
            <a:avLst>
              <a:gd name="adj" fmla="val 4138"/>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3630168" y="2971800"/>
            <a:ext cx="548640" cy="548640"/>
          </a:xfrm>
          <a:prstGeom prst="ellipse">
            <a:avLst/>
          </a:prstGeom>
          <a:solidFill>
            <a:srgbClr val="FFFFFF"/>
          </a:solidFill>
          <a:ln w="12700">
            <a:solidFill>
              <a:srgbClr val="FFFFFF"/>
            </a:solidFill>
            <a:prstDash val="solid"/>
          </a:ln>
        </p:spPr>
      </p:sp>
      <p:pic>
        <p:nvPicPr>
          <p:cNvPr id="10" name="Image 1" descr="preencoded.png">    </p:cNvPr>
          <p:cNvPicPr>
            <a:picLocks noChangeAspect="1"/>
          </p:cNvPicPr>
          <p:nvPr/>
        </p:nvPicPr>
        <p:blipFill>
          <a:blip r:embed="rId2"/>
          <a:stretch>
            <a:fillRect/>
          </a:stretch>
        </p:blipFill>
        <p:spPr>
          <a:xfrm>
            <a:off x="3750869" y="3092501"/>
            <a:ext cx="307238" cy="307238"/>
          </a:xfrm>
          <a:prstGeom prst="rect">
            <a:avLst/>
          </a:prstGeom>
        </p:spPr>
      </p:pic>
      <p:sp>
        <p:nvSpPr>
          <p:cNvPr id="11" name="Text 7"/>
          <p:cNvSpPr txBox="1"/>
          <p:nvPr/>
        </p:nvSpPr>
        <p:spPr>
          <a:xfrm>
            <a:off x="4270248" y="2971800"/>
            <a:ext cx="1600200" cy="548640"/>
          </a:xfrm>
          <a:prstGeom prst="rect">
            <a:avLst/>
          </a:prstGeom>
          <a:noFill/>
          <a:ln/>
        </p:spPr>
        <p:txBody>
          <a:bodyPr wrap="square" lIns="0" tIns="0" rIns="0" bIns="0" rtlCol="0" anchor="ctr"/>
          <a:lstStyle/>
          <a:p>
            <a:pPr indent="0" marL="0">
              <a:buNone/>
            </a:pPr>
            <a:r>
              <a:rPr lang="en-US" sz="1600" b="1" dirty="0">
                <a:solidFill>
                  <a:srgbClr val="0F2B3C"/>
                </a:solidFill>
                <a:latin typeface="Cambria" pitchFamily="34" charset="0"/>
                <a:ea typeface="Cambria" pitchFamily="34" charset="-122"/>
                <a:cs typeface="Cambria" pitchFamily="34" charset="-120"/>
              </a:rPr>
              <a:t>2 · Razonador</a:t>
            </a:r>
            <a:endParaRPr lang="en-US" sz="1600" dirty="0"/>
          </a:p>
        </p:txBody>
      </p:sp>
      <p:sp>
        <p:nvSpPr>
          <p:cNvPr id="12" name="Text 8"/>
          <p:cNvSpPr txBox="1"/>
          <p:nvPr/>
        </p:nvSpPr>
        <p:spPr>
          <a:xfrm>
            <a:off x="3630168" y="3611880"/>
            <a:ext cx="2194560" cy="1920240"/>
          </a:xfrm>
          <a:prstGeom prst="rect">
            <a:avLst/>
          </a:prstGeom>
          <a:noFill/>
          <a:ln/>
        </p:spPr>
        <p:txBody>
          <a:bodyPr wrap="square" lIns="0" tIns="0" rIns="0" bIns="0" rtlCol="0" anchor="t"/>
          <a:lstStyle/>
          <a:p>
            <a:pPr indent="0" marL="0">
              <a:buNone/>
            </a:pPr>
            <a:r>
              <a:rPr lang="en-US" sz="1200" dirty="0">
                <a:solidFill>
                  <a:srgbClr val="1B2A34"/>
                </a:solidFill>
                <a:latin typeface="Calibri" pitchFamily="34" charset="0"/>
                <a:ea typeface="Calibri" pitchFamily="34" charset="-122"/>
                <a:cs typeface="Calibri" pitchFamily="34" charset="-120"/>
              </a:rPr>
              <a:t>Le pido que separe hechos, inferencias, dudas y datos que faltan. Que no cierre el diagnóstico. Que se audite a sí mismo.</a:t>
            </a:r>
            <a:endParaRPr lang="en-US" sz="1200" dirty="0"/>
          </a:p>
        </p:txBody>
      </p:sp>
      <p:sp>
        <p:nvSpPr>
          <p:cNvPr id="13" name="Shape 9"/>
          <p:cNvSpPr/>
          <p:nvPr/>
        </p:nvSpPr>
        <p:spPr>
          <a:xfrm>
            <a:off x="6254496" y="2377440"/>
            <a:ext cx="2651760" cy="3291840"/>
          </a:xfrm>
          <a:prstGeom prst="roundRect">
            <a:avLst>
              <a:gd name="adj" fmla="val 4138"/>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4" name="Shape 10"/>
          <p:cNvSpPr/>
          <p:nvPr/>
        </p:nvSpPr>
        <p:spPr>
          <a:xfrm>
            <a:off x="6483096" y="2606040"/>
            <a:ext cx="548640" cy="548640"/>
          </a:xfrm>
          <a:prstGeom prst="ellipse">
            <a:avLst/>
          </a:prstGeom>
          <a:solidFill>
            <a:srgbClr val="FFFFFF"/>
          </a:solidFill>
          <a:ln w="12700">
            <a:solidFill>
              <a:srgbClr val="FFFFFF"/>
            </a:solidFill>
            <a:prstDash val="solid"/>
          </a:ln>
        </p:spPr>
      </p:sp>
      <p:pic>
        <p:nvPicPr>
          <p:cNvPr id="15" name="Image 2" descr="preencoded.png">    </p:cNvPr>
          <p:cNvPicPr>
            <a:picLocks noChangeAspect="1"/>
          </p:cNvPicPr>
          <p:nvPr/>
        </p:nvPicPr>
        <p:blipFill>
          <a:blip r:embed="rId3"/>
          <a:stretch>
            <a:fillRect/>
          </a:stretch>
        </p:blipFill>
        <p:spPr>
          <a:xfrm>
            <a:off x="6603797" y="2726741"/>
            <a:ext cx="307238" cy="307238"/>
          </a:xfrm>
          <a:prstGeom prst="rect">
            <a:avLst/>
          </a:prstGeom>
        </p:spPr>
      </p:pic>
      <p:sp>
        <p:nvSpPr>
          <p:cNvPr id="16" name="Text 11"/>
          <p:cNvSpPr txBox="1"/>
          <p:nvPr/>
        </p:nvSpPr>
        <p:spPr>
          <a:xfrm>
            <a:off x="7123176" y="2606040"/>
            <a:ext cx="1600200" cy="548640"/>
          </a:xfrm>
          <a:prstGeom prst="rect">
            <a:avLst/>
          </a:prstGeom>
          <a:noFill/>
          <a:ln/>
        </p:spPr>
        <p:txBody>
          <a:bodyPr wrap="square" lIns="0" tIns="0" rIns="0" bIns="0" rtlCol="0" anchor="ctr"/>
          <a:lstStyle/>
          <a:p>
            <a:pPr indent="0" marL="0">
              <a:buNone/>
            </a:pPr>
            <a:r>
              <a:rPr lang="en-US" sz="1600" b="1" dirty="0">
                <a:solidFill>
                  <a:srgbClr val="0F2B3C"/>
                </a:solidFill>
                <a:latin typeface="Cambria" pitchFamily="34" charset="0"/>
                <a:ea typeface="Cambria" pitchFamily="34" charset="-122"/>
                <a:cs typeface="Cambria" pitchFamily="34" charset="-120"/>
              </a:rPr>
              <a:t>3 · Agente</a:t>
            </a:r>
            <a:endParaRPr lang="en-US" sz="1600" dirty="0"/>
          </a:p>
        </p:txBody>
      </p:sp>
      <p:sp>
        <p:nvSpPr>
          <p:cNvPr id="17" name="Text 12"/>
          <p:cNvSpPr txBox="1"/>
          <p:nvPr/>
        </p:nvSpPr>
        <p:spPr>
          <a:xfrm>
            <a:off x="6483096" y="3246120"/>
            <a:ext cx="2194560" cy="2286000"/>
          </a:xfrm>
          <a:prstGeom prst="rect">
            <a:avLst/>
          </a:prstGeom>
          <a:noFill/>
          <a:ln/>
        </p:spPr>
        <p:txBody>
          <a:bodyPr wrap="square" lIns="0" tIns="0" rIns="0" bIns="0" rtlCol="0" anchor="t"/>
          <a:lstStyle/>
          <a:p>
            <a:pPr indent="0" marL="0">
              <a:buNone/>
            </a:pPr>
            <a:r>
              <a:rPr lang="en-US" sz="1200" dirty="0">
                <a:solidFill>
                  <a:srgbClr val="1B2A34"/>
                </a:solidFill>
                <a:latin typeface="Calibri" pitchFamily="34" charset="0"/>
                <a:ea typeface="Calibri" pitchFamily="34" charset="-122"/>
                <a:cs typeface="Calibri" pitchFamily="34" charset="-120"/>
              </a:rPr>
              <a:t>Le doy un objetivo y herramientas: leer mis tablas, escribir código, probarlo, corregirlo y desplegarlo. Yo superviso cada paso.</a:t>
            </a:r>
            <a:endParaRPr lang="en-US" sz="1200" dirty="0"/>
          </a:p>
        </p:txBody>
      </p:sp>
      <p:sp>
        <p:nvSpPr>
          <p:cNvPr id="18" name="Shape 13"/>
          <p:cNvSpPr/>
          <p:nvPr/>
        </p:nvSpPr>
        <p:spPr>
          <a:xfrm>
            <a:off x="9107424" y="2011680"/>
            <a:ext cx="2651760" cy="3657600"/>
          </a:xfrm>
          <a:prstGeom prst="roundRect">
            <a:avLst>
              <a:gd name="adj" fmla="val 4138"/>
            </a:avLst>
          </a:prstGeom>
          <a:solidFill>
            <a:srgbClr val="E3F4F6"/>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9336024" y="2240280"/>
            <a:ext cx="548640" cy="548640"/>
          </a:xfrm>
          <a:prstGeom prst="ellipse">
            <a:avLst/>
          </a:prstGeom>
          <a:solidFill>
            <a:srgbClr val="FFFFFF"/>
          </a:solidFill>
          <a:ln w="12700">
            <a:solidFill>
              <a:srgbClr val="FFFFFF"/>
            </a:solidFill>
            <a:prstDash val="solid"/>
          </a:ln>
        </p:spPr>
      </p:sp>
      <p:pic>
        <p:nvPicPr>
          <p:cNvPr id="20" name="Image 3" descr="preencoded.png">    </p:cNvPr>
          <p:cNvPicPr>
            <a:picLocks noChangeAspect="1"/>
          </p:cNvPicPr>
          <p:nvPr/>
        </p:nvPicPr>
        <p:blipFill>
          <a:blip r:embed="rId4"/>
          <a:stretch>
            <a:fillRect/>
          </a:stretch>
        </p:blipFill>
        <p:spPr>
          <a:xfrm>
            <a:off x="9456725" y="2360981"/>
            <a:ext cx="307238" cy="307238"/>
          </a:xfrm>
          <a:prstGeom prst="rect">
            <a:avLst/>
          </a:prstGeom>
        </p:spPr>
      </p:pic>
      <p:sp>
        <p:nvSpPr>
          <p:cNvPr id="21" name="Text 15"/>
          <p:cNvSpPr txBox="1"/>
          <p:nvPr/>
        </p:nvSpPr>
        <p:spPr>
          <a:xfrm>
            <a:off x="9976104" y="2240280"/>
            <a:ext cx="1600200" cy="548640"/>
          </a:xfrm>
          <a:prstGeom prst="rect">
            <a:avLst/>
          </a:prstGeom>
          <a:noFill/>
          <a:ln/>
        </p:spPr>
        <p:txBody>
          <a:bodyPr wrap="square" lIns="0" tIns="0" rIns="0" bIns="0" rtlCol="0" anchor="ctr"/>
          <a:lstStyle/>
          <a:p>
            <a:pPr indent="0" marL="0">
              <a:buNone/>
            </a:pPr>
            <a:r>
              <a:rPr lang="en-US" sz="1600" b="1" dirty="0">
                <a:solidFill>
                  <a:srgbClr val="0F2B3C"/>
                </a:solidFill>
                <a:latin typeface="Cambria" pitchFamily="34" charset="0"/>
                <a:ea typeface="Cambria" pitchFamily="34" charset="-122"/>
                <a:cs typeface="Cambria" pitchFamily="34" charset="-120"/>
              </a:rPr>
              <a:t>4 · Herramienta</a:t>
            </a:r>
            <a:endParaRPr lang="en-US" sz="1600" dirty="0"/>
          </a:p>
        </p:txBody>
      </p:sp>
      <p:sp>
        <p:nvSpPr>
          <p:cNvPr id="22" name="Text 16"/>
          <p:cNvSpPr txBox="1"/>
          <p:nvPr/>
        </p:nvSpPr>
        <p:spPr>
          <a:xfrm>
            <a:off x="9336024" y="2880360"/>
            <a:ext cx="2194560" cy="2651760"/>
          </a:xfrm>
          <a:prstGeom prst="rect">
            <a:avLst/>
          </a:prstGeom>
          <a:noFill/>
          <a:ln/>
        </p:spPr>
        <p:txBody>
          <a:bodyPr wrap="square" lIns="0" tIns="0" rIns="0" bIns="0" rtlCol="0" anchor="t"/>
          <a:lstStyle/>
          <a:p>
            <a:pPr indent="0" marL="0">
              <a:buNone/>
            </a:pPr>
            <a:r>
              <a:rPr lang="en-US" sz="1200" dirty="0">
                <a:solidFill>
                  <a:srgbClr val="1B2A34"/>
                </a:solidFill>
                <a:latin typeface="Calibri" pitchFamily="34" charset="0"/>
                <a:ea typeface="Calibri" pitchFamily="34" charset="-122"/>
                <a:cs typeface="Calibri" pitchFamily="34" charset="-120"/>
              </a:rPr>
              <a:t>El resultado ya no es un chat: es una calculadora determinista que siempre responde lo mismo al mismo dato.</a:t>
            </a:r>
            <a:endParaRPr lang="en-US" sz="1200" dirty="0"/>
          </a:p>
        </p:txBody>
      </p:sp>
      <p:sp>
        <p:nvSpPr>
          <p:cNvPr id="23" name="Text 17"/>
          <p:cNvSpPr txBox="1"/>
          <p:nvPr/>
        </p:nvSpPr>
        <p:spPr>
          <a:xfrm>
            <a:off x="548640" y="5943600"/>
            <a:ext cx="10972800" cy="411480"/>
          </a:xfrm>
          <a:prstGeom prst="rect">
            <a:avLst/>
          </a:prstGeom>
          <a:noFill/>
          <a:ln/>
        </p:spPr>
        <p:txBody>
          <a:bodyPr wrap="square" lIns="0" tIns="0" rIns="0" bIns="0" rtlCol="0" anchor="ctr"/>
          <a:lstStyle/>
          <a:p>
            <a:pPr indent="0" marL="0">
              <a:buNone/>
            </a:pPr>
            <a:r>
              <a:rPr lang="en-US" sz="1400" i="1" dirty="0">
                <a:solidFill>
                  <a:srgbClr val="0E7C86"/>
                </a:solidFill>
                <a:latin typeface="Calibri" pitchFamily="34" charset="0"/>
                <a:ea typeface="Calibri" pitchFamily="34" charset="-122"/>
                <a:cs typeface="Calibri" pitchFamily="34" charset="-120"/>
              </a:rPr>
              <a:t>Lo hice con chatbots y con agentes. Y aprendí que el peldaño 4 solo existe si has hecho bien el 1 y el 2.</a:t>
            </a:r>
            <a:endParaRPr lang="en-US" sz="1400" dirty="0"/>
          </a:p>
        </p:txBody>
      </p:sp>
      <p:sp>
        <p:nvSpPr>
          <p:cNvPr id="24" name="Text 1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1 · El problema: veinte minutos que nadie tenía</a:t>
            </a:r>
            <a:endParaRPr lang="en-US" sz="2800" dirty="0"/>
          </a:p>
        </p:txBody>
      </p:sp>
      <p:sp>
        <p:nvSpPr>
          <p:cNvPr id="3" name="Shape 1"/>
          <p:cNvSpPr/>
          <p:nvPr/>
        </p:nvSpPr>
        <p:spPr>
          <a:xfrm>
            <a:off x="548640" y="1371600"/>
            <a:ext cx="5669280" cy="4297680"/>
          </a:xfrm>
          <a:prstGeom prst="roundRect">
            <a:avLst>
              <a:gd name="adj" fmla="val 2553"/>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822960" y="1508760"/>
            <a:ext cx="5212080" cy="640080"/>
          </a:xfrm>
          <a:prstGeom prst="rect">
            <a:avLst/>
          </a:prstGeom>
          <a:noFill/>
          <a:ln/>
        </p:spPr>
        <p:txBody>
          <a:bodyPr wrap="square" lIns="0" tIns="0" rIns="0" bIns="0" rtlCol="0" anchor="ctr"/>
          <a:lstStyle/>
          <a:p>
            <a:pPr indent="0" marL="0">
              <a:buNone/>
            </a:pPr>
            <a:r>
              <a:rPr lang="en-US" sz="1700" b="1" dirty="0">
                <a:solidFill>
                  <a:srgbClr val="0F2B3C"/>
                </a:solidFill>
                <a:latin typeface="Cambria" pitchFamily="34" charset="0"/>
                <a:ea typeface="Cambria" pitchFamily="34" charset="-122"/>
                <a:cs typeface="Cambria" pitchFamily="34" charset="-120"/>
              </a:rPr>
              <a:t>Evaluar la condición física en consulta de obesidad</a:t>
            </a:r>
            <a:endParaRPr lang="en-US" sz="1700" dirty="0"/>
          </a:p>
        </p:txBody>
      </p:sp>
      <p:sp>
        <p:nvSpPr>
          <p:cNvPr id="5" name="Shape 3"/>
          <p:cNvSpPr/>
          <p:nvPr/>
        </p:nvSpPr>
        <p:spPr>
          <a:xfrm>
            <a:off x="822960" y="2194560"/>
            <a:ext cx="548640" cy="54864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943661" y="2315261"/>
            <a:ext cx="307238" cy="307238"/>
          </a:xfrm>
          <a:prstGeom prst="rect">
            <a:avLst/>
          </a:prstGeom>
        </p:spPr>
      </p:pic>
      <p:sp>
        <p:nvSpPr>
          <p:cNvPr id="7" name="Text 4"/>
          <p:cNvSpPr txBox="1"/>
          <p:nvPr/>
        </p:nvSpPr>
        <p:spPr>
          <a:xfrm>
            <a:off x="1508760" y="2194560"/>
            <a:ext cx="4480560" cy="594360"/>
          </a:xfrm>
          <a:prstGeom prst="rect">
            <a:avLst/>
          </a:prstGeom>
          <a:noFill/>
          <a:ln/>
        </p:spPr>
        <p:txBody>
          <a:bodyPr wrap="square" lIns="0" tIns="0" rIns="0" bIns="0" rtlCol="0" anchor="ctr"/>
          <a:lstStyle/>
          <a:p>
            <a:pPr indent="0" marL="0">
              <a:buNone/>
            </a:pPr>
            <a:r>
              <a:rPr lang="en-US" sz="1300" b="1" dirty="0">
                <a:solidFill>
                  <a:srgbClr val="1B2A34"/>
                </a:solidFill>
                <a:latin typeface="Calibri" pitchFamily="34" charset="0"/>
                <a:ea typeface="Calibri" pitchFamily="34" charset="-122"/>
                <a:cs typeface="Calibri" pitchFamily="34" charset="-120"/>
              </a:rPr>
              <a:t>Caminata de 6 minutos</a:t>
            </a:r>
            <a:endParaRPr lang="en-US" sz="1300" dirty="0"/>
          </a:p>
          <a:p>
            <a:pPr indent="0" marL="0">
              <a:buNone/>
            </a:pPr>
            <a:r>
              <a:rPr lang="en-US" sz="1300" dirty="0">
                <a:solidFill>
                  <a:srgbClr val="5C6B73"/>
                </a:solidFill>
                <a:latin typeface="Calibri" pitchFamily="34" charset="0"/>
                <a:ea typeface="Calibri" pitchFamily="34" charset="-122"/>
                <a:cs typeface="Calibri" pitchFamily="34" charset="-120"/>
              </a:rPr>
              <a:t>tabla por edad y talla</a:t>
            </a:r>
            <a:endParaRPr lang="en-US" sz="1300" dirty="0"/>
          </a:p>
        </p:txBody>
      </p:sp>
      <p:sp>
        <p:nvSpPr>
          <p:cNvPr id="8" name="Shape 5"/>
          <p:cNvSpPr/>
          <p:nvPr/>
        </p:nvSpPr>
        <p:spPr>
          <a:xfrm>
            <a:off x="822960" y="2971800"/>
            <a:ext cx="548640" cy="548640"/>
          </a:xfrm>
          <a:prstGeom prst="ellipse">
            <a:avLst/>
          </a:prstGeom>
          <a:solidFill>
            <a:srgbClr val="FFFFFF"/>
          </a:solidFill>
          <a:ln w="12700">
            <a:solidFill>
              <a:srgbClr val="FFFFFF"/>
            </a:solidFill>
            <a:prstDash val="solid"/>
          </a:ln>
        </p:spPr>
      </p:sp>
      <p:pic>
        <p:nvPicPr>
          <p:cNvPr id="9" name="Image 1" descr="preencoded.png">    </p:cNvPr>
          <p:cNvPicPr>
            <a:picLocks noChangeAspect="1"/>
          </p:cNvPicPr>
          <p:nvPr/>
        </p:nvPicPr>
        <p:blipFill>
          <a:blip r:embed="rId2"/>
          <a:stretch>
            <a:fillRect/>
          </a:stretch>
        </p:blipFill>
        <p:spPr>
          <a:xfrm>
            <a:off x="943661" y="3092501"/>
            <a:ext cx="307238" cy="307238"/>
          </a:xfrm>
          <a:prstGeom prst="rect">
            <a:avLst/>
          </a:prstGeom>
        </p:spPr>
      </p:pic>
      <p:sp>
        <p:nvSpPr>
          <p:cNvPr id="10" name="Text 6"/>
          <p:cNvSpPr txBox="1"/>
          <p:nvPr/>
        </p:nvSpPr>
        <p:spPr>
          <a:xfrm>
            <a:off x="1508760" y="2971800"/>
            <a:ext cx="4480560" cy="594360"/>
          </a:xfrm>
          <a:prstGeom prst="rect">
            <a:avLst/>
          </a:prstGeom>
          <a:noFill/>
          <a:ln/>
        </p:spPr>
        <p:txBody>
          <a:bodyPr wrap="square" lIns="0" tIns="0" rIns="0" bIns="0" rtlCol="0" anchor="ctr"/>
          <a:lstStyle/>
          <a:p>
            <a:pPr indent="0" marL="0">
              <a:buNone/>
            </a:pPr>
            <a:r>
              <a:rPr lang="en-US" sz="1300" b="1" dirty="0">
                <a:solidFill>
                  <a:srgbClr val="1B2A34"/>
                </a:solidFill>
                <a:latin typeface="Calibri" pitchFamily="34" charset="0"/>
                <a:ea typeface="Calibri" pitchFamily="34" charset="-122"/>
                <a:cs typeface="Calibri" pitchFamily="34" charset="-120"/>
              </a:rPr>
              <a:t>Fuerza de prensión</a:t>
            </a:r>
            <a:endParaRPr lang="en-US" sz="1300" dirty="0"/>
          </a:p>
          <a:p>
            <a:pPr indent="0" marL="0">
              <a:buNone/>
            </a:pPr>
            <a:r>
              <a:rPr lang="en-US" sz="1300" dirty="0">
                <a:solidFill>
                  <a:srgbClr val="5C6B73"/>
                </a:solidFill>
                <a:latin typeface="Calibri" pitchFamily="34" charset="0"/>
                <a:ea typeface="Calibri" pitchFamily="34" charset="-122"/>
                <a:cs typeface="Calibri" pitchFamily="34" charset="-120"/>
              </a:rPr>
              <a:t>tabla por sexo y rango de edad</a:t>
            </a:r>
            <a:endParaRPr lang="en-US" sz="1300" dirty="0"/>
          </a:p>
        </p:txBody>
      </p:sp>
      <p:sp>
        <p:nvSpPr>
          <p:cNvPr id="11" name="Shape 7"/>
          <p:cNvSpPr/>
          <p:nvPr/>
        </p:nvSpPr>
        <p:spPr>
          <a:xfrm>
            <a:off x="822960" y="3749040"/>
            <a:ext cx="548640" cy="548640"/>
          </a:xfrm>
          <a:prstGeom prst="ellipse">
            <a:avLst/>
          </a:prstGeom>
          <a:solidFill>
            <a:srgbClr val="FFFFFF"/>
          </a:solidFill>
          <a:ln w="12700">
            <a:solidFill>
              <a:srgbClr val="FFFFFF"/>
            </a:solidFill>
            <a:prstDash val="solid"/>
          </a:ln>
        </p:spPr>
      </p:sp>
      <p:pic>
        <p:nvPicPr>
          <p:cNvPr id="12" name="Image 2" descr="preencoded.png">    </p:cNvPr>
          <p:cNvPicPr>
            <a:picLocks noChangeAspect="1"/>
          </p:cNvPicPr>
          <p:nvPr/>
        </p:nvPicPr>
        <p:blipFill>
          <a:blip r:embed="rId3"/>
          <a:stretch>
            <a:fillRect/>
          </a:stretch>
        </p:blipFill>
        <p:spPr>
          <a:xfrm>
            <a:off x="943661" y="3869741"/>
            <a:ext cx="307238" cy="307238"/>
          </a:xfrm>
          <a:prstGeom prst="rect">
            <a:avLst/>
          </a:prstGeom>
        </p:spPr>
      </p:pic>
      <p:sp>
        <p:nvSpPr>
          <p:cNvPr id="13" name="Text 8"/>
          <p:cNvSpPr txBox="1"/>
          <p:nvPr/>
        </p:nvSpPr>
        <p:spPr>
          <a:xfrm>
            <a:off x="1508760" y="3749040"/>
            <a:ext cx="4480560" cy="594360"/>
          </a:xfrm>
          <a:prstGeom prst="rect">
            <a:avLst/>
          </a:prstGeom>
          <a:noFill/>
          <a:ln/>
        </p:spPr>
        <p:txBody>
          <a:bodyPr wrap="square" lIns="0" tIns="0" rIns="0" bIns="0" rtlCol="0" anchor="ctr"/>
          <a:lstStyle/>
          <a:p>
            <a:pPr indent="0" marL="0">
              <a:buNone/>
            </a:pPr>
            <a:r>
              <a:rPr lang="en-US" sz="1300" b="1" dirty="0">
                <a:solidFill>
                  <a:srgbClr val="1B2A34"/>
                </a:solidFill>
                <a:latin typeface="Calibri" pitchFamily="34" charset="0"/>
                <a:ea typeface="Calibri" pitchFamily="34" charset="-122"/>
                <a:cs typeface="Calibri" pitchFamily="34" charset="-120"/>
              </a:rPr>
              <a:t>Levantarse de la silla</a:t>
            </a:r>
            <a:endParaRPr lang="en-US" sz="1300" dirty="0"/>
          </a:p>
          <a:p>
            <a:pPr indent="0" marL="0">
              <a:buNone/>
            </a:pPr>
            <a:r>
              <a:rPr lang="en-US" sz="1300" dirty="0">
                <a:solidFill>
                  <a:srgbClr val="5C6B73"/>
                </a:solidFill>
                <a:latin typeface="Calibri" pitchFamily="34" charset="0"/>
                <a:ea typeface="Calibri" pitchFamily="34" charset="-122"/>
                <a:cs typeface="Calibri" pitchFamily="34" charset="-120"/>
              </a:rPr>
              <a:t>tabla por sexo y grupo etario</a:t>
            </a:r>
            <a:endParaRPr lang="en-US" sz="1300" dirty="0"/>
          </a:p>
        </p:txBody>
      </p:sp>
      <p:sp>
        <p:nvSpPr>
          <p:cNvPr id="14" name="Text 9"/>
          <p:cNvSpPr txBox="1"/>
          <p:nvPr/>
        </p:nvSpPr>
        <p:spPr>
          <a:xfrm>
            <a:off x="822960" y="4572000"/>
            <a:ext cx="5212080" cy="1005840"/>
          </a:xfrm>
          <a:prstGeom prst="rect">
            <a:avLst/>
          </a:prstGeom>
          <a:noFill/>
          <a:ln/>
        </p:spPr>
        <p:txBody>
          <a:bodyPr wrap="square" lIns="0" tIns="0" rIns="0" bIns="0" rtlCol="0" anchor="t"/>
          <a:lstStyle/>
          <a:p>
            <a:pPr indent="0" marL="0">
              <a:spcAft>
                <a:spcPts val="600"/>
              </a:spcAft>
              <a:buNone/>
            </a:pPr>
            <a:r>
              <a:rPr lang="en-US" sz="1300" dirty="0">
                <a:solidFill>
                  <a:srgbClr val="1B2A34"/>
                </a:solidFill>
                <a:latin typeface="Calibri" pitchFamily="34" charset="0"/>
                <a:ea typeface="Calibri" pitchFamily="34" charset="-122"/>
                <a:cs typeface="Calibri" pitchFamily="34" charset="-120"/>
              </a:rPr>
              <a:t>Tres pruebas, tres artículos, tres tablas distintas. Buscar la fila, interpolar el percentil a mano, apuntarlo, interpretarlo. Y repetirlo en la siguiente visita.</a:t>
            </a:r>
            <a:endParaRPr lang="en-US" sz="1300" dirty="0"/>
          </a:p>
          <a:p>
            <a:pPr indent="0" marL="0">
              <a:buNone/>
            </a:pPr>
            <a:r>
              <a:rPr lang="en-US" sz="1300" b="1" dirty="0">
                <a:solidFill>
                  <a:srgbClr val="E4572E"/>
                </a:solidFill>
                <a:latin typeface="Calibri" pitchFamily="34" charset="0"/>
                <a:ea typeface="Calibri" pitchFamily="34" charset="-122"/>
                <a:cs typeface="Calibri" pitchFamily="34" charset="-120"/>
              </a:rPr>
              <a:t>Consecuencia real: se hacía poco, o se hacía a ojo.</a:t>
            </a:r>
            <a:endParaRPr lang="en-US" sz="1300" dirty="0"/>
          </a:p>
        </p:txBody>
      </p:sp>
      <p:sp>
        <p:nvSpPr>
          <p:cNvPr id="15" name="Shape 10"/>
          <p:cNvSpPr/>
          <p:nvPr/>
        </p:nvSpPr>
        <p:spPr>
          <a:xfrm>
            <a:off x="6675120" y="1371600"/>
            <a:ext cx="4937760" cy="4297680"/>
          </a:xfrm>
          <a:prstGeom prst="roundRect">
            <a:avLst>
              <a:gd name="adj" fmla="val 2553"/>
            </a:avLst>
          </a:prstGeom>
          <a:solidFill>
            <a:srgbClr val="0F2B3C"/>
          </a:solidFill>
          <a:ln w="12700">
            <a:solidFill>
              <a:srgbClr val="0F2B3C"/>
            </a:solidFill>
            <a:prstDash val="solid"/>
          </a:ln>
        </p:spPr>
      </p:sp>
      <p:pic>
        <p:nvPicPr>
          <p:cNvPr id="16" name="Image 3" descr="preencoded.png">    </p:cNvPr>
          <p:cNvPicPr>
            <a:picLocks noChangeAspect="1"/>
          </p:cNvPicPr>
          <p:nvPr/>
        </p:nvPicPr>
        <p:blipFill>
          <a:blip r:embed="rId4"/>
          <a:stretch>
            <a:fillRect/>
          </a:stretch>
        </p:blipFill>
        <p:spPr>
          <a:xfrm>
            <a:off x="7132320" y="1737360"/>
            <a:ext cx="640080" cy="640080"/>
          </a:xfrm>
          <a:prstGeom prst="rect">
            <a:avLst/>
          </a:prstGeom>
        </p:spPr>
      </p:pic>
      <p:sp>
        <p:nvSpPr>
          <p:cNvPr id="17" name="Text 11"/>
          <p:cNvSpPr txBox="1"/>
          <p:nvPr/>
        </p:nvSpPr>
        <p:spPr>
          <a:xfrm>
            <a:off x="7132320" y="2377440"/>
            <a:ext cx="4114800" cy="1280160"/>
          </a:xfrm>
          <a:prstGeom prst="rect">
            <a:avLst/>
          </a:prstGeom>
          <a:noFill/>
          <a:ln/>
        </p:spPr>
        <p:txBody>
          <a:bodyPr wrap="square" lIns="0" tIns="0" rIns="0" bIns="0"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 20 min</a:t>
            </a:r>
            <a:endParaRPr lang="en-US" sz="6600" dirty="0"/>
          </a:p>
        </p:txBody>
      </p:sp>
      <p:sp>
        <p:nvSpPr>
          <p:cNvPr id="18" name="Text 12"/>
          <p:cNvSpPr txBox="1"/>
          <p:nvPr/>
        </p:nvSpPr>
        <p:spPr>
          <a:xfrm>
            <a:off x="7132320" y="3703320"/>
            <a:ext cx="4023360" cy="1097280"/>
          </a:xfrm>
          <a:prstGeom prst="rect">
            <a:avLst/>
          </a:prstGeom>
          <a:noFill/>
          <a:ln/>
        </p:spPr>
        <p:txBody>
          <a:bodyPr wrap="square" lIns="0" tIns="0" rIns="0" bIns="0" rtlCol="0" anchor="ctr"/>
          <a:lstStyle/>
          <a:p>
            <a:pPr indent="0" marL="0">
              <a:buNone/>
            </a:pPr>
            <a:r>
              <a:rPr lang="en-US" sz="1400" dirty="0">
                <a:solidFill>
                  <a:srgbClr val="CADCE3"/>
                </a:solidFill>
                <a:latin typeface="Calibri" pitchFamily="34" charset="0"/>
                <a:ea typeface="Calibri" pitchFamily="34" charset="-122"/>
                <a:cs typeface="Calibri" pitchFamily="34" charset="-120"/>
              </a:rPr>
              <a:t>por paciente, solo en consultar tablas y calcular percentiles. En una consulta de 10 minutos, sencillamente no cabía.</a:t>
            </a:r>
            <a:endParaRPr lang="en-US" sz="1400" dirty="0"/>
          </a:p>
        </p:txBody>
      </p:sp>
      <p:sp>
        <p:nvSpPr>
          <p:cNvPr id="19" name="Text 13"/>
          <p:cNvSpPr txBox="1"/>
          <p:nvPr/>
        </p:nvSpPr>
        <p:spPr>
          <a:xfrm>
            <a:off x="7132320" y="5074920"/>
            <a:ext cx="4023360" cy="365760"/>
          </a:xfrm>
          <a:prstGeom prst="rect">
            <a:avLst/>
          </a:prstGeom>
          <a:noFill/>
          <a:ln/>
        </p:spPr>
        <p:txBody>
          <a:bodyPr wrap="square" lIns="0" tIns="0" rIns="0" bIns="0" rtlCol="0" anchor="ctr"/>
          <a:lstStyle/>
          <a:p>
            <a:pPr indent="0" marL="0">
              <a:buNone/>
            </a:pPr>
            <a:r>
              <a:rPr lang="en-US" sz="1000" i="1" dirty="0">
                <a:solidFill>
                  <a:srgbClr val="8FA6B2"/>
                </a:solidFill>
                <a:latin typeface="Calibri" pitchFamily="34" charset="0"/>
                <a:ea typeface="Calibri" pitchFamily="34" charset="-122"/>
                <a:cs typeface="Calibri" pitchFamily="34" charset="-120"/>
              </a:rPr>
              <a:t>Estimación propia sobre mi práctica</a:t>
            </a:r>
            <a:endParaRPr lang="en-US" sz="1000" dirty="0"/>
          </a:p>
        </p:txBody>
      </p:sp>
      <p:sp>
        <p:nvSpPr>
          <p:cNvPr id="20"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2 · La herramienta: lo no determinista construye lo determinista</a:t>
            </a:r>
            <a:endParaRPr lang="en-US" sz="2800" dirty="0"/>
          </a:p>
        </p:txBody>
      </p:sp>
      <p:sp>
        <p:nvSpPr>
          <p:cNvPr id="3" name="Shape 1"/>
          <p:cNvSpPr/>
          <p:nvPr/>
        </p:nvSpPr>
        <p:spPr>
          <a:xfrm>
            <a:off x="548640" y="1371600"/>
            <a:ext cx="3584448" cy="3200400"/>
          </a:xfrm>
          <a:prstGeom prst="roundRect">
            <a:avLst>
              <a:gd name="adj" fmla="val 3429"/>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77240" y="1600200"/>
            <a:ext cx="640080" cy="640080"/>
          </a:xfrm>
          <a:prstGeom prst="ellipse">
            <a:avLst/>
          </a:prstGeom>
          <a:solidFill>
            <a:srgbClr val="F2F6F7"/>
          </a:solidFill>
          <a:ln w="12700">
            <a:solidFill>
              <a:srgbClr val="F2F6F7"/>
            </a:solidFill>
            <a:prstDash val="solid"/>
          </a:ln>
        </p:spPr>
      </p:sp>
      <p:pic>
        <p:nvPicPr>
          <p:cNvPr id="5" name="Image 0" descr="preencoded.png">    </p:cNvPr>
          <p:cNvPicPr>
            <a:picLocks noChangeAspect="1"/>
          </p:cNvPicPr>
          <p:nvPr/>
        </p:nvPicPr>
        <p:blipFill>
          <a:blip r:embed="rId1"/>
          <a:stretch>
            <a:fillRect/>
          </a:stretch>
        </p:blipFill>
        <p:spPr>
          <a:xfrm>
            <a:off x="918058" y="1741018"/>
            <a:ext cx="358445" cy="358445"/>
          </a:xfrm>
          <a:prstGeom prst="rect">
            <a:avLst/>
          </a:prstGeom>
        </p:spPr>
      </p:pic>
      <p:sp>
        <p:nvSpPr>
          <p:cNvPr id="6" name="Text 3"/>
          <p:cNvSpPr txBox="1"/>
          <p:nvPr/>
        </p:nvSpPr>
        <p:spPr>
          <a:xfrm>
            <a:off x="1508760" y="1600200"/>
            <a:ext cx="2468880" cy="365760"/>
          </a:xfrm>
          <a:prstGeom prst="rect">
            <a:avLst/>
          </a:prstGeom>
          <a:noFill/>
          <a:ln/>
        </p:spPr>
        <p:txBody>
          <a:bodyPr wrap="square" lIns="0" tIns="0" rIns="0" bIns="0" rtlCol="0" anchor="ctr"/>
          <a:lstStyle/>
          <a:p>
            <a:pPr indent="0" marL="0">
              <a:buNone/>
            </a:pPr>
            <a:r>
              <a:rPr lang="en-US" sz="1700" b="1" dirty="0">
                <a:solidFill>
                  <a:srgbClr val="0F2B3C"/>
                </a:solidFill>
                <a:latin typeface="Cambria" pitchFamily="34" charset="0"/>
                <a:ea typeface="Cambria" pitchFamily="34" charset="-122"/>
                <a:cs typeface="Cambria" pitchFamily="34" charset="-120"/>
              </a:rPr>
              <a:t>Chat frontera</a:t>
            </a:r>
            <a:endParaRPr lang="en-US" sz="1700" dirty="0"/>
          </a:p>
        </p:txBody>
      </p:sp>
      <p:sp>
        <p:nvSpPr>
          <p:cNvPr id="7" name="Text 4"/>
          <p:cNvSpPr txBox="1"/>
          <p:nvPr/>
        </p:nvSpPr>
        <p:spPr>
          <a:xfrm>
            <a:off x="1508760" y="1965960"/>
            <a:ext cx="2468880" cy="32004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Diseño, dudas y primer código</a:t>
            </a:r>
            <a:endParaRPr lang="en-US" sz="1100" dirty="0"/>
          </a:p>
        </p:txBody>
      </p:sp>
      <p:sp>
        <p:nvSpPr>
          <p:cNvPr id="8" name="Text 5"/>
          <p:cNvSpPr txBox="1"/>
          <p:nvPr/>
        </p:nvSpPr>
        <p:spPr>
          <a:xfrm>
            <a:off x="777240" y="2468880"/>
            <a:ext cx="3108960" cy="192024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Prompt estructurado con rol, contexto, tarea, formato y restricciones. Cadena de prompts: estructurar, generar, criticar, corregir.</a:t>
            </a:r>
            <a:endParaRPr lang="en-US" sz="1250" dirty="0"/>
          </a:p>
        </p:txBody>
      </p:sp>
      <p:sp>
        <p:nvSpPr>
          <p:cNvPr id="9" name="Shape 6"/>
          <p:cNvSpPr/>
          <p:nvPr/>
        </p:nvSpPr>
        <p:spPr>
          <a:xfrm>
            <a:off x="4315968" y="1371600"/>
            <a:ext cx="3584448" cy="3200400"/>
          </a:xfrm>
          <a:prstGeom prst="roundRect">
            <a:avLst>
              <a:gd name="adj" fmla="val 3429"/>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0" name="Shape 7"/>
          <p:cNvSpPr/>
          <p:nvPr/>
        </p:nvSpPr>
        <p:spPr>
          <a:xfrm>
            <a:off x="4544568" y="1600200"/>
            <a:ext cx="640080" cy="640080"/>
          </a:xfrm>
          <a:prstGeom prst="ellipse">
            <a:avLst/>
          </a:prstGeom>
          <a:solidFill>
            <a:srgbClr val="F2F6F7"/>
          </a:solidFill>
          <a:ln w="12700">
            <a:solidFill>
              <a:srgbClr val="F2F6F7"/>
            </a:solidFill>
            <a:prstDash val="solid"/>
          </a:ln>
        </p:spPr>
      </p:sp>
      <p:pic>
        <p:nvPicPr>
          <p:cNvPr id="11" name="Image 1" descr="preencoded.png">    </p:cNvPr>
          <p:cNvPicPr>
            <a:picLocks noChangeAspect="1"/>
          </p:cNvPicPr>
          <p:nvPr/>
        </p:nvPicPr>
        <p:blipFill>
          <a:blip r:embed="rId2"/>
          <a:stretch>
            <a:fillRect/>
          </a:stretch>
        </p:blipFill>
        <p:spPr>
          <a:xfrm>
            <a:off x="4685386" y="1741018"/>
            <a:ext cx="358445" cy="358445"/>
          </a:xfrm>
          <a:prstGeom prst="rect">
            <a:avLst/>
          </a:prstGeom>
        </p:spPr>
      </p:pic>
      <p:sp>
        <p:nvSpPr>
          <p:cNvPr id="12" name="Text 8"/>
          <p:cNvSpPr txBox="1"/>
          <p:nvPr/>
        </p:nvSpPr>
        <p:spPr>
          <a:xfrm>
            <a:off x="5276088" y="1600200"/>
            <a:ext cx="2468880" cy="365760"/>
          </a:xfrm>
          <a:prstGeom prst="rect">
            <a:avLst/>
          </a:prstGeom>
          <a:noFill/>
          <a:ln/>
        </p:spPr>
        <p:txBody>
          <a:bodyPr wrap="square" lIns="0" tIns="0" rIns="0" bIns="0" rtlCol="0" anchor="ctr"/>
          <a:lstStyle/>
          <a:p>
            <a:pPr indent="0" marL="0">
              <a:buNone/>
            </a:pPr>
            <a:r>
              <a:rPr lang="en-US" sz="1700" b="1" dirty="0">
                <a:solidFill>
                  <a:srgbClr val="0F2B3C"/>
                </a:solidFill>
                <a:latin typeface="Cambria" pitchFamily="34" charset="0"/>
                <a:ea typeface="Cambria" pitchFamily="34" charset="-122"/>
                <a:cs typeface="Cambria" pitchFamily="34" charset="-120"/>
              </a:rPr>
              <a:t>Agente de código</a:t>
            </a:r>
            <a:endParaRPr lang="en-US" sz="1700" dirty="0"/>
          </a:p>
        </p:txBody>
      </p:sp>
      <p:sp>
        <p:nvSpPr>
          <p:cNvPr id="13" name="Text 9"/>
          <p:cNvSpPr txBox="1"/>
          <p:nvPr/>
        </p:nvSpPr>
        <p:spPr>
          <a:xfrm>
            <a:off x="5276088" y="1965960"/>
            <a:ext cx="2468880" cy="32004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Iterar hasta que funcione</a:t>
            </a:r>
            <a:endParaRPr lang="en-US" sz="1100" dirty="0"/>
          </a:p>
        </p:txBody>
      </p:sp>
      <p:sp>
        <p:nvSpPr>
          <p:cNvPr id="14" name="Text 10"/>
          <p:cNvSpPr txBox="1"/>
          <p:nvPr/>
        </p:nvSpPr>
        <p:spPr>
          <a:xfrm>
            <a:off x="4544568" y="2468880"/>
            <a:ext cx="3108960" cy="192024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Lee las tablas, escribe la app, la ejecuta, ve el error y lo corrige. Yo apruebo cada cambio y pruebo con casos sintéticos.</a:t>
            </a:r>
            <a:endParaRPr lang="en-US" sz="1250" dirty="0"/>
          </a:p>
        </p:txBody>
      </p:sp>
      <p:sp>
        <p:nvSpPr>
          <p:cNvPr id="15" name="Shape 11"/>
          <p:cNvSpPr/>
          <p:nvPr/>
        </p:nvSpPr>
        <p:spPr>
          <a:xfrm>
            <a:off x="8083296" y="1371600"/>
            <a:ext cx="3584448" cy="3200400"/>
          </a:xfrm>
          <a:prstGeom prst="roundRect">
            <a:avLst>
              <a:gd name="adj" fmla="val 3429"/>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6" name="Shape 12"/>
          <p:cNvSpPr/>
          <p:nvPr/>
        </p:nvSpPr>
        <p:spPr>
          <a:xfrm>
            <a:off x="8311896" y="1600200"/>
            <a:ext cx="640080" cy="640080"/>
          </a:xfrm>
          <a:prstGeom prst="ellipse">
            <a:avLst/>
          </a:prstGeom>
          <a:solidFill>
            <a:srgbClr val="F2F6F7"/>
          </a:solidFill>
          <a:ln w="12700">
            <a:solidFill>
              <a:srgbClr val="F2F6F7"/>
            </a:solidFill>
            <a:prstDash val="solid"/>
          </a:ln>
        </p:spPr>
      </p:sp>
      <p:pic>
        <p:nvPicPr>
          <p:cNvPr id="17" name="Image 2" descr="preencoded.png">    </p:cNvPr>
          <p:cNvPicPr>
            <a:picLocks noChangeAspect="1"/>
          </p:cNvPicPr>
          <p:nvPr/>
        </p:nvPicPr>
        <p:blipFill>
          <a:blip r:embed="rId3"/>
          <a:stretch>
            <a:fillRect/>
          </a:stretch>
        </p:blipFill>
        <p:spPr>
          <a:xfrm>
            <a:off x="8452714" y="1741018"/>
            <a:ext cx="358445" cy="358445"/>
          </a:xfrm>
          <a:prstGeom prst="rect">
            <a:avLst/>
          </a:prstGeom>
        </p:spPr>
      </p:pic>
      <p:sp>
        <p:nvSpPr>
          <p:cNvPr id="18" name="Text 13"/>
          <p:cNvSpPr txBox="1"/>
          <p:nvPr/>
        </p:nvSpPr>
        <p:spPr>
          <a:xfrm>
            <a:off x="9043416" y="1600200"/>
            <a:ext cx="2468880" cy="365760"/>
          </a:xfrm>
          <a:prstGeom prst="rect">
            <a:avLst/>
          </a:prstGeom>
          <a:noFill/>
          <a:ln/>
        </p:spPr>
        <p:txBody>
          <a:bodyPr wrap="square" lIns="0" tIns="0" rIns="0" bIns="0" rtlCol="0" anchor="ctr"/>
          <a:lstStyle/>
          <a:p>
            <a:pPr indent="0" marL="0">
              <a:buNone/>
            </a:pPr>
            <a:r>
              <a:rPr lang="en-US" sz="1700" b="1" dirty="0">
                <a:solidFill>
                  <a:srgbClr val="0F2B3C"/>
                </a:solidFill>
                <a:latin typeface="Cambria" pitchFamily="34" charset="0"/>
                <a:ea typeface="Cambria" pitchFamily="34" charset="-122"/>
                <a:cs typeface="Cambria" pitchFamily="34" charset="-120"/>
              </a:rPr>
              <a:t>Streamlit + GitHub</a:t>
            </a:r>
            <a:endParaRPr lang="en-US" sz="1700" dirty="0"/>
          </a:p>
        </p:txBody>
      </p:sp>
      <p:sp>
        <p:nvSpPr>
          <p:cNvPr id="19" name="Text 14"/>
          <p:cNvSpPr txBox="1"/>
          <p:nvPr/>
        </p:nvSpPr>
        <p:spPr>
          <a:xfrm>
            <a:off x="9043416" y="1965960"/>
            <a:ext cx="2468880" cy="320040"/>
          </a:xfrm>
          <a:prstGeom prst="rect">
            <a:avLst/>
          </a:prstGeom>
          <a:noFill/>
          <a:ln/>
        </p:spPr>
        <p:txBody>
          <a:bodyPr wrap="square" lIns="0" tIns="0" rIns="0" bIns="0" rtlCol="0" anchor="ctr"/>
          <a:lstStyle/>
          <a:p>
            <a:pPr indent="0" marL="0">
              <a:buNone/>
            </a:pPr>
            <a:r>
              <a:rPr lang="en-US" sz="1100" i="1" dirty="0">
                <a:solidFill>
                  <a:srgbClr val="5C6B73"/>
                </a:solidFill>
                <a:latin typeface="Calibri" pitchFamily="34" charset="0"/>
                <a:ea typeface="Calibri" pitchFamily="34" charset="-122"/>
                <a:cs typeface="Calibri" pitchFamily="34" charset="-120"/>
              </a:rPr>
              <a:t>Publicar sin ser programadora</a:t>
            </a:r>
            <a:endParaRPr lang="en-US" sz="1100" dirty="0"/>
          </a:p>
        </p:txBody>
      </p:sp>
      <p:sp>
        <p:nvSpPr>
          <p:cNvPr id="20" name="Text 15"/>
          <p:cNvSpPr txBox="1"/>
          <p:nvPr/>
        </p:nvSpPr>
        <p:spPr>
          <a:xfrm>
            <a:off x="8311896" y="2468880"/>
            <a:ext cx="3108960" cy="192024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Código en Python abierto. La app se despliega sola desde el repositorio. Cualquier colega puede usarla desde el navegador.</a:t>
            </a:r>
            <a:endParaRPr lang="en-US" sz="1250" dirty="0"/>
          </a:p>
        </p:txBody>
      </p:sp>
      <p:sp>
        <p:nvSpPr>
          <p:cNvPr id="21" name="Shape 16"/>
          <p:cNvSpPr/>
          <p:nvPr/>
        </p:nvSpPr>
        <p:spPr>
          <a:xfrm>
            <a:off x="548640" y="4800600"/>
            <a:ext cx="11091672" cy="1097280"/>
          </a:xfrm>
          <a:prstGeom prst="roundRect">
            <a:avLst>
              <a:gd name="adj" fmla="val 10000"/>
            </a:avLst>
          </a:prstGeom>
          <a:solidFill>
            <a:srgbClr val="E3F4F6"/>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22" name="Image 3" descr="preencoded.png">    </p:cNvPr>
          <p:cNvPicPr>
            <a:picLocks noChangeAspect="1"/>
          </p:cNvPicPr>
          <p:nvPr/>
        </p:nvPicPr>
        <p:blipFill>
          <a:blip r:embed="rId4"/>
          <a:stretch>
            <a:fillRect/>
          </a:stretch>
        </p:blipFill>
        <p:spPr>
          <a:xfrm>
            <a:off x="822960" y="5029200"/>
            <a:ext cx="411480" cy="411480"/>
          </a:xfrm>
          <a:prstGeom prst="rect">
            <a:avLst/>
          </a:prstGeom>
        </p:spPr>
      </p:pic>
      <p:sp>
        <p:nvSpPr>
          <p:cNvPr id="23" name="Text 17"/>
          <p:cNvSpPr txBox="1"/>
          <p:nvPr/>
        </p:nvSpPr>
        <p:spPr>
          <a:xfrm>
            <a:off x="1371600" y="4892040"/>
            <a:ext cx="10058400" cy="914400"/>
          </a:xfrm>
          <a:prstGeom prst="rect">
            <a:avLst/>
          </a:prstGeom>
          <a:noFill/>
          <a:ln/>
        </p:spPr>
        <p:txBody>
          <a:bodyPr wrap="square" lIns="0" tIns="0" rIns="0" bIns="0" rtlCol="0" anchor="ctr"/>
          <a:lstStyle/>
          <a:p>
            <a:pPr indent="0" marL="0">
              <a:buNone/>
            </a:pPr>
            <a:r>
              <a:rPr lang="en-US" sz="1350" i="1" dirty="0">
                <a:solidFill>
                  <a:srgbClr val="0F2B3C"/>
                </a:solidFill>
                <a:latin typeface="Calibri" pitchFamily="34" charset="0"/>
                <a:ea typeface="Calibri" pitchFamily="34" charset="-122"/>
                <a:cs typeface="Calibri" pitchFamily="34" charset="-120"/>
              </a:rPr>
              <a:t>La determinación no vive dentro del modelo. Vive en el proceso que le obligas a seguir. El modelo escribe el código; la calculadora, una vez escrita, no opina: al mismo dato responde siempre lo mismo.</a:t>
            </a:r>
            <a:endParaRPr lang="en-US" sz="1350" dirty="0"/>
          </a:p>
        </p:txBody>
      </p:sp>
      <p:sp>
        <p:nvSpPr>
          <p:cNvPr id="24" name="Text 1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3 · Los datos: tres fuentes verificadas, cero pacientes</a:t>
            </a:r>
            <a:endParaRPr lang="en-US" sz="2800" dirty="0"/>
          </a:p>
        </p:txBody>
      </p:sp>
      <p:sp>
        <p:nvSpPr>
          <p:cNvPr id="3" name="Shape 1"/>
          <p:cNvSpPr/>
          <p:nvPr/>
        </p:nvSpPr>
        <p:spPr>
          <a:xfrm>
            <a:off x="548640" y="1371600"/>
            <a:ext cx="7680960" cy="1188720"/>
          </a:xfrm>
          <a:prstGeom prst="roundRect">
            <a:avLst>
              <a:gd name="adj" fmla="val 923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77240" y="1645920"/>
            <a:ext cx="640080" cy="640080"/>
          </a:xfrm>
          <a:prstGeom prst="ellipse">
            <a:avLst/>
          </a:prstGeom>
          <a:solidFill>
            <a:srgbClr val="F2F6F7"/>
          </a:solidFill>
          <a:ln w="12700">
            <a:solidFill>
              <a:srgbClr val="F2F6F7"/>
            </a:solidFill>
            <a:prstDash val="solid"/>
          </a:ln>
        </p:spPr>
      </p:sp>
      <p:pic>
        <p:nvPicPr>
          <p:cNvPr id="5" name="Image 0" descr="preencoded.png">    </p:cNvPr>
          <p:cNvPicPr>
            <a:picLocks noChangeAspect="1"/>
          </p:cNvPicPr>
          <p:nvPr/>
        </p:nvPicPr>
        <p:blipFill>
          <a:blip r:embed="rId1"/>
          <a:stretch>
            <a:fillRect/>
          </a:stretch>
        </p:blipFill>
        <p:spPr>
          <a:xfrm>
            <a:off x="918058" y="1786738"/>
            <a:ext cx="358445" cy="358445"/>
          </a:xfrm>
          <a:prstGeom prst="rect">
            <a:avLst/>
          </a:prstGeom>
        </p:spPr>
      </p:pic>
      <p:sp>
        <p:nvSpPr>
          <p:cNvPr id="6" name="Text 3"/>
          <p:cNvSpPr txBox="1"/>
          <p:nvPr/>
        </p:nvSpPr>
        <p:spPr>
          <a:xfrm>
            <a:off x="1600200" y="1481328"/>
            <a:ext cx="6400800" cy="32004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Caminata 6 min</a:t>
            </a:r>
            <a:endParaRPr lang="en-US" sz="1500" dirty="0"/>
          </a:p>
        </p:txBody>
      </p:sp>
      <p:sp>
        <p:nvSpPr>
          <p:cNvPr id="7" name="Text 4"/>
          <p:cNvSpPr txBox="1"/>
          <p:nvPr/>
        </p:nvSpPr>
        <p:spPr>
          <a:xfrm>
            <a:off x="1600200" y="1801368"/>
            <a:ext cx="6446520" cy="502920"/>
          </a:xfrm>
          <a:prstGeom prst="rect">
            <a:avLst/>
          </a:prstGeom>
          <a:noFill/>
          <a:ln/>
        </p:spPr>
        <p:txBody>
          <a:bodyPr wrap="square" lIns="0" tIns="0" rIns="0" bIns="0" rtlCol="0" anchor="t"/>
          <a:lstStyle/>
          <a:p>
            <a:pPr indent="0" marL="0">
              <a:buNone/>
            </a:pPr>
            <a:r>
              <a:rPr lang="en-US" sz="1100" dirty="0">
                <a:solidFill>
                  <a:srgbClr val="1B2A34"/>
                </a:solidFill>
                <a:latin typeface="Calibri" pitchFamily="34" charset="0"/>
                <a:ea typeface="Calibri" pitchFamily="34" charset="-122"/>
                <a:cs typeface="Calibri" pitchFamily="34" charset="-120"/>
              </a:rPr>
              <a:t>Cohorte STAAB, Würzburg. 2.762 adultos de 30 a 79 años. Percentiles por edad y talla, subgrupo sin factores de riesgo cardiovascular, pasillo de 15 m.</a:t>
            </a:r>
            <a:endParaRPr lang="en-US" sz="1100" dirty="0"/>
          </a:p>
        </p:txBody>
      </p:sp>
      <p:sp>
        <p:nvSpPr>
          <p:cNvPr id="8" name="Text 5"/>
          <p:cNvSpPr txBox="1"/>
          <p:nvPr/>
        </p:nvSpPr>
        <p:spPr>
          <a:xfrm>
            <a:off x="1600200" y="2267712"/>
            <a:ext cx="6446520" cy="256032"/>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Morbach et al., Clin Res Cardiol 2024 · doi 10.1007/s00392-023-02373-3</a:t>
            </a:r>
            <a:endParaRPr lang="en-US" sz="900" dirty="0"/>
          </a:p>
        </p:txBody>
      </p:sp>
      <p:sp>
        <p:nvSpPr>
          <p:cNvPr id="9" name="Shape 6"/>
          <p:cNvSpPr/>
          <p:nvPr/>
        </p:nvSpPr>
        <p:spPr>
          <a:xfrm>
            <a:off x="548640" y="2697480"/>
            <a:ext cx="7680960" cy="1188720"/>
          </a:xfrm>
          <a:prstGeom prst="roundRect">
            <a:avLst>
              <a:gd name="adj" fmla="val 923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0" name="Shape 7"/>
          <p:cNvSpPr/>
          <p:nvPr/>
        </p:nvSpPr>
        <p:spPr>
          <a:xfrm>
            <a:off x="777240" y="2971800"/>
            <a:ext cx="640080" cy="640080"/>
          </a:xfrm>
          <a:prstGeom prst="ellipse">
            <a:avLst/>
          </a:prstGeom>
          <a:solidFill>
            <a:srgbClr val="F2F6F7"/>
          </a:solidFill>
          <a:ln w="12700">
            <a:solidFill>
              <a:srgbClr val="F2F6F7"/>
            </a:solidFill>
            <a:prstDash val="solid"/>
          </a:ln>
        </p:spPr>
      </p:sp>
      <p:pic>
        <p:nvPicPr>
          <p:cNvPr id="11" name="Image 1" descr="preencoded.png">    </p:cNvPr>
          <p:cNvPicPr>
            <a:picLocks noChangeAspect="1"/>
          </p:cNvPicPr>
          <p:nvPr/>
        </p:nvPicPr>
        <p:blipFill>
          <a:blip r:embed="rId2"/>
          <a:stretch>
            <a:fillRect/>
          </a:stretch>
        </p:blipFill>
        <p:spPr>
          <a:xfrm>
            <a:off x="918058" y="3112618"/>
            <a:ext cx="358445" cy="358445"/>
          </a:xfrm>
          <a:prstGeom prst="rect">
            <a:avLst/>
          </a:prstGeom>
        </p:spPr>
      </p:pic>
      <p:sp>
        <p:nvSpPr>
          <p:cNvPr id="12" name="Text 8"/>
          <p:cNvSpPr txBox="1"/>
          <p:nvPr/>
        </p:nvSpPr>
        <p:spPr>
          <a:xfrm>
            <a:off x="1600200" y="2807208"/>
            <a:ext cx="6400800" cy="32004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Fuerza de prensión</a:t>
            </a:r>
            <a:endParaRPr lang="en-US" sz="1500" dirty="0"/>
          </a:p>
        </p:txBody>
      </p:sp>
      <p:sp>
        <p:nvSpPr>
          <p:cNvPr id="13" name="Text 9"/>
          <p:cNvSpPr txBox="1"/>
          <p:nvPr/>
        </p:nvSpPr>
        <p:spPr>
          <a:xfrm>
            <a:off x="1600200" y="3127248"/>
            <a:ext cx="6446520" cy="502920"/>
          </a:xfrm>
          <a:prstGeom prst="rect">
            <a:avLst/>
          </a:prstGeom>
          <a:noFill/>
          <a:ln/>
        </p:spPr>
        <p:txBody>
          <a:bodyPr wrap="square" lIns="0" tIns="0" rIns="0" bIns="0" rtlCol="0" anchor="t"/>
          <a:lstStyle/>
          <a:p>
            <a:pPr indent="0" marL="0">
              <a:buNone/>
            </a:pPr>
            <a:r>
              <a:rPr lang="en-US" sz="1100" dirty="0">
                <a:solidFill>
                  <a:srgbClr val="1B2A34"/>
                </a:solidFill>
                <a:latin typeface="Calibri" pitchFamily="34" charset="0"/>
                <a:ea typeface="Calibri" pitchFamily="34" charset="-122"/>
                <a:cs typeface="Calibri" pitchFamily="34" charset="-120"/>
              </a:rPr>
              <a:t>Normas internacionales: 100 estudios, 2,4 millones de adultos, 69 países. Percentiles 5 a 95 por sexo y edad, de 20 a más de 100 años.</a:t>
            </a:r>
            <a:endParaRPr lang="en-US" sz="1100" dirty="0"/>
          </a:p>
        </p:txBody>
      </p:sp>
      <p:sp>
        <p:nvSpPr>
          <p:cNvPr id="14" name="Text 10"/>
          <p:cNvSpPr txBox="1"/>
          <p:nvPr/>
        </p:nvSpPr>
        <p:spPr>
          <a:xfrm>
            <a:off x="1600200" y="3593592"/>
            <a:ext cx="6446520" cy="256032"/>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Tomkinson et al., J Sport Health Sci 2024 · doi 10.1016/j.jshs.2024.101014</a:t>
            </a:r>
            <a:endParaRPr lang="en-US" sz="900" dirty="0"/>
          </a:p>
        </p:txBody>
      </p:sp>
      <p:sp>
        <p:nvSpPr>
          <p:cNvPr id="15" name="Shape 11"/>
          <p:cNvSpPr/>
          <p:nvPr/>
        </p:nvSpPr>
        <p:spPr>
          <a:xfrm>
            <a:off x="548640" y="4023360"/>
            <a:ext cx="7680960" cy="1188720"/>
          </a:xfrm>
          <a:prstGeom prst="roundRect">
            <a:avLst>
              <a:gd name="adj" fmla="val 923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6" name="Shape 12"/>
          <p:cNvSpPr/>
          <p:nvPr/>
        </p:nvSpPr>
        <p:spPr>
          <a:xfrm>
            <a:off x="777240" y="4297680"/>
            <a:ext cx="640080" cy="640080"/>
          </a:xfrm>
          <a:prstGeom prst="ellipse">
            <a:avLst/>
          </a:prstGeom>
          <a:solidFill>
            <a:srgbClr val="F2F6F7"/>
          </a:solidFill>
          <a:ln w="12700">
            <a:solidFill>
              <a:srgbClr val="F2F6F7"/>
            </a:solidFill>
            <a:prstDash val="solid"/>
          </a:ln>
        </p:spPr>
      </p:sp>
      <p:pic>
        <p:nvPicPr>
          <p:cNvPr id="17" name="Image 2" descr="preencoded.png">    </p:cNvPr>
          <p:cNvPicPr>
            <a:picLocks noChangeAspect="1"/>
          </p:cNvPicPr>
          <p:nvPr/>
        </p:nvPicPr>
        <p:blipFill>
          <a:blip r:embed="rId3"/>
          <a:stretch>
            <a:fillRect/>
          </a:stretch>
        </p:blipFill>
        <p:spPr>
          <a:xfrm>
            <a:off x="918058" y="4438498"/>
            <a:ext cx="358445" cy="358445"/>
          </a:xfrm>
          <a:prstGeom prst="rect">
            <a:avLst/>
          </a:prstGeom>
        </p:spPr>
      </p:pic>
      <p:sp>
        <p:nvSpPr>
          <p:cNvPr id="18" name="Text 13"/>
          <p:cNvSpPr txBox="1"/>
          <p:nvPr/>
        </p:nvSpPr>
        <p:spPr>
          <a:xfrm>
            <a:off x="1600200" y="4133088"/>
            <a:ext cx="6400800" cy="32004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Levantarse de la silla</a:t>
            </a:r>
            <a:endParaRPr lang="en-US" sz="1500" dirty="0"/>
          </a:p>
        </p:txBody>
      </p:sp>
      <p:sp>
        <p:nvSpPr>
          <p:cNvPr id="19" name="Text 14"/>
          <p:cNvSpPr txBox="1"/>
          <p:nvPr/>
        </p:nvSpPr>
        <p:spPr>
          <a:xfrm>
            <a:off x="1600200" y="4453128"/>
            <a:ext cx="6446520" cy="502920"/>
          </a:xfrm>
          <a:prstGeom prst="rect">
            <a:avLst/>
          </a:prstGeom>
          <a:noFill/>
          <a:ln/>
        </p:spPr>
        <p:txBody>
          <a:bodyPr wrap="square" lIns="0" tIns="0" rIns="0" bIns="0" rtlCol="0" anchor="t"/>
          <a:lstStyle/>
          <a:p>
            <a:pPr indent="0" marL="0">
              <a:buNone/>
            </a:pPr>
            <a:r>
              <a:rPr lang="en-US" sz="1100" dirty="0">
                <a:solidFill>
                  <a:srgbClr val="1B2A34"/>
                </a:solidFill>
                <a:latin typeface="Calibri" pitchFamily="34" charset="0"/>
                <a:ea typeface="Calibri" pitchFamily="34" charset="-122"/>
                <a:cs typeface="Calibri" pitchFamily="34" charset="-120"/>
              </a:rPr>
              <a:t>Estudio EXERNET: 3.136 mayores de 65 años no institucionalizados de seis regiones de España. Valores normativos por sexo y grupo de edad.</a:t>
            </a:r>
            <a:endParaRPr lang="en-US" sz="1100" dirty="0"/>
          </a:p>
        </p:txBody>
      </p:sp>
      <p:sp>
        <p:nvSpPr>
          <p:cNvPr id="20" name="Text 15"/>
          <p:cNvSpPr txBox="1"/>
          <p:nvPr/>
        </p:nvSpPr>
        <p:spPr>
          <a:xfrm>
            <a:off x="1600200" y="4919472"/>
            <a:ext cx="6446520" cy="256032"/>
          </a:xfrm>
          <a:prstGeom prst="rect">
            <a:avLst/>
          </a:prstGeom>
          <a:noFill/>
          <a:ln/>
        </p:spPr>
        <p:txBody>
          <a:bodyPr wrap="square" lIns="0" tIns="0" rIns="0" bIns="0" rtlCol="0" anchor="ctr"/>
          <a:lstStyle/>
          <a:p>
            <a:pPr indent="0" marL="0">
              <a:buNone/>
            </a:pPr>
            <a:r>
              <a:rPr lang="en-US" sz="900" dirty="0">
                <a:solidFill>
                  <a:srgbClr val="5C6B73"/>
                </a:solidFill>
                <a:latin typeface="Calibri" pitchFamily="34" charset="0"/>
                <a:ea typeface="Calibri" pitchFamily="34" charset="-122"/>
                <a:cs typeface="Calibri" pitchFamily="34" charset="-120"/>
              </a:rPr>
              <a:t>Pedrero-Chamizo et al., Arch Gerontol Geriatr 2012 · doi 10.1016/j.archger.2012.02.004</a:t>
            </a:r>
            <a:endParaRPr lang="en-US" sz="900" dirty="0"/>
          </a:p>
        </p:txBody>
      </p:sp>
      <p:sp>
        <p:nvSpPr>
          <p:cNvPr id="21" name="Shape 16"/>
          <p:cNvSpPr/>
          <p:nvPr/>
        </p:nvSpPr>
        <p:spPr>
          <a:xfrm>
            <a:off x="8503920" y="1371600"/>
            <a:ext cx="3136392" cy="3840480"/>
          </a:xfrm>
          <a:prstGeom prst="roundRect">
            <a:avLst>
              <a:gd name="adj" fmla="val 3499"/>
            </a:avLst>
          </a:prstGeom>
          <a:solidFill>
            <a:srgbClr val="0F2B3C"/>
          </a:solidFill>
          <a:ln w="12700">
            <a:solidFill>
              <a:srgbClr val="0F2B3C"/>
            </a:solidFill>
            <a:prstDash val="solid"/>
          </a:ln>
        </p:spPr>
      </p:sp>
      <p:pic>
        <p:nvPicPr>
          <p:cNvPr id="22" name="Image 3" descr="preencoded.png">    </p:cNvPr>
          <p:cNvPicPr>
            <a:picLocks noChangeAspect="1"/>
          </p:cNvPicPr>
          <p:nvPr/>
        </p:nvPicPr>
        <p:blipFill>
          <a:blip r:embed="rId4"/>
          <a:stretch>
            <a:fillRect/>
          </a:stretch>
        </p:blipFill>
        <p:spPr>
          <a:xfrm>
            <a:off x="8823960" y="1691640"/>
            <a:ext cx="502920" cy="502920"/>
          </a:xfrm>
          <a:prstGeom prst="rect">
            <a:avLst/>
          </a:prstGeom>
        </p:spPr>
      </p:pic>
      <p:sp>
        <p:nvSpPr>
          <p:cNvPr id="23" name="Text 17"/>
          <p:cNvSpPr txBox="1"/>
          <p:nvPr/>
        </p:nvSpPr>
        <p:spPr>
          <a:xfrm>
            <a:off x="8823960" y="2286000"/>
            <a:ext cx="2560320" cy="41148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RGPD por diseño</a:t>
            </a:r>
            <a:endParaRPr lang="en-US" sz="1700" dirty="0"/>
          </a:p>
        </p:txBody>
      </p:sp>
      <p:sp>
        <p:nvSpPr>
          <p:cNvPr id="24" name="Text 18"/>
          <p:cNvSpPr txBox="1"/>
          <p:nvPr/>
        </p:nvSpPr>
        <p:spPr>
          <a:xfrm>
            <a:off x="8823960" y="2743200"/>
            <a:ext cx="2606040" cy="2377440"/>
          </a:xfrm>
          <a:prstGeom prst="rect">
            <a:avLst/>
          </a:prstGeom>
          <a:noFill/>
          <a:ln/>
        </p:spPr>
        <p:txBody>
          <a:bodyPr wrap="square" lIns="0" tIns="0" rIns="0" bIns="0" rtlCol="0" anchor="t"/>
          <a:lstStyle/>
          <a:p>
            <a:pPr indent="0" marL="0">
              <a:spcAft>
                <a:spcPts val="600"/>
              </a:spcAft>
              <a:buNone/>
            </a:pPr>
            <a:r>
              <a:rPr lang="en-US" sz="1150" dirty="0">
                <a:solidFill>
                  <a:srgbClr val="CADCE3"/>
                </a:solidFill>
                <a:latin typeface="Calibri" pitchFamily="34" charset="0"/>
                <a:ea typeface="Calibri" pitchFamily="34" charset="-122"/>
                <a:cs typeface="Calibri" pitchFamily="34" charset="-120"/>
              </a:rPr>
              <a:t>La app no guarda nada. No pide nombre, ni fecha de nacimiento, ni historia.</a:t>
            </a:r>
            <a:endParaRPr lang="en-US" sz="1150" dirty="0"/>
          </a:p>
          <a:p>
            <a:pPr indent="0" marL="0">
              <a:spcAft>
                <a:spcPts val="600"/>
              </a:spcAft>
              <a:buNone/>
            </a:pPr>
            <a:r>
              <a:rPr lang="en-US" sz="1150" dirty="0">
                <a:solidFill>
                  <a:srgbClr val="CADCE3"/>
                </a:solidFill>
                <a:latin typeface="Calibri" pitchFamily="34" charset="0"/>
                <a:ea typeface="Calibri" pitchFamily="34" charset="-122"/>
                <a:cs typeface="Calibri" pitchFamily="34" charset="-120"/>
              </a:rPr>
              <a:t>Solo tres números: sexo o talla, edad y el valor medido. Salen del despacho y no vuelven a ningún servidor.</a:t>
            </a:r>
            <a:endParaRPr lang="en-US" sz="1150" dirty="0"/>
          </a:p>
          <a:p>
            <a:pPr indent="0" marL="0">
              <a:buNone/>
            </a:pPr>
            <a:r>
              <a:rPr lang="en-US" sz="1150" dirty="0">
                <a:solidFill>
                  <a:srgbClr val="CADCE3"/>
                </a:solidFill>
                <a:latin typeface="Calibri" pitchFamily="34" charset="0"/>
                <a:ea typeface="Calibri" pitchFamily="34" charset="-122"/>
                <a:cs typeface="Calibri" pitchFamily="34" charset="-120"/>
              </a:rPr>
              <a:t>Las tablas son datos publicados, abiertos y citables.</a:t>
            </a:r>
            <a:endParaRPr lang="en-US" sz="1150" dirty="0"/>
          </a:p>
        </p:txBody>
      </p:sp>
      <p:sp>
        <p:nvSpPr>
          <p:cNvPr id="25" name="Text 19"/>
          <p:cNvSpPr txBox="1"/>
          <p:nvPr/>
        </p:nvSpPr>
        <p:spPr>
          <a:xfrm>
            <a:off x="548640" y="5440680"/>
            <a:ext cx="7315200" cy="274320"/>
          </a:xfrm>
          <a:prstGeom prst="rect">
            <a:avLst/>
          </a:prstGeom>
          <a:noFill/>
          <a:ln/>
        </p:spPr>
        <p:txBody>
          <a:bodyPr wrap="square" lIns="0" tIns="0" rIns="0" bIns="0" rtlCol="0" anchor="ctr"/>
          <a:lstStyle/>
          <a:p>
            <a:pPr indent="0" marL="0">
              <a:buNone/>
            </a:pPr>
            <a:r>
              <a:rPr lang="en-US" sz="1000" i="1" dirty="0">
                <a:solidFill>
                  <a:srgbClr val="5C6B73"/>
                </a:solidFill>
                <a:latin typeface="Calibri" pitchFamily="34" charset="0"/>
                <a:ea typeface="Calibri" pitchFamily="34" charset="-122"/>
                <a:cs typeface="Calibri" pitchFamily="34" charset="-120"/>
              </a:rPr>
              <a:t>Fuentes verificadas en PubMed el 11-09-2026.</a:t>
            </a:r>
            <a:endParaRPr lang="en-US" sz="1000" dirty="0"/>
          </a:p>
        </p:txBody>
      </p:sp>
      <p:sp>
        <p:nvSpPr>
          <p:cNvPr id="26"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4 · La solución: tres números dentro, un semáforo fuera</a:t>
            </a:r>
            <a:endParaRPr lang="en-US" sz="2800" dirty="0"/>
          </a:p>
        </p:txBody>
      </p:sp>
      <p:sp>
        <p:nvSpPr>
          <p:cNvPr id="3" name="Shape 1"/>
          <p:cNvSpPr/>
          <p:nvPr/>
        </p:nvSpPr>
        <p:spPr>
          <a:xfrm>
            <a:off x="548640" y="1325880"/>
            <a:ext cx="3584448" cy="4343400"/>
          </a:xfrm>
          <a:prstGeom prst="roundRect">
            <a:avLst>
              <a:gd name="adj" fmla="val 306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4" name="Image 0" descr="app_caminata.png">    </p:cNvPr>
          <p:cNvPicPr>
            <a:picLocks noChangeAspect="1"/>
          </p:cNvPicPr>
          <p:nvPr/>
        </p:nvPicPr>
        <p:blipFill>
          <a:blip r:embed="rId1"/>
          <a:stretch>
            <a:fillRect/>
          </a:stretch>
        </p:blipFill>
        <p:spPr>
          <a:xfrm>
            <a:off x="694944" y="1463040"/>
            <a:ext cx="3291840" cy="3227832"/>
          </a:xfrm>
          <a:prstGeom prst="rect">
            <a:avLst/>
          </a:prstGeom>
        </p:spPr>
      </p:pic>
      <p:sp>
        <p:nvSpPr>
          <p:cNvPr id="5" name="Text 2"/>
          <p:cNvSpPr txBox="1"/>
          <p:nvPr/>
        </p:nvSpPr>
        <p:spPr>
          <a:xfrm>
            <a:off x="694944" y="4754880"/>
            <a:ext cx="3291840" cy="320040"/>
          </a:xfrm>
          <a:prstGeom prst="rect">
            <a:avLst/>
          </a:prstGeom>
          <a:noFill/>
          <a:ln/>
        </p:spPr>
        <p:txBody>
          <a:bodyPr wrap="square" lIns="0" tIns="0" rIns="0" bIns="0" rtlCol="0" anchor="ctr"/>
          <a:lstStyle/>
          <a:p>
            <a:pPr algn="ctr" indent="0" marL="0">
              <a:buNone/>
            </a:pPr>
            <a:r>
              <a:rPr lang="en-US" sz="1300" b="1" dirty="0">
                <a:solidFill>
                  <a:srgbClr val="0F2B3C"/>
                </a:solidFill>
                <a:latin typeface="Cambria" pitchFamily="34" charset="0"/>
                <a:ea typeface="Cambria" pitchFamily="34" charset="-122"/>
                <a:cs typeface="Cambria" pitchFamily="34" charset="-120"/>
              </a:rPr>
              <a:t>Caminata 6 minutos</a:t>
            </a:r>
            <a:endParaRPr lang="en-US" sz="1300" dirty="0"/>
          </a:p>
        </p:txBody>
      </p:sp>
      <p:sp>
        <p:nvSpPr>
          <p:cNvPr id="6" name="Text 3"/>
          <p:cNvSpPr txBox="1"/>
          <p:nvPr/>
        </p:nvSpPr>
        <p:spPr>
          <a:xfrm>
            <a:off x="694944" y="5074920"/>
            <a:ext cx="3291840" cy="457200"/>
          </a:xfrm>
          <a:prstGeom prst="rect">
            <a:avLst/>
          </a:prstGeom>
          <a:noFill/>
          <a:ln/>
        </p:spPr>
        <p:txBody>
          <a:bodyPr wrap="square" lIns="0" tIns="0" rIns="0" bIns="0" rtlCol="0" anchor="ctr"/>
          <a:lstStyle/>
          <a:p>
            <a:pPr algn="ctr" indent="0" marL="0">
              <a:buNone/>
            </a:pPr>
            <a:r>
              <a:rPr lang="en-US" sz="1000" dirty="0">
                <a:solidFill>
                  <a:srgbClr val="5C6B73"/>
                </a:solidFill>
                <a:latin typeface="Calibri" pitchFamily="34" charset="0"/>
                <a:ea typeface="Calibri" pitchFamily="34" charset="-122"/>
                <a:cs typeface="Calibri" pitchFamily="34" charset="-120"/>
              </a:rPr>
              <a:t>Percentil estimado, rango, referencia P50 e interpretación clínica</a:t>
            </a:r>
            <a:endParaRPr lang="en-US" sz="1000" dirty="0"/>
          </a:p>
        </p:txBody>
      </p:sp>
      <p:sp>
        <p:nvSpPr>
          <p:cNvPr id="7" name="Shape 4"/>
          <p:cNvSpPr/>
          <p:nvPr/>
        </p:nvSpPr>
        <p:spPr>
          <a:xfrm>
            <a:off x="4315968" y="1325880"/>
            <a:ext cx="3584448" cy="4343400"/>
          </a:xfrm>
          <a:prstGeom prst="roundRect">
            <a:avLst>
              <a:gd name="adj" fmla="val 306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8" name="Image 1" descr="app_prension.png">    </p:cNvPr>
          <p:cNvPicPr>
            <a:picLocks noChangeAspect="1"/>
          </p:cNvPicPr>
          <p:nvPr/>
        </p:nvPicPr>
        <p:blipFill>
          <a:blip r:embed="rId2"/>
          <a:stretch>
            <a:fillRect/>
          </a:stretch>
        </p:blipFill>
        <p:spPr>
          <a:xfrm>
            <a:off x="4462272" y="1463040"/>
            <a:ext cx="3291840" cy="3227832"/>
          </a:xfrm>
          <a:prstGeom prst="rect">
            <a:avLst/>
          </a:prstGeom>
        </p:spPr>
      </p:pic>
      <p:sp>
        <p:nvSpPr>
          <p:cNvPr id="9" name="Text 5"/>
          <p:cNvSpPr txBox="1"/>
          <p:nvPr/>
        </p:nvSpPr>
        <p:spPr>
          <a:xfrm>
            <a:off x="4462272" y="4754880"/>
            <a:ext cx="3291840" cy="320040"/>
          </a:xfrm>
          <a:prstGeom prst="rect">
            <a:avLst/>
          </a:prstGeom>
          <a:noFill/>
          <a:ln/>
        </p:spPr>
        <p:txBody>
          <a:bodyPr wrap="square" lIns="0" tIns="0" rIns="0" bIns="0" rtlCol="0" anchor="ctr"/>
          <a:lstStyle/>
          <a:p>
            <a:pPr algn="ctr" indent="0" marL="0">
              <a:buNone/>
            </a:pPr>
            <a:r>
              <a:rPr lang="en-US" sz="1300" b="1" dirty="0">
                <a:solidFill>
                  <a:srgbClr val="0F2B3C"/>
                </a:solidFill>
                <a:latin typeface="Cambria" pitchFamily="34" charset="0"/>
                <a:ea typeface="Cambria" pitchFamily="34" charset="-122"/>
                <a:cs typeface="Cambria" pitchFamily="34" charset="-120"/>
              </a:rPr>
              <a:t>Fuerza de prensión</a:t>
            </a:r>
            <a:endParaRPr lang="en-US" sz="1300" dirty="0"/>
          </a:p>
        </p:txBody>
      </p:sp>
      <p:sp>
        <p:nvSpPr>
          <p:cNvPr id="10" name="Text 6"/>
          <p:cNvSpPr txBox="1"/>
          <p:nvPr/>
        </p:nvSpPr>
        <p:spPr>
          <a:xfrm>
            <a:off x="4462272" y="5074920"/>
            <a:ext cx="3291840" cy="457200"/>
          </a:xfrm>
          <a:prstGeom prst="rect">
            <a:avLst/>
          </a:prstGeom>
          <a:noFill/>
          <a:ln/>
        </p:spPr>
        <p:txBody>
          <a:bodyPr wrap="square" lIns="0" tIns="0" rIns="0" bIns="0" rtlCol="0" anchor="ctr"/>
          <a:lstStyle/>
          <a:p>
            <a:pPr algn="ctr" indent="0" marL="0">
              <a:buNone/>
            </a:pPr>
            <a:r>
              <a:rPr lang="en-US" sz="1000" dirty="0">
                <a:solidFill>
                  <a:srgbClr val="5C6B73"/>
                </a:solidFill>
                <a:latin typeface="Calibri" pitchFamily="34" charset="0"/>
                <a:ea typeface="Calibri" pitchFamily="34" charset="-122"/>
                <a:cs typeface="Calibri" pitchFamily="34" charset="-120"/>
              </a:rPr>
              <a:t>Percentil estimado, rango, referencia P50 e interpretación clínica</a:t>
            </a:r>
            <a:endParaRPr lang="en-US" sz="1000" dirty="0"/>
          </a:p>
        </p:txBody>
      </p:sp>
      <p:sp>
        <p:nvSpPr>
          <p:cNvPr id="11" name="Shape 7"/>
          <p:cNvSpPr/>
          <p:nvPr/>
        </p:nvSpPr>
        <p:spPr>
          <a:xfrm>
            <a:off x="8083296" y="1325880"/>
            <a:ext cx="3584448" cy="4343400"/>
          </a:xfrm>
          <a:prstGeom prst="roundRect">
            <a:avLst>
              <a:gd name="adj" fmla="val 3061"/>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2" name="Image 2" descr="app_silla.png">    </p:cNvPr>
          <p:cNvPicPr>
            <a:picLocks noChangeAspect="1"/>
          </p:cNvPicPr>
          <p:nvPr/>
        </p:nvPicPr>
        <p:blipFill>
          <a:blip r:embed="rId3"/>
          <a:stretch>
            <a:fillRect/>
          </a:stretch>
        </p:blipFill>
        <p:spPr>
          <a:xfrm>
            <a:off x="8229600" y="1463040"/>
            <a:ext cx="3291840" cy="3227832"/>
          </a:xfrm>
          <a:prstGeom prst="rect">
            <a:avLst/>
          </a:prstGeom>
        </p:spPr>
      </p:pic>
      <p:sp>
        <p:nvSpPr>
          <p:cNvPr id="13" name="Text 8"/>
          <p:cNvSpPr txBox="1"/>
          <p:nvPr/>
        </p:nvSpPr>
        <p:spPr>
          <a:xfrm>
            <a:off x="8229600" y="4754880"/>
            <a:ext cx="3291840" cy="320040"/>
          </a:xfrm>
          <a:prstGeom prst="rect">
            <a:avLst/>
          </a:prstGeom>
          <a:noFill/>
          <a:ln/>
        </p:spPr>
        <p:txBody>
          <a:bodyPr wrap="square" lIns="0" tIns="0" rIns="0" bIns="0" rtlCol="0" anchor="ctr"/>
          <a:lstStyle/>
          <a:p>
            <a:pPr algn="ctr" indent="0" marL="0">
              <a:buNone/>
            </a:pPr>
            <a:r>
              <a:rPr lang="en-US" sz="1300" b="1" dirty="0">
                <a:solidFill>
                  <a:srgbClr val="0F2B3C"/>
                </a:solidFill>
                <a:latin typeface="Cambria" pitchFamily="34" charset="0"/>
                <a:ea typeface="Cambria" pitchFamily="34" charset="-122"/>
                <a:cs typeface="Cambria" pitchFamily="34" charset="-120"/>
              </a:rPr>
              <a:t>Levantarse de la silla</a:t>
            </a:r>
            <a:endParaRPr lang="en-US" sz="1300" dirty="0"/>
          </a:p>
        </p:txBody>
      </p:sp>
      <p:sp>
        <p:nvSpPr>
          <p:cNvPr id="14" name="Text 9"/>
          <p:cNvSpPr txBox="1"/>
          <p:nvPr/>
        </p:nvSpPr>
        <p:spPr>
          <a:xfrm>
            <a:off x="8229600" y="5074920"/>
            <a:ext cx="3291840" cy="457200"/>
          </a:xfrm>
          <a:prstGeom prst="rect">
            <a:avLst/>
          </a:prstGeom>
          <a:noFill/>
          <a:ln/>
        </p:spPr>
        <p:txBody>
          <a:bodyPr wrap="square" lIns="0" tIns="0" rIns="0" bIns="0" rtlCol="0" anchor="ctr"/>
          <a:lstStyle/>
          <a:p>
            <a:pPr algn="ctr" indent="0" marL="0">
              <a:buNone/>
            </a:pPr>
            <a:r>
              <a:rPr lang="en-US" sz="1000" dirty="0">
                <a:solidFill>
                  <a:srgbClr val="5C6B73"/>
                </a:solidFill>
                <a:latin typeface="Calibri" pitchFamily="34" charset="0"/>
                <a:ea typeface="Calibri" pitchFamily="34" charset="-122"/>
                <a:cs typeface="Calibri" pitchFamily="34" charset="-120"/>
              </a:rPr>
              <a:t>Percentil estimado, rango, referencia P50 e interpretación clínica</a:t>
            </a:r>
            <a:endParaRPr lang="en-US" sz="1000" dirty="0"/>
          </a:p>
        </p:txBody>
      </p:sp>
      <p:sp>
        <p:nvSpPr>
          <p:cNvPr id="15" name="Text 10"/>
          <p:cNvSpPr txBox="1"/>
          <p:nvPr/>
        </p:nvSpPr>
        <p:spPr>
          <a:xfrm>
            <a:off x="548640" y="5806440"/>
            <a:ext cx="10972800" cy="320040"/>
          </a:xfrm>
          <a:prstGeom prst="rect">
            <a:avLst/>
          </a:prstGeom>
          <a:noFill/>
          <a:ln/>
        </p:spPr>
        <p:txBody>
          <a:bodyPr wrap="square" lIns="0" tIns="0" rIns="0" bIns="0" rtlCol="0" anchor="ctr"/>
          <a:lstStyle/>
          <a:p>
            <a:pPr indent="0" marL="0">
              <a:buNone/>
            </a:pPr>
            <a:r>
              <a:rPr lang="en-US" sz="1200" dirty="0">
                <a:solidFill>
                  <a:srgbClr val="0E7C86"/>
                </a:solidFill>
                <a:latin typeface="Calibri" pitchFamily="34" charset="0"/>
                <a:ea typeface="Calibri" pitchFamily="34" charset="-122"/>
                <a:cs typeface="Calibri" pitchFamily="34" charset="-120"/>
              </a:rPr>
              <a:t>evaluacion-funcional-pro.streamlit.app · abierta, gratuita, desde cualquier navegador</a:t>
            </a:r>
            <a:endParaRPr lang="en-US" sz="1200" dirty="0"/>
          </a:p>
        </p:txBody>
      </p:sp>
      <p:sp>
        <p:nvSpPr>
          <p:cNvPr id="16" name="Text 11"/>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Cómo la construí: el prompt es la especificación</a:t>
            </a:r>
            <a:endParaRPr lang="en-US" sz="2800" dirty="0"/>
          </a:p>
        </p:txBody>
      </p:sp>
      <p:sp>
        <p:nvSpPr>
          <p:cNvPr id="3" name="Shape 1"/>
          <p:cNvSpPr/>
          <p:nvPr/>
        </p:nvSpPr>
        <p:spPr>
          <a:xfrm>
            <a:off x="1325880" y="1371600"/>
            <a:ext cx="640080" cy="640080"/>
          </a:xfrm>
          <a:prstGeom prst="ellipse">
            <a:avLst/>
          </a:prstGeom>
          <a:solidFill>
            <a:srgbClr val="0E7C86"/>
          </a:solidFill>
          <a:ln w="12700">
            <a:solidFill>
              <a:srgbClr val="0E7C86"/>
            </a:solidFill>
            <a:prstDash val="solid"/>
          </a:ln>
        </p:spPr>
      </p:sp>
      <p:sp>
        <p:nvSpPr>
          <p:cNvPr id="4" name="Text 2"/>
          <p:cNvSpPr txBox="1"/>
          <p:nvPr/>
        </p:nvSpPr>
        <p:spPr>
          <a:xfrm>
            <a:off x="1325880"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5" name="Text 3"/>
          <p:cNvSpPr txBox="1"/>
          <p:nvPr/>
        </p:nvSpPr>
        <p:spPr>
          <a:xfrm>
            <a:off x="548640" y="2103120"/>
            <a:ext cx="2194560" cy="365760"/>
          </a:xfrm>
          <a:prstGeom prst="rect">
            <a:avLst/>
          </a:prstGeom>
          <a:noFill/>
          <a:ln/>
        </p:spPr>
        <p:txBody>
          <a:bodyPr wrap="square" lIns="0" tIns="0" rIns="0" bIns="0" rtlCol="0" anchor="ctr"/>
          <a:lstStyle/>
          <a:p>
            <a:pPr algn="ctr" indent="0" marL="0">
              <a:buNone/>
            </a:pPr>
            <a:r>
              <a:rPr lang="en-US" sz="1500" b="1" dirty="0">
                <a:solidFill>
                  <a:srgbClr val="0F2B3C"/>
                </a:solidFill>
                <a:latin typeface="Cambria" pitchFamily="34" charset="0"/>
                <a:ea typeface="Cambria" pitchFamily="34" charset="-122"/>
                <a:cs typeface="Cambria" pitchFamily="34" charset="-120"/>
              </a:rPr>
              <a:t>Estructurar</a:t>
            </a:r>
            <a:endParaRPr lang="en-US" sz="1500" dirty="0"/>
          </a:p>
        </p:txBody>
      </p:sp>
      <p:sp>
        <p:nvSpPr>
          <p:cNvPr id="6" name="Text 4"/>
          <p:cNvSpPr txBox="1"/>
          <p:nvPr/>
        </p:nvSpPr>
        <p:spPr>
          <a:xfrm>
            <a:off x="548640" y="2514600"/>
            <a:ext cx="2194560" cy="1371600"/>
          </a:xfrm>
          <a:prstGeom prst="rect">
            <a:avLst/>
          </a:prstGeom>
          <a:noFill/>
          <a:ln/>
        </p:spPr>
        <p:txBody>
          <a:bodyPr wrap="square" lIns="0" tIns="0" rIns="0" bIns="0" rtlCol="0" anchor="t"/>
          <a:lstStyle/>
          <a:p>
            <a:pPr algn="ctr" indent="0" marL="0">
              <a:buNone/>
            </a:pPr>
            <a:r>
              <a:rPr lang="en-US" sz="1150" dirty="0">
                <a:solidFill>
                  <a:srgbClr val="1B2A34"/>
                </a:solidFill>
                <a:latin typeface="Calibri" pitchFamily="34" charset="0"/>
                <a:ea typeface="Calibri" pitchFamily="34" charset="-122"/>
                <a:cs typeface="Calibri" pitchFamily="34" charset="-120"/>
              </a:rPr>
              <a:t>Rol, contexto, tarea, formato y restricciones. Le pasé las tres tablas en CSV y le pedí que no inventara ningún valor.</a:t>
            </a:r>
            <a:endParaRPr lang="en-US" sz="1150" dirty="0"/>
          </a:p>
        </p:txBody>
      </p:sp>
      <p:sp>
        <p:nvSpPr>
          <p:cNvPr id="7" name="Shape 5"/>
          <p:cNvSpPr/>
          <p:nvPr/>
        </p:nvSpPr>
        <p:spPr>
          <a:xfrm>
            <a:off x="2011680" y="1691640"/>
            <a:ext cx="731520" cy="0"/>
          </a:xfrm>
          <a:prstGeom prst="line">
            <a:avLst/>
          </a:prstGeom>
          <a:noFill/>
          <a:ln w="19050">
            <a:solidFill>
              <a:srgbClr val="B8C9CF"/>
            </a:solidFill>
            <a:prstDash val="solid"/>
            <a:tailEnd type="triangle"/>
          </a:ln>
        </p:spPr>
      </p:sp>
      <p:sp>
        <p:nvSpPr>
          <p:cNvPr id="8" name="Shape 6"/>
          <p:cNvSpPr/>
          <p:nvPr/>
        </p:nvSpPr>
        <p:spPr>
          <a:xfrm>
            <a:off x="3575304" y="1371600"/>
            <a:ext cx="640080" cy="640080"/>
          </a:xfrm>
          <a:prstGeom prst="ellipse">
            <a:avLst/>
          </a:prstGeom>
          <a:solidFill>
            <a:srgbClr val="0E7C86"/>
          </a:solidFill>
          <a:ln w="12700">
            <a:solidFill>
              <a:srgbClr val="0E7C86"/>
            </a:solidFill>
            <a:prstDash val="solid"/>
          </a:ln>
        </p:spPr>
      </p:sp>
      <p:sp>
        <p:nvSpPr>
          <p:cNvPr id="9" name="Text 7"/>
          <p:cNvSpPr txBox="1"/>
          <p:nvPr/>
        </p:nvSpPr>
        <p:spPr>
          <a:xfrm>
            <a:off x="3575304"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0" name="Text 8"/>
          <p:cNvSpPr txBox="1"/>
          <p:nvPr/>
        </p:nvSpPr>
        <p:spPr>
          <a:xfrm>
            <a:off x="2798064" y="2103120"/>
            <a:ext cx="2194560" cy="365760"/>
          </a:xfrm>
          <a:prstGeom prst="rect">
            <a:avLst/>
          </a:prstGeom>
          <a:noFill/>
          <a:ln/>
        </p:spPr>
        <p:txBody>
          <a:bodyPr wrap="square" lIns="0" tIns="0" rIns="0" bIns="0" rtlCol="0" anchor="ctr"/>
          <a:lstStyle/>
          <a:p>
            <a:pPr algn="ctr" indent="0" marL="0">
              <a:buNone/>
            </a:pPr>
            <a:r>
              <a:rPr lang="en-US" sz="1500" b="1" dirty="0">
                <a:solidFill>
                  <a:srgbClr val="0F2B3C"/>
                </a:solidFill>
                <a:latin typeface="Cambria" pitchFamily="34" charset="0"/>
                <a:ea typeface="Cambria" pitchFamily="34" charset="-122"/>
                <a:cs typeface="Cambria" pitchFamily="34" charset="-120"/>
              </a:rPr>
              <a:t>Generar</a:t>
            </a:r>
            <a:endParaRPr lang="en-US" sz="1500" dirty="0"/>
          </a:p>
        </p:txBody>
      </p:sp>
      <p:sp>
        <p:nvSpPr>
          <p:cNvPr id="11" name="Text 9"/>
          <p:cNvSpPr txBox="1"/>
          <p:nvPr/>
        </p:nvSpPr>
        <p:spPr>
          <a:xfrm>
            <a:off x="2798064" y="2514600"/>
            <a:ext cx="2194560" cy="1371600"/>
          </a:xfrm>
          <a:prstGeom prst="rect">
            <a:avLst/>
          </a:prstGeom>
          <a:noFill/>
          <a:ln/>
        </p:spPr>
        <p:txBody>
          <a:bodyPr wrap="square" lIns="0" tIns="0" rIns="0" bIns="0" rtlCol="0" anchor="t"/>
          <a:lstStyle/>
          <a:p>
            <a:pPr algn="ctr" indent="0" marL="0">
              <a:buNone/>
            </a:pPr>
            <a:r>
              <a:rPr lang="en-US" sz="1150" dirty="0">
                <a:solidFill>
                  <a:srgbClr val="1B2A34"/>
                </a:solidFill>
                <a:latin typeface="Calibri" pitchFamily="34" charset="0"/>
                <a:ea typeface="Calibri" pitchFamily="34" charset="-122"/>
                <a:cs typeface="Calibri" pitchFamily="34" charset="-120"/>
              </a:rPr>
              <a:t>Primer prototipo en Streamlit. Interpolación lineal entre percentiles, semáforo y frases de interpretación.</a:t>
            </a:r>
            <a:endParaRPr lang="en-US" sz="1150" dirty="0"/>
          </a:p>
        </p:txBody>
      </p:sp>
      <p:sp>
        <p:nvSpPr>
          <p:cNvPr id="12" name="Shape 10"/>
          <p:cNvSpPr/>
          <p:nvPr/>
        </p:nvSpPr>
        <p:spPr>
          <a:xfrm>
            <a:off x="4261104" y="1691640"/>
            <a:ext cx="731520" cy="0"/>
          </a:xfrm>
          <a:prstGeom prst="line">
            <a:avLst/>
          </a:prstGeom>
          <a:noFill/>
          <a:ln w="19050">
            <a:solidFill>
              <a:srgbClr val="B8C9CF"/>
            </a:solidFill>
            <a:prstDash val="solid"/>
            <a:tailEnd type="triangle"/>
          </a:ln>
        </p:spPr>
      </p:sp>
      <p:sp>
        <p:nvSpPr>
          <p:cNvPr id="13" name="Shape 11"/>
          <p:cNvSpPr/>
          <p:nvPr/>
        </p:nvSpPr>
        <p:spPr>
          <a:xfrm>
            <a:off x="5824728" y="1371600"/>
            <a:ext cx="640080" cy="640080"/>
          </a:xfrm>
          <a:prstGeom prst="ellipse">
            <a:avLst/>
          </a:prstGeom>
          <a:solidFill>
            <a:srgbClr val="0E7C86"/>
          </a:solidFill>
          <a:ln w="12700">
            <a:solidFill>
              <a:srgbClr val="0E7C86"/>
            </a:solidFill>
            <a:prstDash val="solid"/>
          </a:ln>
        </p:spPr>
      </p:sp>
      <p:sp>
        <p:nvSpPr>
          <p:cNvPr id="14" name="Text 12"/>
          <p:cNvSpPr txBox="1"/>
          <p:nvPr/>
        </p:nvSpPr>
        <p:spPr>
          <a:xfrm>
            <a:off x="5824728"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5" name="Text 13"/>
          <p:cNvSpPr txBox="1"/>
          <p:nvPr/>
        </p:nvSpPr>
        <p:spPr>
          <a:xfrm>
            <a:off x="5047488" y="2103120"/>
            <a:ext cx="2194560" cy="365760"/>
          </a:xfrm>
          <a:prstGeom prst="rect">
            <a:avLst/>
          </a:prstGeom>
          <a:noFill/>
          <a:ln/>
        </p:spPr>
        <p:txBody>
          <a:bodyPr wrap="square" lIns="0" tIns="0" rIns="0" bIns="0" rtlCol="0" anchor="ctr"/>
          <a:lstStyle/>
          <a:p>
            <a:pPr algn="ctr" indent="0" marL="0">
              <a:buNone/>
            </a:pPr>
            <a:r>
              <a:rPr lang="en-US" sz="1500" b="1" dirty="0">
                <a:solidFill>
                  <a:srgbClr val="0F2B3C"/>
                </a:solidFill>
                <a:latin typeface="Cambria" pitchFamily="34" charset="0"/>
                <a:ea typeface="Cambria" pitchFamily="34" charset="-122"/>
                <a:cs typeface="Cambria" pitchFamily="34" charset="-120"/>
              </a:rPr>
              <a:t>Criticar</a:t>
            </a:r>
            <a:endParaRPr lang="en-US" sz="1500" dirty="0"/>
          </a:p>
        </p:txBody>
      </p:sp>
      <p:sp>
        <p:nvSpPr>
          <p:cNvPr id="16" name="Text 14"/>
          <p:cNvSpPr txBox="1"/>
          <p:nvPr/>
        </p:nvSpPr>
        <p:spPr>
          <a:xfrm>
            <a:off x="5047488" y="2514600"/>
            <a:ext cx="2194560" cy="1371600"/>
          </a:xfrm>
          <a:prstGeom prst="rect">
            <a:avLst/>
          </a:prstGeom>
          <a:noFill/>
          <a:ln/>
        </p:spPr>
        <p:txBody>
          <a:bodyPr wrap="square" lIns="0" tIns="0" rIns="0" bIns="0" rtlCol="0" anchor="t"/>
          <a:lstStyle/>
          <a:p>
            <a:pPr algn="ctr" indent="0" marL="0">
              <a:buNone/>
            </a:pPr>
            <a:r>
              <a:rPr lang="en-US" sz="1150" dirty="0">
                <a:solidFill>
                  <a:srgbClr val="1B2A34"/>
                </a:solidFill>
                <a:latin typeface="Calibri" pitchFamily="34" charset="0"/>
                <a:ea typeface="Calibri" pitchFamily="34" charset="-122"/>
                <a:cs typeface="Calibri" pitchFamily="34" charset="-120"/>
              </a:rPr>
              <a:t>Cambio de papel: “ahora eres un revisor exigente”. Encontró que no manejaba edades fuera de tabla.</a:t>
            </a:r>
            <a:endParaRPr lang="en-US" sz="1150" dirty="0"/>
          </a:p>
        </p:txBody>
      </p:sp>
      <p:sp>
        <p:nvSpPr>
          <p:cNvPr id="17" name="Shape 15"/>
          <p:cNvSpPr/>
          <p:nvPr/>
        </p:nvSpPr>
        <p:spPr>
          <a:xfrm>
            <a:off x="6510528" y="1691640"/>
            <a:ext cx="731520" cy="0"/>
          </a:xfrm>
          <a:prstGeom prst="line">
            <a:avLst/>
          </a:prstGeom>
          <a:noFill/>
          <a:ln w="19050">
            <a:solidFill>
              <a:srgbClr val="B8C9CF"/>
            </a:solidFill>
            <a:prstDash val="solid"/>
            <a:tailEnd type="triangle"/>
          </a:ln>
        </p:spPr>
      </p:sp>
      <p:sp>
        <p:nvSpPr>
          <p:cNvPr id="18" name="Shape 16"/>
          <p:cNvSpPr/>
          <p:nvPr/>
        </p:nvSpPr>
        <p:spPr>
          <a:xfrm>
            <a:off x="8074152" y="1371600"/>
            <a:ext cx="640080" cy="640080"/>
          </a:xfrm>
          <a:prstGeom prst="ellipse">
            <a:avLst/>
          </a:prstGeom>
          <a:solidFill>
            <a:srgbClr val="0E7C86"/>
          </a:solidFill>
          <a:ln w="12700">
            <a:solidFill>
              <a:srgbClr val="0E7C86"/>
            </a:solidFill>
            <a:prstDash val="solid"/>
          </a:ln>
        </p:spPr>
      </p:sp>
      <p:sp>
        <p:nvSpPr>
          <p:cNvPr id="19" name="Text 17"/>
          <p:cNvSpPr txBox="1"/>
          <p:nvPr/>
        </p:nvSpPr>
        <p:spPr>
          <a:xfrm>
            <a:off x="8074152"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0" name="Text 18"/>
          <p:cNvSpPr txBox="1"/>
          <p:nvPr/>
        </p:nvSpPr>
        <p:spPr>
          <a:xfrm>
            <a:off x="7296912" y="2103120"/>
            <a:ext cx="2194560" cy="365760"/>
          </a:xfrm>
          <a:prstGeom prst="rect">
            <a:avLst/>
          </a:prstGeom>
          <a:noFill/>
          <a:ln/>
        </p:spPr>
        <p:txBody>
          <a:bodyPr wrap="square" lIns="0" tIns="0" rIns="0" bIns="0" rtlCol="0" anchor="ctr"/>
          <a:lstStyle/>
          <a:p>
            <a:pPr algn="ctr" indent="0" marL="0">
              <a:buNone/>
            </a:pPr>
            <a:r>
              <a:rPr lang="en-US" sz="1500" b="1" dirty="0">
                <a:solidFill>
                  <a:srgbClr val="0F2B3C"/>
                </a:solidFill>
                <a:latin typeface="Cambria" pitchFamily="34" charset="0"/>
                <a:ea typeface="Cambria" pitchFamily="34" charset="-122"/>
                <a:cs typeface="Cambria" pitchFamily="34" charset="-120"/>
              </a:rPr>
              <a:t>Probar</a:t>
            </a:r>
            <a:endParaRPr lang="en-US" sz="1500" dirty="0"/>
          </a:p>
        </p:txBody>
      </p:sp>
      <p:sp>
        <p:nvSpPr>
          <p:cNvPr id="21" name="Text 19"/>
          <p:cNvSpPr txBox="1"/>
          <p:nvPr/>
        </p:nvSpPr>
        <p:spPr>
          <a:xfrm>
            <a:off x="7296912" y="2514600"/>
            <a:ext cx="2194560" cy="1371600"/>
          </a:xfrm>
          <a:prstGeom prst="rect">
            <a:avLst/>
          </a:prstGeom>
          <a:noFill/>
          <a:ln/>
        </p:spPr>
        <p:txBody>
          <a:bodyPr wrap="square" lIns="0" tIns="0" rIns="0" bIns="0" rtlCol="0" anchor="t"/>
          <a:lstStyle/>
          <a:p>
            <a:pPr algn="ctr" indent="0" marL="0">
              <a:buNone/>
            </a:pPr>
            <a:r>
              <a:rPr lang="en-US" sz="1150" dirty="0">
                <a:solidFill>
                  <a:srgbClr val="1B2A34"/>
                </a:solidFill>
                <a:latin typeface="Calibri" pitchFamily="34" charset="0"/>
                <a:ea typeface="Calibri" pitchFamily="34" charset="-122"/>
                <a:cs typeface="Calibri" pitchFamily="34" charset="-120"/>
              </a:rPr>
              <a:t>Casos sintéticos con resultado conocido: el valor P50 de la tabla tiene que devolver exactamente P50.</a:t>
            </a:r>
            <a:endParaRPr lang="en-US" sz="1150" dirty="0"/>
          </a:p>
        </p:txBody>
      </p:sp>
      <p:sp>
        <p:nvSpPr>
          <p:cNvPr id="22" name="Shape 20"/>
          <p:cNvSpPr/>
          <p:nvPr/>
        </p:nvSpPr>
        <p:spPr>
          <a:xfrm>
            <a:off x="8759952" y="1691640"/>
            <a:ext cx="731520" cy="0"/>
          </a:xfrm>
          <a:prstGeom prst="line">
            <a:avLst/>
          </a:prstGeom>
          <a:noFill/>
          <a:ln w="19050">
            <a:solidFill>
              <a:srgbClr val="B8C9CF"/>
            </a:solidFill>
            <a:prstDash val="solid"/>
            <a:tailEnd type="triangle"/>
          </a:ln>
        </p:spPr>
      </p:sp>
      <p:sp>
        <p:nvSpPr>
          <p:cNvPr id="23" name="Shape 21"/>
          <p:cNvSpPr/>
          <p:nvPr/>
        </p:nvSpPr>
        <p:spPr>
          <a:xfrm>
            <a:off x="10323576" y="1371600"/>
            <a:ext cx="640080" cy="640080"/>
          </a:xfrm>
          <a:prstGeom prst="ellipse">
            <a:avLst/>
          </a:prstGeom>
          <a:solidFill>
            <a:srgbClr val="0E7C86"/>
          </a:solidFill>
          <a:ln w="12700">
            <a:solidFill>
              <a:srgbClr val="0E7C86"/>
            </a:solidFill>
            <a:prstDash val="solid"/>
          </a:ln>
        </p:spPr>
      </p:sp>
      <p:sp>
        <p:nvSpPr>
          <p:cNvPr id="24" name="Text 22"/>
          <p:cNvSpPr txBox="1"/>
          <p:nvPr/>
        </p:nvSpPr>
        <p:spPr>
          <a:xfrm>
            <a:off x="10323576" y="137160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5" name="Text 23"/>
          <p:cNvSpPr txBox="1"/>
          <p:nvPr/>
        </p:nvSpPr>
        <p:spPr>
          <a:xfrm>
            <a:off x="9546336" y="2103120"/>
            <a:ext cx="2194560" cy="365760"/>
          </a:xfrm>
          <a:prstGeom prst="rect">
            <a:avLst/>
          </a:prstGeom>
          <a:noFill/>
          <a:ln/>
        </p:spPr>
        <p:txBody>
          <a:bodyPr wrap="square" lIns="0" tIns="0" rIns="0" bIns="0" rtlCol="0" anchor="ctr"/>
          <a:lstStyle/>
          <a:p>
            <a:pPr algn="ctr" indent="0" marL="0">
              <a:buNone/>
            </a:pPr>
            <a:r>
              <a:rPr lang="en-US" sz="1500" b="1" dirty="0">
                <a:solidFill>
                  <a:srgbClr val="0F2B3C"/>
                </a:solidFill>
                <a:latin typeface="Cambria" pitchFamily="34" charset="0"/>
                <a:ea typeface="Cambria" pitchFamily="34" charset="-122"/>
                <a:cs typeface="Cambria" pitchFamily="34" charset="-120"/>
              </a:rPr>
              <a:t>Desplegar</a:t>
            </a:r>
            <a:endParaRPr lang="en-US" sz="1500" dirty="0"/>
          </a:p>
        </p:txBody>
      </p:sp>
      <p:sp>
        <p:nvSpPr>
          <p:cNvPr id="26" name="Text 24"/>
          <p:cNvSpPr txBox="1"/>
          <p:nvPr/>
        </p:nvSpPr>
        <p:spPr>
          <a:xfrm>
            <a:off x="9546336" y="2514600"/>
            <a:ext cx="2194560" cy="1371600"/>
          </a:xfrm>
          <a:prstGeom prst="rect">
            <a:avLst/>
          </a:prstGeom>
          <a:noFill/>
          <a:ln/>
        </p:spPr>
        <p:txBody>
          <a:bodyPr wrap="square" lIns="0" tIns="0" rIns="0" bIns="0" rtlCol="0" anchor="t"/>
          <a:lstStyle/>
          <a:p>
            <a:pPr algn="ctr" indent="0" marL="0">
              <a:buNone/>
            </a:pPr>
            <a:r>
              <a:rPr lang="en-US" sz="1150" dirty="0">
                <a:solidFill>
                  <a:srgbClr val="1B2A34"/>
                </a:solidFill>
                <a:latin typeface="Calibri" pitchFamily="34" charset="0"/>
                <a:ea typeface="Calibri" pitchFamily="34" charset="-122"/>
                <a:cs typeface="Calibri" pitchFamily="34" charset="-120"/>
              </a:rPr>
              <a:t>GitHub y Streamlit Cloud. Desde entonces, cada corrección se publica sola.</a:t>
            </a:r>
            <a:endParaRPr lang="en-US" sz="1150" dirty="0"/>
          </a:p>
        </p:txBody>
      </p:sp>
      <p:sp>
        <p:nvSpPr>
          <p:cNvPr id="27" name="Shape 25"/>
          <p:cNvSpPr/>
          <p:nvPr/>
        </p:nvSpPr>
        <p:spPr>
          <a:xfrm>
            <a:off x="548640" y="3977640"/>
            <a:ext cx="11091672" cy="2057400"/>
          </a:xfrm>
          <a:prstGeom prst="roundRect">
            <a:avLst>
              <a:gd name="adj" fmla="val 4444"/>
            </a:avLst>
          </a:prstGeom>
          <a:solidFill>
            <a:srgbClr val="0F2B3C"/>
          </a:solidFill>
          <a:ln w="12700">
            <a:solidFill>
              <a:srgbClr val="0F2B3C"/>
            </a:solidFill>
            <a:prstDash val="solid"/>
          </a:ln>
        </p:spPr>
      </p:sp>
      <p:sp>
        <p:nvSpPr>
          <p:cNvPr id="28" name="Text 26"/>
          <p:cNvSpPr txBox="1"/>
          <p:nvPr/>
        </p:nvSpPr>
        <p:spPr>
          <a:xfrm>
            <a:off x="822960" y="4069080"/>
            <a:ext cx="5486400" cy="320040"/>
          </a:xfrm>
          <a:prstGeom prst="rect">
            <a:avLst/>
          </a:prstGeom>
          <a:noFill/>
          <a:ln/>
        </p:spPr>
        <p:txBody>
          <a:bodyPr wrap="square" lIns="0" tIns="0" rIns="0" bIns="0" rtlCol="0" anchor="ctr"/>
          <a:lstStyle/>
          <a:p>
            <a:pPr indent="0" marL="0">
              <a:buNone/>
            </a:pPr>
            <a:r>
              <a:rPr lang="en-US" sz="1100" b="1" dirty="0">
                <a:solidFill>
                  <a:srgbClr val="22B8CF"/>
                </a:solidFill>
                <a:latin typeface="Calibri" pitchFamily="34" charset="0"/>
                <a:ea typeface="Calibri" pitchFamily="34" charset="-122"/>
                <a:cs typeface="Calibri" pitchFamily="34" charset="-120"/>
              </a:rPr>
              <a:t>El prompt de arranque, resumido</a:t>
            </a:r>
            <a:endParaRPr lang="en-US" sz="1100" dirty="0"/>
          </a:p>
        </p:txBody>
      </p:sp>
      <p:sp>
        <p:nvSpPr>
          <p:cNvPr id="29" name="Text 27"/>
          <p:cNvSpPr txBox="1"/>
          <p:nvPr/>
        </p:nvSpPr>
        <p:spPr>
          <a:xfrm>
            <a:off x="822960" y="4389120"/>
            <a:ext cx="10515600" cy="1554480"/>
          </a:xfrm>
          <a:prstGeom prst="rect">
            <a:avLst/>
          </a:prstGeom>
          <a:noFill/>
          <a:ln/>
        </p:spPr>
        <p:txBody>
          <a:bodyPr wrap="square" lIns="0" tIns="0" rIns="0" bIns="0" rtlCol="0" anchor="t"/>
          <a:lstStyle/>
          <a:p>
            <a:pPr indent="0" marL="0">
              <a:buNone/>
            </a:pPr>
            <a:r>
              <a:rPr lang="en-US" sz="1050" dirty="0">
                <a:solidFill>
                  <a:srgbClr val="E6EEF1"/>
                </a:solidFill>
                <a:latin typeface="Courier New" pitchFamily="34" charset="0"/>
                <a:ea typeface="Courier New" pitchFamily="34" charset="-122"/>
                <a:cs typeface="Courier New" pitchFamily="34" charset="-120"/>
              </a:rPr>
              <a:t>Actúa como desarrollador de herramientas clínicas. CONTEXTO: consulta de obesidad en Atención Primaria; tres tablas de percentiles adjuntas en CSV con su fuente. TAREA: una app web sencilla que, dados sexo o talla, edad y valor medido, estime el percentil por interpolación lineal y lo clasifique. FORMATO: Python + Streamlit, un solo archivo, sin base de datos. RESTRICCIONES: usa solo los valores de las tablas, nunca inventes ni extrapoles; si la combinación no existe, dilo; no guardes ningún dato del usuario; muestra siempre la referencia P50 y la fuente.</a:t>
            </a:r>
            <a:endParaRPr lang="en-US" sz="1050" dirty="0"/>
          </a:p>
        </p:txBody>
      </p:sp>
      <p:sp>
        <p:nvSpPr>
          <p:cNvPr id="30" name="Text 28"/>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5 · Validación: lo que comprobé y lo que todavía no</a:t>
            </a:r>
            <a:endParaRPr lang="en-US" sz="2800" dirty="0"/>
          </a:p>
        </p:txBody>
      </p:sp>
      <p:sp>
        <p:nvSpPr>
          <p:cNvPr id="3" name="Shape 1"/>
          <p:cNvSpPr/>
          <p:nvPr/>
        </p:nvSpPr>
        <p:spPr>
          <a:xfrm>
            <a:off x="548640" y="1371600"/>
            <a:ext cx="5440680" cy="4389120"/>
          </a:xfrm>
          <a:prstGeom prst="roundRect">
            <a:avLst>
              <a:gd name="adj" fmla="val 2500"/>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822960" y="1600200"/>
            <a:ext cx="457200" cy="457200"/>
          </a:xfrm>
          <a:prstGeom prst="rect">
            <a:avLst/>
          </a:prstGeom>
        </p:spPr>
      </p:pic>
      <p:sp>
        <p:nvSpPr>
          <p:cNvPr id="5" name="Text 2"/>
          <p:cNvSpPr txBox="1"/>
          <p:nvPr/>
        </p:nvSpPr>
        <p:spPr>
          <a:xfrm>
            <a:off x="1417320" y="1554480"/>
            <a:ext cx="4389120" cy="548640"/>
          </a:xfrm>
          <a:prstGeom prst="rect">
            <a:avLst/>
          </a:prstGeom>
          <a:noFill/>
          <a:ln/>
        </p:spPr>
        <p:txBody>
          <a:bodyPr wrap="square" lIns="0" tIns="0" rIns="0" bIns="0" rtlCol="0" anchor="ctr"/>
          <a:lstStyle/>
          <a:p>
            <a:pPr indent="0" marL="0">
              <a:buNone/>
            </a:pPr>
            <a:r>
              <a:rPr lang="en-US" sz="1800" b="1" dirty="0">
                <a:solidFill>
                  <a:srgbClr val="0F2B3C"/>
                </a:solidFill>
                <a:latin typeface="Cambria" pitchFamily="34" charset="0"/>
                <a:ea typeface="Cambria" pitchFamily="34" charset="-122"/>
                <a:cs typeface="Cambria" pitchFamily="34" charset="-120"/>
              </a:rPr>
              <a:t>Lo que sí he verificado</a:t>
            </a:r>
            <a:endParaRPr lang="en-US" sz="1800" dirty="0"/>
          </a:p>
        </p:txBody>
      </p:sp>
      <p:sp>
        <p:nvSpPr>
          <p:cNvPr id="6" name="Text 3"/>
          <p:cNvSpPr txBox="1"/>
          <p:nvPr/>
        </p:nvSpPr>
        <p:spPr>
          <a:xfrm>
            <a:off x="822960" y="2240280"/>
            <a:ext cx="4937760" cy="3383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Fidelidad: cada valor de la tabla devuelve su percentil exacto. Ni un dato inventado.</a:t>
            </a:r>
            <a:endParaRPr lang="en-US" sz="1250" dirty="0"/>
          </a:p>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Interpolación: valores intermedios caen dentro del rango correcto y en orden.</a:t>
            </a:r>
            <a:endParaRPr lang="en-US" sz="1250" dirty="0"/>
          </a:p>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Fuentes: las tres publicaciones existen, dicen lo que la app dice y están citadas.</a:t>
            </a:r>
            <a:endParaRPr lang="en-US" sz="1250" dirty="0"/>
          </a:p>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Casos sintéticos extremos: valores por debajo y por encima de la tabla se anuncian como tales.</a:t>
            </a:r>
            <a:endParaRPr lang="en-US" sz="1250" dirty="0"/>
          </a:p>
          <a:p>
            <a:pPr marL="342900" indent="-342900">
              <a:buSzPct val="100000"/>
              <a:buChar char="•"/>
            </a:pPr>
            <a:r>
              <a:rPr lang="en-US" sz="1250" dirty="0">
                <a:solidFill>
                  <a:srgbClr val="1B2A34"/>
                </a:solidFill>
                <a:latin typeface="Calibri" pitchFamily="34" charset="0"/>
                <a:ea typeface="Calibri" pitchFamily="34" charset="-122"/>
                <a:cs typeface="Calibri" pitchFamily="34" charset="-120"/>
              </a:rPr>
              <a:t>Rúbrica del módulo 4: fidelidad, priorización, calibración, confusores y acción segura.</a:t>
            </a:r>
            <a:endParaRPr lang="en-US" sz="1250" dirty="0"/>
          </a:p>
        </p:txBody>
      </p:sp>
      <p:sp>
        <p:nvSpPr>
          <p:cNvPr id="7" name="Shape 4"/>
          <p:cNvSpPr/>
          <p:nvPr/>
        </p:nvSpPr>
        <p:spPr>
          <a:xfrm>
            <a:off x="6199632" y="1371600"/>
            <a:ext cx="5440680" cy="4389120"/>
          </a:xfrm>
          <a:prstGeom prst="roundRect">
            <a:avLst>
              <a:gd name="adj" fmla="val 2500"/>
            </a:avLst>
          </a:prstGeom>
          <a:solidFill>
            <a:srgbClr val="FDF1EC"/>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8" name="Image 1" descr="preencoded.png">    </p:cNvPr>
          <p:cNvPicPr>
            <a:picLocks noChangeAspect="1"/>
          </p:cNvPicPr>
          <p:nvPr/>
        </p:nvPicPr>
        <p:blipFill>
          <a:blip r:embed="rId2"/>
          <a:stretch>
            <a:fillRect/>
          </a:stretch>
        </p:blipFill>
        <p:spPr>
          <a:xfrm>
            <a:off x="6473952" y="1600200"/>
            <a:ext cx="457200" cy="457200"/>
          </a:xfrm>
          <a:prstGeom prst="rect">
            <a:avLst/>
          </a:prstGeom>
        </p:spPr>
      </p:pic>
      <p:sp>
        <p:nvSpPr>
          <p:cNvPr id="9" name="Text 5"/>
          <p:cNvSpPr txBox="1"/>
          <p:nvPr/>
        </p:nvSpPr>
        <p:spPr>
          <a:xfrm>
            <a:off x="7068312" y="1554480"/>
            <a:ext cx="4389120" cy="548640"/>
          </a:xfrm>
          <a:prstGeom prst="rect">
            <a:avLst/>
          </a:prstGeom>
          <a:noFill/>
          <a:ln/>
        </p:spPr>
        <p:txBody>
          <a:bodyPr wrap="square" lIns="0" tIns="0" rIns="0" bIns="0" rtlCol="0" anchor="ctr"/>
          <a:lstStyle/>
          <a:p>
            <a:pPr indent="0" marL="0">
              <a:buNone/>
            </a:pPr>
            <a:r>
              <a:rPr lang="en-US" sz="1800" b="1" dirty="0">
                <a:solidFill>
                  <a:srgbClr val="E4572E"/>
                </a:solidFill>
                <a:latin typeface="Cambria" pitchFamily="34" charset="0"/>
                <a:ea typeface="Cambria" pitchFamily="34" charset="-122"/>
                <a:cs typeface="Cambria" pitchFamily="34" charset="-120"/>
              </a:rPr>
              <a:t>Límites que conozco y estoy corrigiendo</a:t>
            </a:r>
            <a:endParaRPr lang="en-US" sz="1800" dirty="0"/>
          </a:p>
        </p:txBody>
      </p:sp>
      <p:sp>
        <p:nvSpPr>
          <p:cNvPr id="10" name="Text 6"/>
          <p:cNvSpPr txBox="1"/>
          <p:nvPr/>
        </p:nvSpPr>
        <p:spPr>
          <a:xfrm>
            <a:off x="6473952" y="2240280"/>
            <a:ext cx="4937760" cy="3383280"/>
          </a:xfrm>
          <a:prstGeom prst="rect">
            <a:avLst/>
          </a:prstGeom>
          <a:noFill/>
          <a:ln/>
        </p:spPr>
        <p:txBody>
          <a:bodyPr wrap="square" lIns="0" tIns="0" rIns="0" bIns="0" rtlCol="0" anchor="t"/>
          <a:lstStyle/>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Caminata: edad y talla solo por décadas. Una persona de 64 años y 163 cm se evalúa con la tabla de 60 o 70. Solución: interpolación en dos dimensiones.</a:t>
            </a:r>
            <a:endParaRPr lang="en-US" sz="1250" dirty="0"/>
          </a:p>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Silla: la tabla empieza en P10; quien rinde por debajo aparece como “Bajo” y no como “Muy bajo”. Es justo la población que más quiero detectar.</a:t>
            </a:r>
            <a:endParaRPr lang="en-US" sz="1250" dirty="0"/>
          </a:p>
          <a:p>
            <a:pPr marL="342900" indent="-342900">
              <a:spcAft>
                <a:spcPts val="600"/>
              </a:spcAft>
              <a:buSzPct val="100000"/>
              <a:buChar char="•"/>
            </a:pPr>
            <a:r>
              <a:rPr lang="en-US" sz="1250" dirty="0">
                <a:solidFill>
                  <a:srgbClr val="1B2A34"/>
                </a:solidFill>
                <a:latin typeface="Calibri" pitchFamily="34" charset="0"/>
                <a:ea typeface="Calibri" pitchFamily="34" charset="-122"/>
                <a:cs typeface="Calibri" pitchFamily="34" charset="-120"/>
              </a:rPr>
              <a:t>Población de referencia: la de caminata es alemana y sin factores de riesgo. Hay que mostrarlo en pantalla.</a:t>
            </a:r>
            <a:endParaRPr lang="en-US" sz="1250" dirty="0"/>
          </a:p>
          <a:p>
            <a:pPr marL="342900" indent="-342900">
              <a:buSzPct val="100000"/>
              <a:buChar char="•"/>
            </a:pPr>
            <a:r>
              <a:rPr lang="en-US" sz="1250" dirty="0">
                <a:solidFill>
                  <a:srgbClr val="1B2A34"/>
                </a:solidFill>
                <a:latin typeface="Calibri" pitchFamily="34" charset="0"/>
                <a:ea typeface="Calibri" pitchFamily="34" charset="-122"/>
                <a:cs typeface="Calibri" pitchFamily="34" charset="-120"/>
              </a:rPr>
              <a:t>No es un producto sanitario certificado: es apoyo a la decisión, y así debe decirlo la propia app.</a:t>
            </a:r>
            <a:endParaRPr lang="en-US" sz="1250" dirty="0"/>
          </a:p>
        </p:txBody>
      </p:sp>
      <p:sp>
        <p:nvSpPr>
          <p:cNvPr id="11" name="Text 7"/>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6 · Impacto: lo que hago con el tiempo que ya no gasto</a:t>
            </a:r>
            <a:endParaRPr lang="en-US" sz="2800" dirty="0"/>
          </a:p>
        </p:txBody>
      </p:sp>
      <p:sp>
        <p:nvSpPr>
          <p:cNvPr id="3" name="Shape 1"/>
          <p:cNvSpPr/>
          <p:nvPr/>
        </p:nvSpPr>
        <p:spPr>
          <a:xfrm>
            <a:off x="548640" y="1371600"/>
            <a:ext cx="3584448" cy="1737360"/>
          </a:xfrm>
          <a:prstGeom prst="roundRect">
            <a:avLst>
              <a:gd name="adj" fmla="val 6316"/>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77240" y="1463040"/>
            <a:ext cx="3200400" cy="91440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 20 min</a:t>
            </a:r>
            <a:endParaRPr lang="en-US" sz="4400" dirty="0"/>
          </a:p>
        </p:txBody>
      </p:sp>
      <p:sp>
        <p:nvSpPr>
          <p:cNvPr id="5" name="Text 3"/>
          <p:cNvSpPr txBox="1"/>
          <p:nvPr/>
        </p:nvSpPr>
        <p:spPr>
          <a:xfrm>
            <a:off x="777240" y="2377440"/>
            <a:ext cx="3200400" cy="5486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antes, por paciente</a:t>
            </a:r>
            <a:endParaRPr lang="en-US" sz="1300" dirty="0"/>
          </a:p>
        </p:txBody>
      </p:sp>
      <p:sp>
        <p:nvSpPr>
          <p:cNvPr id="6" name="Shape 4"/>
          <p:cNvSpPr/>
          <p:nvPr/>
        </p:nvSpPr>
        <p:spPr>
          <a:xfrm>
            <a:off x="4315968" y="1371600"/>
            <a:ext cx="3584448" cy="1737360"/>
          </a:xfrm>
          <a:prstGeom prst="roundRect">
            <a:avLst>
              <a:gd name="adj" fmla="val 6316"/>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7" name="Text 5"/>
          <p:cNvSpPr txBox="1"/>
          <p:nvPr/>
        </p:nvSpPr>
        <p:spPr>
          <a:xfrm>
            <a:off x="4544568" y="1463040"/>
            <a:ext cx="3200400" cy="914400"/>
          </a:xfrm>
          <a:prstGeom prst="rect">
            <a:avLst/>
          </a:prstGeom>
          <a:noFill/>
          <a:ln/>
        </p:spPr>
        <p:txBody>
          <a:bodyPr wrap="square" lIns="0" tIns="0" rIns="0" bIns="0" rtlCol="0" anchor="ctr"/>
          <a:lstStyle/>
          <a:p>
            <a:pPr indent="0" marL="0">
              <a:buNone/>
            </a:pPr>
            <a:r>
              <a:rPr lang="en-US" sz="4400" b="1" dirty="0">
                <a:solidFill>
                  <a:srgbClr val="0E7C86"/>
                </a:solidFill>
                <a:latin typeface="Cambria" pitchFamily="34" charset="0"/>
                <a:ea typeface="Cambria" pitchFamily="34" charset="-122"/>
                <a:cs typeface="Cambria" pitchFamily="34" charset="-120"/>
              </a:rPr>
              <a:t>&lt; 1 min</a:t>
            </a:r>
            <a:endParaRPr lang="en-US" sz="4400" dirty="0"/>
          </a:p>
        </p:txBody>
      </p:sp>
      <p:sp>
        <p:nvSpPr>
          <p:cNvPr id="8" name="Text 6"/>
          <p:cNvSpPr txBox="1"/>
          <p:nvPr/>
        </p:nvSpPr>
        <p:spPr>
          <a:xfrm>
            <a:off x="4544568" y="2377440"/>
            <a:ext cx="3200400" cy="5486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ahora, las tres pruebas</a:t>
            </a:r>
            <a:endParaRPr lang="en-US" sz="1300" dirty="0"/>
          </a:p>
        </p:txBody>
      </p:sp>
      <p:sp>
        <p:nvSpPr>
          <p:cNvPr id="9" name="Shape 7"/>
          <p:cNvSpPr/>
          <p:nvPr/>
        </p:nvSpPr>
        <p:spPr>
          <a:xfrm>
            <a:off x="8083296" y="1371600"/>
            <a:ext cx="3584448" cy="1737360"/>
          </a:xfrm>
          <a:prstGeom prst="roundRect">
            <a:avLst>
              <a:gd name="adj" fmla="val 6316"/>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0" name="Text 8"/>
          <p:cNvSpPr txBox="1"/>
          <p:nvPr/>
        </p:nvSpPr>
        <p:spPr>
          <a:xfrm>
            <a:off x="8311896" y="1463040"/>
            <a:ext cx="3200400" cy="914400"/>
          </a:xfrm>
          <a:prstGeom prst="rect">
            <a:avLst/>
          </a:prstGeom>
          <a:noFill/>
          <a:ln/>
        </p:spPr>
        <p:txBody>
          <a:bodyPr wrap="square" lIns="0" tIns="0" rIns="0" bIns="0" rtlCol="0" anchor="ctr"/>
          <a:lstStyle/>
          <a:p>
            <a:pPr indent="0" marL="0">
              <a:buNone/>
            </a:pPr>
            <a:r>
              <a:rPr lang="en-US" sz="4400" b="1" dirty="0">
                <a:solidFill>
                  <a:srgbClr val="0F2B3C"/>
                </a:solidFill>
                <a:latin typeface="Cambria" pitchFamily="34" charset="0"/>
                <a:ea typeface="Cambria" pitchFamily="34" charset="-122"/>
                <a:cs typeface="Cambria" pitchFamily="34" charset="-120"/>
              </a:rPr>
              <a:t>3 de 3</a:t>
            </a:r>
            <a:endParaRPr lang="en-US" sz="4400" dirty="0"/>
          </a:p>
        </p:txBody>
      </p:sp>
      <p:sp>
        <p:nvSpPr>
          <p:cNvPr id="11" name="Text 9"/>
          <p:cNvSpPr txBox="1"/>
          <p:nvPr/>
        </p:nvSpPr>
        <p:spPr>
          <a:xfrm>
            <a:off x="8311896" y="2377440"/>
            <a:ext cx="3200400" cy="548640"/>
          </a:xfrm>
          <a:prstGeom prst="rect">
            <a:avLst/>
          </a:prstGeom>
          <a:noFill/>
          <a:ln/>
        </p:spPr>
        <p:txBody>
          <a:bodyPr wrap="square" lIns="0" tIns="0" rIns="0" bIns="0" rtlCol="0" anchor="ctr"/>
          <a:lstStyle/>
          <a:p>
            <a:pPr indent="0" marL="0">
              <a:buNone/>
            </a:pPr>
            <a:r>
              <a:rPr lang="en-US" sz="1300" dirty="0">
                <a:solidFill>
                  <a:srgbClr val="5C6B73"/>
                </a:solidFill>
                <a:latin typeface="Calibri" pitchFamily="34" charset="0"/>
                <a:ea typeface="Calibri" pitchFamily="34" charset="-122"/>
                <a:cs typeface="Calibri" pitchFamily="34" charset="-120"/>
              </a:rPr>
              <a:t>pruebas en todas las visitas de seguimiento</a:t>
            </a:r>
            <a:endParaRPr lang="en-US" sz="1300" dirty="0"/>
          </a:p>
        </p:txBody>
      </p:sp>
      <p:sp>
        <p:nvSpPr>
          <p:cNvPr id="12" name="Shape 10"/>
          <p:cNvSpPr/>
          <p:nvPr/>
        </p:nvSpPr>
        <p:spPr>
          <a:xfrm>
            <a:off x="548640" y="3429000"/>
            <a:ext cx="594360" cy="594360"/>
          </a:xfrm>
          <a:prstGeom prst="ellipse">
            <a:avLst/>
          </a:prstGeom>
          <a:solidFill>
            <a:srgbClr val="F2F6F7"/>
          </a:solidFill>
          <a:ln w="12700">
            <a:solidFill>
              <a:srgbClr val="F2F6F7"/>
            </a:solidFill>
            <a:prstDash val="solid"/>
          </a:ln>
        </p:spPr>
      </p:sp>
      <p:pic>
        <p:nvPicPr>
          <p:cNvPr id="13" name="Image 0" descr="preencoded.png">    </p:cNvPr>
          <p:cNvPicPr>
            <a:picLocks noChangeAspect="1"/>
          </p:cNvPicPr>
          <p:nvPr/>
        </p:nvPicPr>
        <p:blipFill>
          <a:blip r:embed="rId1"/>
          <a:stretch>
            <a:fillRect/>
          </a:stretch>
        </p:blipFill>
        <p:spPr>
          <a:xfrm>
            <a:off x="679399" y="3559759"/>
            <a:ext cx="332842" cy="332842"/>
          </a:xfrm>
          <a:prstGeom prst="rect">
            <a:avLst/>
          </a:prstGeom>
        </p:spPr>
      </p:pic>
      <p:sp>
        <p:nvSpPr>
          <p:cNvPr id="14" name="Text 11"/>
          <p:cNvSpPr txBox="1"/>
          <p:nvPr/>
        </p:nvSpPr>
        <p:spPr>
          <a:xfrm>
            <a:off x="1280160" y="3401568"/>
            <a:ext cx="2834640" cy="64008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Más tiempo con la persona</a:t>
            </a:r>
            <a:endParaRPr lang="en-US" sz="1500" dirty="0"/>
          </a:p>
        </p:txBody>
      </p:sp>
      <p:sp>
        <p:nvSpPr>
          <p:cNvPr id="15" name="Text 12"/>
          <p:cNvSpPr txBox="1"/>
          <p:nvPr/>
        </p:nvSpPr>
        <p:spPr>
          <a:xfrm>
            <a:off x="548640" y="4160520"/>
            <a:ext cx="3584448" cy="137160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Los minutos que no gasto en tablas los gasto en escuchar, explicar y pactar objetivos.</a:t>
            </a:r>
            <a:endParaRPr lang="en-US" sz="1250" dirty="0"/>
          </a:p>
        </p:txBody>
      </p:sp>
      <p:sp>
        <p:nvSpPr>
          <p:cNvPr id="16" name="Shape 13"/>
          <p:cNvSpPr/>
          <p:nvPr/>
        </p:nvSpPr>
        <p:spPr>
          <a:xfrm>
            <a:off x="4315968" y="3429000"/>
            <a:ext cx="594360" cy="594360"/>
          </a:xfrm>
          <a:prstGeom prst="ellipse">
            <a:avLst/>
          </a:prstGeom>
          <a:solidFill>
            <a:srgbClr val="F2F6F7"/>
          </a:solidFill>
          <a:ln w="12700">
            <a:solidFill>
              <a:srgbClr val="F2F6F7"/>
            </a:solidFill>
            <a:prstDash val="solid"/>
          </a:ln>
        </p:spPr>
      </p:sp>
      <p:pic>
        <p:nvPicPr>
          <p:cNvPr id="17" name="Image 1" descr="preencoded.png">    </p:cNvPr>
          <p:cNvPicPr>
            <a:picLocks noChangeAspect="1"/>
          </p:cNvPicPr>
          <p:nvPr/>
        </p:nvPicPr>
        <p:blipFill>
          <a:blip r:embed="rId2"/>
          <a:stretch>
            <a:fillRect/>
          </a:stretch>
        </p:blipFill>
        <p:spPr>
          <a:xfrm>
            <a:off x="4446727" y="3559759"/>
            <a:ext cx="332842" cy="332842"/>
          </a:xfrm>
          <a:prstGeom prst="rect">
            <a:avLst/>
          </a:prstGeom>
        </p:spPr>
      </p:pic>
      <p:sp>
        <p:nvSpPr>
          <p:cNvPr id="18" name="Text 14"/>
          <p:cNvSpPr txBox="1"/>
          <p:nvPr/>
        </p:nvSpPr>
        <p:spPr>
          <a:xfrm>
            <a:off x="5047488" y="3401568"/>
            <a:ext cx="2834640" cy="64008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Seguimiento objetivo</a:t>
            </a:r>
            <a:endParaRPr lang="en-US" sz="1500" dirty="0"/>
          </a:p>
        </p:txBody>
      </p:sp>
      <p:sp>
        <p:nvSpPr>
          <p:cNvPr id="19" name="Text 15"/>
          <p:cNvSpPr txBox="1"/>
          <p:nvPr/>
        </p:nvSpPr>
        <p:spPr>
          <a:xfrm>
            <a:off x="4315968" y="4160520"/>
            <a:ext cx="3584448" cy="137160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Un percentil hoy y otro dentro de tres meses. La función mejora antes que el peso, y ahora lo puedo enseñar.</a:t>
            </a:r>
            <a:endParaRPr lang="en-US" sz="1250" dirty="0"/>
          </a:p>
        </p:txBody>
      </p:sp>
      <p:sp>
        <p:nvSpPr>
          <p:cNvPr id="20" name="Shape 16"/>
          <p:cNvSpPr/>
          <p:nvPr/>
        </p:nvSpPr>
        <p:spPr>
          <a:xfrm>
            <a:off x="8083296" y="3429000"/>
            <a:ext cx="594360" cy="594360"/>
          </a:xfrm>
          <a:prstGeom prst="ellipse">
            <a:avLst/>
          </a:prstGeom>
          <a:solidFill>
            <a:srgbClr val="F2F6F7"/>
          </a:solidFill>
          <a:ln w="12700">
            <a:solidFill>
              <a:srgbClr val="F2F6F7"/>
            </a:solidFill>
            <a:prstDash val="solid"/>
          </a:ln>
        </p:spPr>
      </p:sp>
      <p:pic>
        <p:nvPicPr>
          <p:cNvPr id="21" name="Image 2" descr="preencoded.png">    </p:cNvPr>
          <p:cNvPicPr>
            <a:picLocks noChangeAspect="1"/>
          </p:cNvPicPr>
          <p:nvPr/>
        </p:nvPicPr>
        <p:blipFill>
          <a:blip r:embed="rId3"/>
          <a:stretch>
            <a:fillRect/>
          </a:stretch>
        </p:blipFill>
        <p:spPr>
          <a:xfrm>
            <a:off x="8214055" y="3559759"/>
            <a:ext cx="332842" cy="332842"/>
          </a:xfrm>
          <a:prstGeom prst="rect">
            <a:avLst/>
          </a:prstGeom>
        </p:spPr>
      </p:pic>
      <p:sp>
        <p:nvSpPr>
          <p:cNvPr id="22" name="Text 17"/>
          <p:cNvSpPr txBox="1"/>
          <p:nvPr/>
        </p:nvSpPr>
        <p:spPr>
          <a:xfrm>
            <a:off x="8814816" y="3401568"/>
            <a:ext cx="2834640" cy="640080"/>
          </a:xfrm>
          <a:prstGeom prst="rect">
            <a:avLst/>
          </a:prstGeom>
          <a:noFill/>
          <a:ln/>
        </p:spPr>
        <p:txBody>
          <a:bodyPr wrap="square" lIns="0" tIns="0" rIns="0" bIns="0" rtlCol="0" anchor="ctr"/>
          <a:lstStyle/>
          <a:p>
            <a:pPr indent="0" marL="0">
              <a:buNone/>
            </a:pPr>
            <a:r>
              <a:rPr lang="en-US" sz="1500" b="1" dirty="0">
                <a:solidFill>
                  <a:srgbClr val="0F2B3C"/>
                </a:solidFill>
                <a:latin typeface="Cambria" pitchFamily="34" charset="0"/>
                <a:ea typeface="Cambria" pitchFamily="34" charset="-122"/>
                <a:cs typeface="Cambria" pitchFamily="34" charset="-120"/>
              </a:rPr>
              <a:t>Un lenguaje común</a:t>
            </a:r>
            <a:endParaRPr lang="en-US" sz="1500" dirty="0"/>
          </a:p>
        </p:txBody>
      </p:sp>
      <p:sp>
        <p:nvSpPr>
          <p:cNvPr id="23" name="Text 18"/>
          <p:cNvSpPr txBox="1"/>
          <p:nvPr/>
        </p:nvSpPr>
        <p:spPr>
          <a:xfrm>
            <a:off x="8083296" y="4160520"/>
            <a:ext cx="3584448" cy="1371600"/>
          </a:xfrm>
          <a:prstGeom prst="rect">
            <a:avLst/>
          </a:prstGeom>
          <a:noFill/>
          <a:ln/>
        </p:spPr>
        <p:txBody>
          <a:bodyPr wrap="square" lIns="0" tIns="0" rIns="0" bIns="0" rtlCol="0" anchor="t"/>
          <a:lstStyle/>
          <a:p>
            <a:pPr indent="0" marL="0">
              <a:buNone/>
            </a:pPr>
            <a:r>
              <a:rPr lang="en-US" sz="1250" dirty="0">
                <a:solidFill>
                  <a:srgbClr val="1B2A34"/>
                </a:solidFill>
                <a:latin typeface="Calibri" pitchFamily="34" charset="0"/>
                <a:ea typeface="Calibri" pitchFamily="34" charset="-122"/>
                <a:cs typeface="Calibri" pitchFamily="34" charset="-120"/>
              </a:rPr>
              <a:t>El semáforo lo entiende cualquiera. “Estás en naranja, vamos a por el verde” sustituye a la báscula como conversación.</a:t>
            </a:r>
            <a:endParaRPr lang="en-US" sz="1250" dirty="0"/>
          </a:p>
        </p:txBody>
      </p:sp>
      <p:sp>
        <p:nvSpPr>
          <p:cNvPr id="24" name="Text 19"/>
          <p:cNvSpPr txBox="1"/>
          <p:nvPr/>
        </p:nvSpPr>
        <p:spPr>
          <a:xfrm>
            <a:off x="548640" y="5715000"/>
            <a:ext cx="10972800" cy="320040"/>
          </a:xfrm>
          <a:prstGeom prst="rect">
            <a:avLst/>
          </a:prstGeom>
          <a:noFill/>
          <a:ln/>
        </p:spPr>
        <p:txBody>
          <a:bodyPr wrap="square" lIns="0" tIns="0" rIns="0" bIns="0" rtlCol="0" anchor="ctr"/>
          <a:lstStyle/>
          <a:p>
            <a:pPr indent="0" marL="0">
              <a:buNone/>
            </a:pPr>
            <a:r>
              <a:rPr lang="en-US" sz="1050" i="1" dirty="0">
                <a:solidFill>
                  <a:srgbClr val="5C6B73"/>
                </a:solidFill>
                <a:latin typeface="Calibri" pitchFamily="34" charset="0"/>
                <a:ea typeface="Calibri" pitchFamily="34" charset="-122"/>
                <a:cs typeface="Calibri" pitchFamily="34" charset="-120"/>
              </a:rPr>
              <a:t>Los tiempos son estimaciones propias sobre mi consulta; el impacto clínico está por medir y es el siguiente paso.</a:t>
            </a:r>
            <a:endParaRPr lang="en-US" sz="1050" dirty="0"/>
          </a:p>
        </p:txBody>
      </p:sp>
      <p:sp>
        <p:nvSpPr>
          <p:cNvPr id="25" name="Text 20"/>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7 · Escalabilidad: de mi consulta a la de cualquiera</a:t>
            </a:r>
            <a:endParaRPr lang="en-US" sz="2800" dirty="0"/>
          </a:p>
        </p:txBody>
      </p:sp>
      <p:sp>
        <p:nvSpPr>
          <p:cNvPr id="3" name="Shape 1"/>
          <p:cNvSpPr/>
          <p:nvPr/>
        </p:nvSpPr>
        <p:spPr>
          <a:xfrm>
            <a:off x="548640" y="137160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Shape 2"/>
          <p:cNvSpPr/>
          <p:nvPr/>
        </p:nvSpPr>
        <p:spPr>
          <a:xfrm>
            <a:off x="731520" y="1554480"/>
            <a:ext cx="548640" cy="548640"/>
          </a:xfrm>
          <a:prstGeom prst="ellipse">
            <a:avLst/>
          </a:prstGeom>
          <a:solidFill>
            <a:srgbClr val="F2F6F7"/>
          </a:solidFill>
          <a:ln w="12700">
            <a:solidFill>
              <a:srgbClr val="F2F6F7"/>
            </a:solidFill>
            <a:prstDash val="solid"/>
          </a:ln>
        </p:spPr>
      </p:sp>
      <p:pic>
        <p:nvPicPr>
          <p:cNvPr id="5" name="Image 0" descr="preencoded.png">    </p:cNvPr>
          <p:cNvPicPr>
            <a:picLocks noChangeAspect="1"/>
          </p:cNvPicPr>
          <p:nvPr/>
        </p:nvPicPr>
        <p:blipFill>
          <a:blip r:embed="rId1"/>
          <a:stretch>
            <a:fillRect/>
          </a:stretch>
        </p:blipFill>
        <p:spPr>
          <a:xfrm>
            <a:off x="852221" y="1675181"/>
            <a:ext cx="307238" cy="307238"/>
          </a:xfrm>
          <a:prstGeom prst="rect">
            <a:avLst/>
          </a:prstGeom>
        </p:spPr>
      </p:pic>
      <p:sp>
        <p:nvSpPr>
          <p:cNvPr id="6" name="Text 3"/>
          <p:cNvSpPr txBox="1"/>
          <p:nvPr/>
        </p:nvSpPr>
        <p:spPr>
          <a:xfrm>
            <a:off x="1417320" y="150876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Más pruebas del mismo EXERNET</a:t>
            </a:r>
            <a:endParaRPr lang="en-US" sz="1400" dirty="0"/>
          </a:p>
        </p:txBody>
      </p:sp>
      <p:sp>
        <p:nvSpPr>
          <p:cNvPr id="7" name="Text 4"/>
          <p:cNvSpPr txBox="1"/>
          <p:nvPr/>
        </p:nvSpPr>
        <p:spPr>
          <a:xfrm>
            <a:off x="731520" y="224028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Velocidad de la marcha, equilibrio monopodal, flexión de brazo y up-and-go. Las tablas ya existen y están validadas en población española.</a:t>
            </a:r>
            <a:endParaRPr lang="en-US" sz="1150" dirty="0"/>
          </a:p>
        </p:txBody>
      </p:sp>
      <p:sp>
        <p:nvSpPr>
          <p:cNvPr id="8" name="Shape 5"/>
          <p:cNvSpPr/>
          <p:nvPr/>
        </p:nvSpPr>
        <p:spPr>
          <a:xfrm>
            <a:off x="4315968" y="137160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9" name="Shape 6"/>
          <p:cNvSpPr/>
          <p:nvPr/>
        </p:nvSpPr>
        <p:spPr>
          <a:xfrm>
            <a:off x="4498848" y="1554480"/>
            <a:ext cx="548640" cy="548640"/>
          </a:xfrm>
          <a:prstGeom prst="ellipse">
            <a:avLst/>
          </a:prstGeom>
          <a:solidFill>
            <a:srgbClr val="F2F6F7"/>
          </a:solidFill>
          <a:ln w="12700">
            <a:solidFill>
              <a:srgbClr val="F2F6F7"/>
            </a:solidFill>
            <a:prstDash val="solid"/>
          </a:ln>
        </p:spPr>
      </p:sp>
      <p:pic>
        <p:nvPicPr>
          <p:cNvPr id="10" name="Image 1" descr="preencoded.png">    </p:cNvPr>
          <p:cNvPicPr>
            <a:picLocks noChangeAspect="1"/>
          </p:cNvPicPr>
          <p:nvPr/>
        </p:nvPicPr>
        <p:blipFill>
          <a:blip r:embed="rId2"/>
          <a:stretch>
            <a:fillRect/>
          </a:stretch>
        </p:blipFill>
        <p:spPr>
          <a:xfrm>
            <a:off x="4619549" y="1675181"/>
            <a:ext cx="307238" cy="307238"/>
          </a:xfrm>
          <a:prstGeom prst="rect">
            <a:avLst/>
          </a:prstGeom>
        </p:spPr>
      </p:pic>
      <p:sp>
        <p:nvSpPr>
          <p:cNvPr id="11" name="Text 7"/>
          <p:cNvSpPr txBox="1"/>
          <p:nvPr/>
        </p:nvSpPr>
        <p:spPr>
          <a:xfrm>
            <a:off x="5184648" y="150876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Informe en un clic</a:t>
            </a:r>
            <a:endParaRPr lang="en-US" sz="1400" dirty="0"/>
          </a:p>
        </p:txBody>
      </p:sp>
      <p:sp>
        <p:nvSpPr>
          <p:cNvPr id="12" name="Text 8"/>
          <p:cNvSpPr txBox="1"/>
          <p:nvPr/>
        </p:nvSpPr>
        <p:spPr>
          <a:xfrm>
            <a:off x="4498848" y="224028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PDF con los percentiles, la interpretación y las fuentes, para la historia clínica y para entregar a la persona.</a:t>
            </a:r>
            <a:endParaRPr lang="en-US" sz="1150" dirty="0"/>
          </a:p>
        </p:txBody>
      </p:sp>
      <p:sp>
        <p:nvSpPr>
          <p:cNvPr id="13" name="Shape 9"/>
          <p:cNvSpPr/>
          <p:nvPr/>
        </p:nvSpPr>
        <p:spPr>
          <a:xfrm>
            <a:off x="8083296" y="137160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4" name="Shape 10"/>
          <p:cNvSpPr/>
          <p:nvPr/>
        </p:nvSpPr>
        <p:spPr>
          <a:xfrm>
            <a:off x="8266176" y="1554480"/>
            <a:ext cx="548640" cy="548640"/>
          </a:xfrm>
          <a:prstGeom prst="ellipse">
            <a:avLst/>
          </a:prstGeom>
          <a:solidFill>
            <a:srgbClr val="F2F6F7"/>
          </a:solidFill>
          <a:ln w="12700">
            <a:solidFill>
              <a:srgbClr val="F2F6F7"/>
            </a:solidFill>
            <a:prstDash val="solid"/>
          </a:ln>
        </p:spPr>
      </p:sp>
      <p:pic>
        <p:nvPicPr>
          <p:cNvPr id="15" name="Image 2" descr="preencoded.png">    </p:cNvPr>
          <p:cNvPicPr>
            <a:picLocks noChangeAspect="1"/>
          </p:cNvPicPr>
          <p:nvPr/>
        </p:nvPicPr>
        <p:blipFill>
          <a:blip r:embed="rId3"/>
          <a:stretch>
            <a:fillRect/>
          </a:stretch>
        </p:blipFill>
        <p:spPr>
          <a:xfrm>
            <a:off x="8386877" y="1675181"/>
            <a:ext cx="307238" cy="307238"/>
          </a:xfrm>
          <a:prstGeom prst="rect">
            <a:avLst/>
          </a:prstGeom>
        </p:spPr>
      </p:pic>
      <p:sp>
        <p:nvSpPr>
          <p:cNvPr id="16" name="Text 11"/>
          <p:cNvSpPr txBox="1"/>
          <p:nvPr/>
        </p:nvSpPr>
        <p:spPr>
          <a:xfrm>
            <a:off x="8951976" y="150876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Prensión normalizada por talla</a:t>
            </a:r>
            <a:endParaRPr lang="en-US" sz="1400" dirty="0"/>
          </a:p>
        </p:txBody>
      </p:sp>
      <p:sp>
        <p:nvSpPr>
          <p:cNvPr id="17" name="Text 12"/>
          <p:cNvSpPr txBox="1"/>
          <p:nvPr/>
        </p:nvSpPr>
        <p:spPr>
          <a:xfrm>
            <a:off x="8266176" y="224028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La fuente internacional ya la ofrece. En obesidad, la fuerza relativa dice más que la absoluta.</a:t>
            </a:r>
            <a:endParaRPr lang="en-US" sz="1150" dirty="0"/>
          </a:p>
        </p:txBody>
      </p:sp>
      <p:sp>
        <p:nvSpPr>
          <p:cNvPr id="18" name="Shape 13"/>
          <p:cNvSpPr/>
          <p:nvPr/>
        </p:nvSpPr>
        <p:spPr>
          <a:xfrm>
            <a:off x="548640" y="361188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9" name="Shape 14"/>
          <p:cNvSpPr/>
          <p:nvPr/>
        </p:nvSpPr>
        <p:spPr>
          <a:xfrm>
            <a:off x="731520" y="3794760"/>
            <a:ext cx="548640" cy="548640"/>
          </a:xfrm>
          <a:prstGeom prst="ellipse">
            <a:avLst/>
          </a:prstGeom>
          <a:solidFill>
            <a:srgbClr val="F2F6F7"/>
          </a:solidFill>
          <a:ln w="12700">
            <a:solidFill>
              <a:srgbClr val="F2F6F7"/>
            </a:solidFill>
            <a:prstDash val="solid"/>
          </a:ln>
        </p:spPr>
      </p:sp>
      <p:pic>
        <p:nvPicPr>
          <p:cNvPr id="20" name="Image 3" descr="preencoded.png">    </p:cNvPr>
          <p:cNvPicPr>
            <a:picLocks noChangeAspect="1"/>
          </p:cNvPicPr>
          <p:nvPr/>
        </p:nvPicPr>
        <p:blipFill>
          <a:blip r:embed="rId4"/>
          <a:stretch>
            <a:fillRect/>
          </a:stretch>
        </p:blipFill>
        <p:spPr>
          <a:xfrm>
            <a:off x="852221" y="3915461"/>
            <a:ext cx="307238" cy="307238"/>
          </a:xfrm>
          <a:prstGeom prst="rect">
            <a:avLst/>
          </a:prstGeom>
        </p:spPr>
      </p:pic>
      <p:sp>
        <p:nvSpPr>
          <p:cNvPr id="21" name="Text 15"/>
          <p:cNvSpPr txBox="1"/>
          <p:nvPr/>
        </p:nvSpPr>
        <p:spPr>
          <a:xfrm>
            <a:off x="1417320" y="374904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Interpolación completa y avisos</a:t>
            </a:r>
            <a:endParaRPr lang="en-US" sz="1400" dirty="0"/>
          </a:p>
        </p:txBody>
      </p:sp>
      <p:sp>
        <p:nvSpPr>
          <p:cNvPr id="22" name="Text 16"/>
          <p:cNvSpPr txBox="1"/>
          <p:nvPr/>
        </p:nvSpPr>
        <p:spPr>
          <a:xfrm>
            <a:off x="731520" y="448056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Edad y talla continuas en la caminata, etiqueta correcta en los extremos, población de referencia visible.</a:t>
            </a:r>
            <a:endParaRPr lang="en-US" sz="1150" dirty="0"/>
          </a:p>
        </p:txBody>
      </p:sp>
      <p:sp>
        <p:nvSpPr>
          <p:cNvPr id="23" name="Shape 17"/>
          <p:cNvSpPr/>
          <p:nvPr/>
        </p:nvSpPr>
        <p:spPr>
          <a:xfrm>
            <a:off x="4315968" y="361188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4" name="Shape 18"/>
          <p:cNvSpPr/>
          <p:nvPr/>
        </p:nvSpPr>
        <p:spPr>
          <a:xfrm>
            <a:off x="4498848" y="3794760"/>
            <a:ext cx="548640" cy="548640"/>
          </a:xfrm>
          <a:prstGeom prst="ellipse">
            <a:avLst/>
          </a:prstGeom>
          <a:solidFill>
            <a:srgbClr val="F2F6F7"/>
          </a:solidFill>
          <a:ln w="12700">
            <a:solidFill>
              <a:srgbClr val="F2F6F7"/>
            </a:solidFill>
            <a:prstDash val="solid"/>
          </a:ln>
        </p:spPr>
      </p:sp>
      <p:pic>
        <p:nvPicPr>
          <p:cNvPr id="25" name="Image 4" descr="preencoded.png">    </p:cNvPr>
          <p:cNvPicPr>
            <a:picLocks noChangeAspect="1"/>
          </p:cNvPicPr>
          <p:nvPr/>
        </p:nvPicPr>
        <p:blipFill>
          <a:blip r:embed="rId5"/>
          <a:stretch>
            <a:fillRect/>
          </a:stretch>
        </p:blipFill>
        <p:spPr>
          <a:xfrm>
            <a:off x="4619549" y="3915461"/>
            <a:ext cx="307238" cy="307238"/>
          </a:xfrm>
          <a:prstGeom prst="rect">
            <a:avLst/>
          </a:prstGeom>
        </p:spPr>
      </p:pic>
      <p:sp>
        <p:nvSpPr>
          <p:cNvPr id="26" name="Text 19"/>
          <p:cNvSpPr txBox="1"/>
          <p:nvPr/>
        </p:nvSpPr>
        <p:spPr>
          <a:xfrm>
            <a:off x="5184648" y="374904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Abierta a otros centros</a:t>
            </a:r>
            <a:endParaRPr lang="en-US" sz="1400" dirty="0"/>
          </a:p>
        </p:txBody>
      </p:sp>
      <p:sp>
        <p:nvSpPr>
          <p:cNvPr id="27" name="Text 20"/>
          <p:cNvSpPr txBox="1"/>
          <p:nvPr/>
        </p:nvSpPr>
        <p:spPr>
          <a:xfrm>
            <a:off x="4498848" y="448056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Código abierto en GitHub. Cualquier equipo de Atención Primaria puede usarla hoy o adaptarla a sus propias tablas.</a:t>
            </a:r>
            <a:endParaRPr lang="en-US" sz="1150" dirty="0"/>
          </a:p>
        </p:txBody>
      </p:sp>
      <p:sp>
        <p:nvSpPr>
          <p:cNvPr id="28" name="Shape 21"/>
          <p:cNvSpPr/>
          <p:nvPr/>
        </p:nvSpPr>
        <p:spPr>
          <a:xfrm>
            <a:off x="8083296" y="3611880"/>
            <a:ext cx="3584448"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9" name="Shape 22"/>
          <p:cNvSpPr/>
          <p:nvPr/>
        </p:nvSpPr>
        <p:spPr>
          <a:xfrm>
            <a:off x="8266176" y="3794760"/>
            <a:ext cx="548640" cy="548640"/>
          </a:xfrm>
          <a:prstGeom prst="ellipse">
            <a:avLst/>
          </a:prstGeom>
          <a:solidFill>
            <a:srgbClr val="F2F6F7"/>
          </a:solidFill>
          <a:ln w="12700">
            <a:solidFill>
              <a:srgbClr val="F2F6F7"/>
            </a:solidFill>
            <a:prstDash val="solid"/>
          </a:ln>
        </p:spPr>
      </p:sp>
      <p:pic>
        <p:nvPicPr>
          <p:cNvPr id="30" name="Image 5" descr="preencoded.png">    </p:cNvPr>
          <p:cNvPicPr>
            <a:picLocks noChangeAspect="1"/>
          </p:cNvPicPr>
          <p:nvPr/>
        </p:nvPicPr>
        <p:blipFill>
          <a:blip r:embed="rId6"/>
          <a:stretch>
            <a:fillRect/>
          </a:stretch>
        </p:blipFill>
        <p:spPr>
          <a:xfrm>
            <a:off x="8386877" y="3915461"/>
            <a:ext cx="307238" cy="307238"/>
          </a:xfrm>
          <a:prstGeom prst="rect">
            <a:avLst/>
          </a:prstGeom>
        </p:spPr>
      </p:pic>
      <p:sp>
        <p:nvSpPr>
          <p:cNvPr id="31" name="Text 23"/>
          <p:cNvSpPr txBox="1"/>
          <p:nvPr/>
        </p:nvSpPr>
        <p:spPr>
          <a:xfrm>
            <a:off x="8951976" y="3749040"/>
            <a:ext cx="2606040" cy="640080"/>
          </a:xfrm>
          <a:prstGeom prst="rect">
            <a:avLst/>
          </a:prstGeom>
          <a:noFill/>
          <a:ln/>
        </p:spPr>
        <p:txBody>
          <a:bodyPr wrap="square" lIns="0" tIns="0" rIns="0" bIns="0" rtlCol="0" anchor="ctr"/>
          <a:lstStyle/>
          <a:p>
            <a:pPr indent="0" marL="0">
              <a:buNone/>
            </a:pPr>
            <a:r>
              <a:rPr lang="en-US" sz="1400" b="1" dirty="0">
                <a:solidFill>
                  <a:srgbClr val="0F2B3C"/>
                </a:solidFill>
                <a:latin typeface="Cambria" pitchFamily="34" charset="0"/>
                <a:ea typeface="Cambria" pitchFamily="34" charset="-122"/>
                <a:cs typeface="Cambria" pitchFamily="34" charset="-120"/>
              </a:rPr>
              <a:t>Puente a la docencia</a:t>
            </a:r>
            <a:endParaRPr lang="en-US" sz="1400" dirty="0"/>
          </a:p>
        </p:txBody>
      </p:sp>
      <p:sp>
        <p:nvSpPr>
          <p:cNvPr id="32" name="Text 24"/>
          <p:cNvSpPr txBox="1"/>
          <p:nvPr/>
        </p:nvSpPr>
        <p:spPr>
          <a:xfrm>
            <a:off x="8266176" y="4480560"/>
            <a:ext cx="3200400" cy="1097280"/>
          </a:xfrm>
          <a:prstGeom prst="rect">
            <a:avLst/>
          </a:prstGeom>
          <a:noFill/>
          <a:ln/>
        </p:spPr>
        <p:txBody>
          <a:bodyPr wrap="square" lIns="0" tIns="0" rIns="0" bIns="0" rtlCol="0" anchor="t"/>
          <a:lstStyle/>
          <a:p>
            <a:pPr indent="0" marL="0">
              <a:buNone/>
            </a:pPr>
            <a:r>
              <a:rPr lang="en-US" sz="1150" dirty="0">
                <a:solidFill>
                  <a:srgbClr val="1B2A34"/>
                </a:solidFill>
                <a:latin typeface="Calibri" pitchFamily="34" charset="0"/>
                <a:ea typeface="Calibri" pitchFamily="34" charset="-122"/>
                <a:cs typeface="Calibri" pitchFamily="34" charset="-120"/>
              </a:rPr>
              <a:t>Caso de uso real para enseñar a médicos de familia cómo construir herramientas con IA sin delegar la medicina.</a:t>
            </a:r>
            <a:endParaRPr lang="en-US" sz="1150" dirty="0"/>
          </a:p>
        </p:txBody>
      </p:sp>
      <p:sp>
        <p:nvSpPr>
          <p:cNvPr id="33" name="Text 25"/>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Lo que me llevo del curso, y dónde lo apliqué</a:t>
            </a:r>
            <a:endParaRPr lang="en-US" sz="2800" dirty="0"/>
          </a:p>
        </p:txBody>
      </p:sp>
      <p:sp>
        <p:nvSpPr>
          <p:cNvPr id="3" name="Shape 1"/>
          <p:cNvSpPr/>
          <p:nvPr/>
        </p:nvSpPr>
        <p:spPr>
          <a:xfrm>
            <a:off x="548640" y="1371600"/>
            <a:ext cx="2651760"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4" name="Text 2"/>
          <p:cNvSpPr txBox="1"/>
          <p:nvPr/>
        </p:nvSpPr>
        <p:spPr>
          <a:xfrm>
            <a:off x="731520" y="150876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M2</a:t>
            </a:r>
            <a:endParaRPr lang="en-US" sz="1000" dirty="0"/>
          </a:p>
        </p:txBody>
      </p:sp>
      <p:sp>
        <p:nvSpPr>
          <p:cNvPr id="5" name="Text 3"/>
          <p:cNvSpPr txBox="1"/>
          <p:nvPr/>
        </p:nvSpPr>
        <p:spPr>
          <a:xfrm>
            <a:off x="731520" y="178308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Prompt estructurado</a:t>
            </a:r>
            <a:endParaRPr lang="en-US" sz="1350" dirty="0"/>
          </a:p>
        </p:txBody>
      </p:sp>
      <p:sp>
        <p:nvSpPr>
          <p:cNvPr id="6" name="Text 4"/>
          <p:cNvSpPr txBox="1"/>
          <p:nvPr/>
        </p:nvSpPr>
        <p:spPr>
          <a:xfrm>
            <a:off x="731520" y="233172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Rol, contexto, tarea, formato, restricciones. Sin él, el chat me daba código genérico y opiniones clínicas que no le pedí.</a:t>
            </a:r>
            <a:endParaRPr lang="en-US" sz="1050" dirty="0"/>
          </a:p>
        </p:txBody>
      </p:sp>
      <p:sp>
        <p:nvSpPr>
          <p:cNvPr id="7" name="Shape 5"/>
          <p:cNvSpPr/>
          <p:nvPr/>
        </p:nvSpPr>
        <p:spPr>
          <a:xfrm>
            <a:off x="3364992" y="1371600"/>
            <a:ext cx="2651760"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8" name="Text 6"/>
          <p:cNvSpPr txBox="1"/>
          <p:nvPr/>
        </p:nvSpPr>
        <p:spPr>
          <a:xfrm>
            <a:off x="3547872" y="150876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M2</a:t>
            </a:r>
            <a:endParaRPr lang="en-US" sz="1000" dirty="0"/>
          </a:p>
        </p:txBody>
      </p:sp>
      <p:sp>
        <p:nvSpPr>
          <p:cNvPr id="9" name="Text 7"/>
          <p:cNvSpPr txBox="1"/>
          <p:nvPr/>
        </p:nvSpPr>
        <p:spPr>
          <a:xfrm>
            <a:off x="3547872" y="178308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Few-shot con mis documentos</a:t>
            </a:r>
            <a:endParaRPr lang="en-US" sz="1350" dirty="0"/>
          </a:p>
        </p:txBody>
      </p:sp>
      <p:sp>
        <p:nvSpPr>
          <p:cNvPr id="10" name="Text 8"/>
          <p:cNvSpPr txBox="1"/>
          <p:nvPr/>
        </p:nvSpPr>
        <p:spPr>
          <a:xfrm>
            <a:off x="3547872" y="233172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Cartas y hojas de paciente con mi estilo, a partir de dos ejemplos anonimizados. Ahora suenan a mí.</a:t>
            </a:r>
            <a:endParaRPr lang="en-US" sz="1050" dirty="0"/>
          </a:p>
        </p:txBody>
      </p:sp>
      <p:sp>
        <p:nvSpPr>
          <p:cNvPr id="11" name="Shape 9"/>
          <p:cNvSpPr/>
          <p:nvPr/>
        </p:nvSpPr>
        <p:spPr>
          <a:xfrm>
            <a:off x="6181344" y="1371600"/>
            <a:ext cx="2651760"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2" name="Text 10"/>
          <p:cNvSpPr txBox="1"/>
          <p:nvPr/>
        </p:nvSpPr>
        <p:spPr>
          <a:xfrm>
            <a:off x="6364224" y="150876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M2 · M4</a:t>
            </a:r>
            <a:endParaRPr lang="en-US" sz="1000" dirty="0"/>
          </a:p>
        </p:txBody>
      </p:sp>
      <p:sp>
        <p:nvSpPr>
          <p:cNvPr id="13" name="Text 11"/>
          <p:cNvSpPr txBox="1"/>
          <p:nvPr/>
        </p:nvSpPr>
        <p:spPr>
          <a:xfrm>
            <a:off x="6364224" y="178308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Cadena de prompts y autocrítica</a:t>
            </a:r>
            <a:endParaRPr lang="en-US" sz="1350" dirty="0"/>
          </a:p>
        </p:txBody>
      </p:sp>
      <p:sp>
        <p:nvSpPr>
          <p:cNvPr id="14" name="Text 12"/>
          <p:cNvSpPr txBox="1"/>
          <p:nvPr/>
        </p:nvSpPr>
        <p:spPr>
          <a:xfrm>
            <a:off x="6364224" y="233172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Estructurar, generar, criticar, corregir. Pedirle que cambie de papel y busque sus propios errores.</a:t>
            </a:r>
            <a:endParaRPr lang="en-US" sz="1050" dirty="0"/>
          </a:p>
        </p:txBody>
      </p:sp>
      <p:sp>
        <p:nvSpPr>
          <p:cNvPr id="15" name="Shape 13"/>
          <p:cNvSpPr/>
          <p:nvPr/>
        </p:nvSpPr>
        <p:spPr>
          <a:xfrm>
            <a:off x="8997696" y="1371600"/>
            <a:ext cx="2651760" cy="2057400"/>
          </a:xfrm>
          <a:prstGeom prst="roundRect">
            <a:avLst>
              <a:gd name="adj" fmla="val 5333"/>
            </a:avLst>
          </a:prstGeom>
          <a:solidFill>
            <a:srgbClr val="FFFFFF"/>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16" name="Text 14"/>
          <p:cNvSpPr txBox="1"/>
          <p:nvPr/>
        </p:nvSpPr>
        <p:spPr>
          <a:xfrm>
            <a:off x="9180576" y="150876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M4</a:t>
            </a:r>
            <a:endParaRPr lang="en-US" sz="1000" dirty="0"/>
          </a:p>
        </p:txBody>
      </p:sp>
      <p:sp>
        <p:nvSpPr>
          <p:cNvPr id="17" name="Text 15"/>
          <p:cNvSpPr txBox="1"/>
          <p:nvPr/>
        </p:nvSpPr>
        <p:spPr>
          <a:xfrm>
            <a:off x="9180576" y="178308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Separar hechos, inferencias y dudas</a:t>
            </a:r>
            <a:endParaRPr lang="en-US" sz="1350" dirty="0"/>
          </a:p>
        </p:txBody>
      </p:sp>
      <p:sp>
        <p:nvSpPr>
          <p:cNvPr id="18" name="Text 16"/>
          <p:cNvSpPr txBox="1"/>
          <p:nvPr/>
        </p:nvSpPr>
        <p:spPr>
          <a:xfrm>
            <a:off x="9180576" y="233172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“No cierres el diagnóstico.” El modelo debe saber decir no lo sé; yo aprendí a exigírselo.</a:t>
            </a:r>
            <a:endParaRPr lang="en-US" sz="1050" dirty="0"/>
          </a:p>
        </p:txBody>
      </p:sp>
      <p:sp>
        <p:nvSpPr>
          <p:cNvPr id="19" name="Shape 17"/>
          <p:cNvSpPr/>
          <p:nvPr/>
        </p:nvSpPr>
        <p:spPr>
          <a:xfrm>
            <a:off x="548640" y="3611880"/>
            <a:ext cx="2651760" cy="2057400"/>
          </a:xfrm>
          <a:prstGeom prst="roundRect">
            <a:avLst>
              <a:gd name="adj" fmla="val 5333"/>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0" name="Text 18"/>
          <p:cNvSpPr txBox="1"/>
          <p:nvPr/>
        </p:nvSpPr>
        <p:spPr>
          <a:xfrm>
            <a:off x="731520" y="374904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M3</a:t>
            </a:r>
            <a:endParaRPr lang="en-US" sz="1000" dirty="0"/>
          </a:p>
        </p:txBody>
      </p:sp>
      <p:sp>
        <p:nvSpPr>
          <p:cNvPr id="21" name="Text 19"/>
          <p:cNvSpPr txBox="1"/>
          <p:nvPr/>
        </p:nvSpPr>
        <p:spPr>
          <a:xfrm>
            <a:off x="731520" y="402336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Búsqueda de evidencia</a:t>
            </a:r>
            <a:endParaRPr lang="en-US" sz="1350" dirty="0"/>
          </a:p>
        </p:txBody>
      </p:sp>
      <p:sp>
        <p:nvSpPr>
          <p:cNvPr id="22" name="Text 20"/>
          <p:cNvSpPr txBox="1"/>
          <p:nvPr/>
        </p:nvSpPr>
        <p:spPr>
          <a:xfrm>
            <a:off x="731520" y="457200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Consensus, Elicit, Scite y OpenEvidence para encontrar y verificar las fuentes. Ninguna cita sin comprobar.</a:t>
            </a:r>
            <a:endParaRPr lang="en-US" sz="1050" dirty="0"/>
          </a:p>
        </p:txBody>
      </p:sp>
      <p:sp>
        <p:nvSpPr>
          <p:cNvPr id="23" name="Shape 21"/>
          <p:cNvSpPr/>
          <p:nvPr/>
        </p:nvSpPr>
        <p:spPr>
          <a:xfrm>
            <a:off x="3364992" y="3611880"/>
            <a:ext cx="2651760" cy="2057400"/>
          </a:xfrm>
          <a:prstGeom prst="roundRect">
            <a:avLst>
              <a:gd name="adj" fmla="val 5333"/>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4" name="Text 22"/>
          <p:cNvSpPr txBox="1"/>
          <p:nvPr/>
        </p:nvSpPr>
        <p:spPr>
          <a:xfrm>
            <a:off x="3547872" y="374904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M2</a:t>
            </a:r>
            <a:endParaRPr lang="en-US" sz="1000" dirty="0"/>
          </a:p>
        </p:txBody>
      </p:sp>
      <p:sp>
        <p:nvSpPr>
          <p:cNvPr id="25" name="Text 23"/>
          <p:cNvSpPr txBox="1"/>
          <p:nvPr/>
        </p:nvSpPr>
        <p:spPr>
          <a:xfrm>
            <a:off x="3547872" y="402336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Ventana de contexto</a:t>
            </a:r>
            <a:endParaRPr lang="en-US" sz="1350" dirty="0"/>
          </a:p>
        </p:txBody>
      </p:sp>
      <p:sp>
        <p:nvSpPr>
          <p:cNvPr id="26" name="Text 24"/>
          <p:cNvSpPr txBox="1"/>
          <p:nvPr/>
        </p:nvSpPr>
        <p:spPr>
          <a:xfrm>
            <a:off x="3547872" y="457200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“Lost in the middle”: si el dato está enterrado, dirijo la atención al día concreto. Lo aplico a evoluciones largas.</a:t>
            </a:r>
            <a:endParaRPr lang="en-US" sz="1050" dirty="0"/>
          </a:p>
        </p:txBody>
      </p:sp>
      <p:sp>
        <p:nvSpPr>
          <p:cNvPr id="27" name="Shape 25"/>
          <p:cNvSpPr/>
          <p:nvPr/>
        </p:nvSpPr>
        <p:spPr>
          <a:xfrm>
            <a:off x="6181344" y="3611880"/>
            <a:ext cx="2651760" cy="2057400"/>
          </a:xfrm>
          <a:prstGeom prst="roundRect">
            <a:avLst>
              <a:gd name="adj" fmla="val 5333"/>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28" name="Text 26"/>
          <p:cNvSpPr txBox="1"/>
          <p:nvPr/>
        </p:nvSpPr>
        <p:spPr>
          <a:xfrm>
            <a:off x="6364224" y="374904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M6</a:t>
            </a:r>
            <a:endParaRPr lang="en-US" sz="1000" dirty="0"/>
          </a:p>
        </p:txBody>
      </p:sp>
      <p:sp>
        <p:nvSpPr>
          <p:cNvPr id="29" name="Text 27"/>
          <p:cNvSpPr txBox="1"/>
          <p:nvPr/>
        </p:nvSpPr>
        <p:spPr>
          <a:xfrm>
            <a:off x="6364224" y="402336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Agentes con supervisión</a:t>
            </a:r>
            <a:endParaRPr lang="en-US" sz="1350" dirty="0"/>
          </a:p>
        </p:txBody>
      </p:sp>
      <p:sp>
        <p:nvSpPr>
          <p:cNvPr id="30" name="Text 28"/>
          <p:cNvSpPr txBox="1"/>
          <p:nvPr/>
        </p:nvSpPr>
        <p:spPr>
          <a:xfrm>
            <a:off x="6364224" y="457200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Objetivo, herramientas y memoria, pero cada acción pasa por mí. Las cinco preguntas éticas: autonomía, responsabilidad, supervisión, consentimiento, equidad.</a:t>
            </a:r>
            <a:endParaRPr lang="en-US" sz="1050" dirty="0"/>
          </a:p>
        </p:txBody>
      </p:sp>
      <p:sp>
        <p:nvSpPr>
          <p:cNvPr id="31" name="Shape 29"/>
          <p:cNvSpPr/>
          <p:nvPr/>
        </p:nvSpPr>
        <p:spPr>
          <a:xfrm>
            <a:off x="8997696" y="3611880"/>
            <a:ext cx="2651760" cy="2057400"/>
          </a:xfrm>
          <a:prstGeom prst="roundRect">
            <a:avLst>
              <a:gd name="adj" fmla="val 5333"/>
            </a:avLst>
          </a:prstGeom>
          <a:solidFill>
            <a:srgbClr val="F2F6F7"/>
          </a:solidFill>
          <a:ln w="9525">
            <a:solidFill>
              <a:srgbClr val="E1E8EB"/>
            </a:solidFill>
            <a:prstDash val="solid"/>
          </a:ln>
          <a:effectLst>
            <a:outerShdw sx="100000" sy="100000" kx="0" ky="0" algn="bl" rotWithShape="0" blurRad="76200" dist="25400" dir="5400000">
              <a:srgbClr val="000000">
                <a:alpha val="10000"/>
              </a:srgbClr>
            </a:outerShdw>
          </a:effectLst>
        </p:spPr>
      </p:sp>
      <p:sp>
        <p:nvSpPr>
          <p:cNvPr id="32" name="Text 30"/>
          <p:cNvSpPr txBox="1"/>
          <p:nvPr/>
        </p:nvSpPr>
        <p:spPr>
          <a:xfrm>
            <a:off x="9180576" y="3749040"/>
            <a:ext cx="1097280" cy="274320"/>
          </a:xfrm>
          <a:prstGeom prst="rect">
            <a:avLst/>
          </a:prstGeom>
          <a:noFill/>
          <a:ln/>
        </p:spPr>
        <p:txBody>
          <a:bodyPr wrap="square" lIns="0" tIns="0" rIns="0" bIns="0" rtlCol="0" anchor="ctr"/>
          <a:lstStyle/>
          <a:p>
            <a:pPr indent="0" marL="0">
              <a:buNone/>
            </a:pPr>
            <a:r>
              <a:rPr lang="en-US" sz="1000" b="1" dirty="0">
                <a:solidFill>
                  <a:srgbClr val="22B8CF"/>
                </a:solidFill>
                <a:latin typeface="Calibri" pitchFamily="34" charset="0"/>
                <a:ea typeface="Calibri" pitchFamily="34" charset="-122"/>
                <a:cs typeface="Calibri" pitchFamily="34" charset="-120"/>
              </a:rPr>
              <a:t>M4</a:t>
            </a:r>
            <a:endParaRPr lang="en-US" sz="1000" dirty="0"/>
          </a:p>
        </p:txBody>
      </p:sp>
      <p:sp>
        <p:nvSpPr>
          <p:cNvPr id="33" name="Text 31"/>
          <p:cNvSpPr txBox="1"/>
          <p:nvPr/>
        </p:nvSpPr>
        <p:spPr>
          <a:xfrm>
            <a:off x="9180576" y="4023360"/>
            <a:ext cx="2331720" cy="548640"/>
          </a:xfrm>
          <a:prstGeom prst="rect">
            <a:avLst/>
          </a:prstGeom>
          <a:noFill/>
          <a:ln/>
        </p:spPr>
        <p:txBody>
          <a:bodyPr wrap="square" lIns="0" tIns="0" rIns="0" bIns="0" rtlCol="0" anchor="t"/>
          <a:lstStyle/>
          <a:p>
            <a:pPr indent="0" marL="0">
              <a:buNone/>
            </a:pPr>
            <a:r>
              <a:rPr lang="en-US" sz="1350" b="1" dirty="0">
                <a:solidFill>
                  <a:srgbClr val="0F2B3C"/>
                </a:solidFill>
                <a:latin typeface="Cambria" pitchFamily="34" charset="0"/>
                <a:ea typeface="Cambria" pitchFamily="34" charset="-122"/>
                <a:cs typeface="Cambria" pitchFamily="34" charset="-120"/>
              </a:rPr>
              <a:t>Qué nivel de IA exige la tarea</a:t>
            </a:r>
            <a:endParaRPr lang="en-US" sz="1350" dirty="0"/>
          </a:p>
        </p:txBody>
      </p:sp>
      <p:sp>
        <p:nvSpPr>
          <p:cNvPr id="34" name="Text 32"/>
          <p:cNvSpPr txBox="1"/>
          <p:nvPr/>
        </p:nvSpPr>
        <p:spPr>
          <a:xfrm>
            <a:off x="9180576" y="4572000"/>
            <a:ext cx="2331720" cy="1051560"/>
          </a:xfrm>
          <a:prstGeom prst="rect">
            <a:avLst/>
          </a:prstGeom>
          <a:noFill/>
          <a:ln/>
        </p:spPr>
        <p:txBody>
          <a:bodyPr wrap="square" lIns="0" tIns="0" rIns="0" bIns="0" rtlCol="0" anchor="t"/>
          <a:lstStyle/>
          <a:p>
            <a:pPr indent="0" marL="0">
              <a:buNone/>
            </a:pPr>
            <a:r>
              <a:rPr lang="en-US" sz="1050" dirty="0">
                <a:solidFill>
                  <a:srgbClr val="1B2A34"/>
                </a:solidFill>
                <a:latin typeface="Calibri" pitchFamily="34" charset="0"/>
                <a:ea typeface="Calibri" pitchFamily="34" charset="-122"/>
                <a:cs typeface="Calibri" pitchFamily="34" charset="-120"/>
              </a:rPr>
              <a:t>Gratuita para redactar; frontera para razonar; local si el dato es sensible. No todo es “la IA”.</a:t>
            </a:r>
            <a:endParaRPr lang="en-US" sz="1050" dirty="0"/>
          </a:p>
        </p:txBody>
      </p:sp>
      <p:sp>
        <p:nvSpPr>
          <p:cNvPr id="35" name="Text 33"/>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11091672" cy="1005840"/>
          </a:xfrm>
          <a:prstGeom prst="rect">
            <a:avLst/>
          </a:prstGeom>
          <a:noFill/>
          <a:ln/>
        </p:spPr>
        <p:txBody>
          <a:bodyPr wrap="square" lIns="0" tIns="0" rIns="0" bIns="0" rtlCol="0" anchor="ctr"/>
          <a:lstStyle/>
          <a:p>
            <a:pPr indent="0" marL="0">
              <a:buNone/>
            </a:pPr>
            <a:r>
              <a:rPr lang="en-US" sz="2800" b="1" dirty="0">
                <a:solidFill>
                  <a:srgbClr val="0F2B3C"/>
                </a:solidFill>
                <a:latin typeface="Cambria" pitchFamily="34" charset="0"/>
                <a:ea typeface="Cambria" pitchFamily="34" charset="-122"/>
                <a:cs typeface="Cambria" pitchFamily="34" charset="-120"/>
              </a:rPr>
              <a:t>Mis reglas de seguridad, en una sola pantalla</a:t>
            </a:r>
            <a:endParaRPr lang="en-US" sz="2800" dirty="0"/>
          </a:p>
        </p:txBody>
      </p:sp>
      <p:sp>
        <p:nvSpPr>
          <p:cNvPr id="3" name="Shape 1"/>
          <p:cNvSpPr/>
          <p:nvPr/>
        </p:nvSpPr>
        <p:spPr>
          <a:xfrm>
            <a:off x="548640" y="1417320"/>
            <a:ext cx="5422392" cy="1097280"/>
          </a:xfrm>
          <a:prstGeom prst="roundRect">
            <a:avLst>
              <a:gd name="adj" fmla="val 10000"/>
            </a:avLst>
          </a:prstGeom>
          <a:solidFill>
            <a:srgbClr val="FDF1EC"/>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4" name="Image 0" descr="preencoded.png">    </p:cNvPr>
          <p:cNvPicPr>
            <a:picLocks noChangeAspect="1"/>
          </p:cNvPicPr>
          <p:nvPr/>
        </p:nvPicPr>
        <p:blipFill>
          <a:blip r:embed="rId1"/>
          <a:stretch>
            <a:fillRect/>
          </a:stretch>
        </p:blipFill>
        <p:spPr>
          <a:xfrm>
            <a:off x="822960" y="1737360"/>
            <a:ext cx="457200" cy="457200"/>
          </a:xfrm>
          <a:prstGeom prst="rect">
            <a:avLst/>
          </a:prstGeom>
        </p:spPr>
      </p:pic>
      <p:sp>
        <p:nvSpPr>
          <p:cNvPr id="5" name="Text 2"/>
          <p:cNvSpPr txBox="1"/>
          <p:nvPr/>
        </p:nvSpPr>
        <p:spPr>
          <a:xfrm>
            <a:off x="1463040" y="155448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Nunca datos identificables en herramientas de consumo. Anonimizo, elimino metadatos y, si dudo, no subo.</a:t>
            </a:r>
            <a:endParaRPr lang="en-US" sz="1300" dirty="0"/>
          </a:p>
        </p:txBody>
      </p:sp>
      <p:sp>
        <p:nvSpPr>
          <p:cNvPr id="6" name="Shape 3"/>
          <p:cNvSpPr/>
          <p:nvPr/>
        </p:nvSpPr>
        <p:spPr>
          <a:xfrm>
            <a:off x="548640" y="2697480"/>
            <a:ext cx="5422392" cy="1097280"/>
          </a:xfrm>
          <a:prstGeom prst="roundRect">
            <a:avLst>
              <a:gd name="adj" fmla="val 10000"/>
            </a:avLst>
          </a:prstGeom>
          <a:solidFill>
            <a:srgbClr val="FDF1EC"/>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7" name="Image 1" descr="preencoded.png">    </p:cNvPr>
          <p:cNvPicPr>
            <a:picLocks noChangeAspect="1"/>
          </p:cNvPicPr>
          <p:nvPr/>
        </p:nvPicPr>
        <p:blipFill>
          <a:blip r:embed="rId2"/>
          <a:stretch>
            <a:fillRect/>
          </a:stretch>
        </p:blipFill>
        <p:spPr>
          <a:xfrm>
            <a:off x="822960" y="3017520"/>
            <a:ext cx="457200" cy="457200"/>
          </a:xfrm>
          <a:prstGeom prst="rect">
            <a:avLst/>
          </a:prstGeom>
        </p:spPr>
      </p:pic>
      <p:sp>
        <p:nvSpPr>
          <p:cNvPr id="8" name="Text 4"/>
          <p:cNvSpPr txBox="1"/>
          <p:nvPr/>
        </p:nvSpPr>
        <p:spPr>
          <a:xfrm>
            <a:off x="1463040" y="283464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Nunca un nombre comercial de prescripción, ni en la app ni en un reel. Principio activo y mecanismo.</a:t>
            </a:r>
            <a:endParaRPr lang="en-US" sz="1300" dirty="0"/>
          </a:p>
        </p:txBody>
      </p:sp>
      <p:sp>
        <p:nvSpPr>
          <p:cNvPr id="9" name="Shape 5"/>
          <p:cNvSpPr/>
          <p:nvPr/>
        </p:nvSpPr>
        <p:spPr>
          <a:xfrm>
            <a:off x="548640" y="3977640"/>
            <a:ext cx="5422392" cy="1097280"/>
          </a:xfrm>
          <a:prstGeom prst="roundRect">
            <a:avLst>
              <a:gd name="adj" fmla="val 10000"/>
            </a:avLst>
          </a:prstGeom>
          <a:solidFill>
            <a:srgbClr val="FDF1EC"/>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0" name="Image 2" descr="preencoded.png">    </p:cNvPr>
          <p:cNvPicPr>
            <a:picLocks noChangeAspect="1"/>
          </p:cNvPicPr>
          <p:nvPr/>
        </p:nvPicPr>
        <p:blipFill>
          <a:blip r:embed="rId3"/>
          <a:stretch>
            <a:fillRect/>
          </a:stretch>
        </p:blipFill>
        <p:spPr>
          <a:xfrm>
            <a:off x="822960" y="4297680"/>
            <a:ext cx="457200" cy="457200"/>
          </a:xfrm>
          <a:prstGeom prst="rect">
            <a:avLst/>
          </a:prstGeom>
        </p:spPr>
      </p:pic>
      <p:sp>
        <p:nvSpPr>
          <p:cNvPr id="11" name="Text 6"/>
          <p:cNvSpPr txBox="1"/>
          <p:nvPr/>
        </p:nvSpPr>
        <p:spPr>
          <a:xfrm>
            <a:off x="1463040" y="411480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Nunca una salida del modelo llega a un paciente sin mi revisión y sin disclaimer.</a:t>
            </a:r>
            <a:endParaRPr lang="en-US" sz="1300" dirty="0"/>
          </a:p>
        </p:txBody>
      </p:sp>
      <p:sp>
        <p:nvSpPr>
          <p:cNvPr id="12" name="Shape 7"/>
          <p:cNvSpPr/>
          <p:nvPr/>
        </p:nvSpPr>
        <p:spPr>
          <a:xfrm>
            <a:off x="6217920" y="1417320"/>
            <a:ext cx="5422392" cy="1097280"/>
          </a:xfrm>
          <a:prstGeom prst="roundRect">
            <a:avLst>
              <a:gd name="adj" fmla="val 10000"/>
            </a:avLst>
          </a:prstGeom>
          <a:solidFill>
            <a:srgbClr val="E3F4F6"/>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3" name="Image 3" descr="preencoded.png">    </p:cNvPr>
          <p:cNvPicPr>
            <a:picLocks noChangeAspect="1"/>
          </p:cNvPicPr>
          <p:nvPr/>
        </p:nvPicPr>
        <p:blipFill>
          <a:blip r:embed="rId4"/>
          <a:stretch>
            <a:fillRect/>
          </a:stretch>
        </p:blipFill>
        <p:spPr>
          <a:xfrm>
            <a:off x="6492240" y="1737360"/>
            <a:ext cx="457200" cy="457200"/>
          </a:xfrm>
          <a:prstGeom prst="rect">
            <a:avLst/>
          </a:prstGeom>
        </p:spPr>
      </p:pic>
      <p:sp>
        <p:nvSpPr>
          <p:cNvPr id="14" name="Text 8"/>
          <p:cNvSpPr txBox="1"/>
          <p:nvPr/>
        </p:nvSpPr>
        <p:spPr>
          <a:xfrm>
            <a:off x="7132320" y="155448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Siempre digo qué población de referencia hay detrás de un número y qué límites tiene.</a:t>
            </a:r>
            <a:endParaRPr lang="en-US" sz="1300" dirty="0"/>
          </a:p>
        </p:txBody>
      </p:sp>
      <p:sp>
        <p:nvSpPr>
          <p:cNvPr id="15" name="Shape 9"/>
          <p:cNvSpPr/>
          <p:nvPr/>
        </p:nvSpPr>
        <p:spPr>
          <a:xfrm>
            <a:off x="6217920" y="2697480"/>
            <a:ext cx="5422392" cy="1097280"/>
          </a:xfrm>
          <a:prstGeom prst="roundRect">
            <a:avLst>
              <a:gd name="adj" fmla="val 10000"/>
            </a:avLst>
          </a:prstGeom>
          <a:solidFill>
            <a:srgbClr val="E3F4F6"/>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6" name="Image 4" descr="preencoded.png">    </p:cNvPr>
          <p:cNvPicPr>
            <a:picLocks noChangeAspect="1"/>
          </p:cNvPicPr>
          <p:nvPr/>
        </p:nvPicPr>
        <p:blipFill>
          <a:blip r:embed="rId5"/>
          <a:stretch>
            <a:fillRect/>
          </a:stretch>
        </p:blipFill>
        <p:spPr>
          <a:xfrm>
            <a:off x="6492240" y="3017520"/>
            <a:ext cx="457200" cy="457200"/>
          </a:xfrm>
          <a:prstGeom prst="rect">
            <a:avLst/>
          </a:prstGeom>
        </p:spPr>
      </p:pic>
      <p:sp>
        <p:nvSpPr>
          <p:cNvPr id="17" name="Text 10"/>
          <p:cNvSpPr txBox="1"/>
          <p:nvPr/>
        </p:nvSpPr>
        <p:spPr>
          <a:xfrm>
            <a:off x="7132320" y="283464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Siempre declaro mis vínculos con industria antes de hablar del tema, no después.</a:t>
            </a:r>
            <a:endParaRPr lang="en-US" sz="1300" dirty="0"/>
          </a:p>
        </p:txBody>
      </p:sp>
      <p:sp>
        <p:nvSpPr>
          <p:cNvPr id="18" name="Shape 11"/>
          <p:cNvSpPr/>
          <p:nvPr/>
        </p:nvSpPr>
        <p:spPr>
          <a:xfrm>
            <a:off x="6217920" y="3977640"/>
            <a:ext cx="5422392" cy="1097280"/>
          </a:xfrm>
          <a:prstGeom prst="roundRect">
            <a:avLst>
              <a:gd name="adj" fmla="val 10000"/>
            </a:avLst>
          </a:prstGeom>
          <a:solidFill>
            <a:srgbClr val="E3F4F6"/>
          </a:solidFill>
          <a:ln w="9525">
            <a:solidFill>
              <a:srgbClr val="E1E8EB"/>
            </a:solidFill>
            <a:prstDash val="solid"/>
          </a:ln>
          <a:effectLst>
            <a:outerShdw sx="100000" sy="100000" kx="0" ky="0" algn="bl" rotWithShape="0" blurRad="76200" dist="25400" dir="5400000">
              <a:srgbClr val="000000">
                <a:alpha val="10000"/>
              </a:srgbClr>
            </a:outerShdw>
          </a:effectLst>
        </p:spPr>
      </p:sp>
      <p:pic>
        <p:nvPicPr>
          <p:cNvPr id="19" name="Image 5" descr="preencoded.png">    </p:cNvPr>
          <p:cNvPicPr>
            <a:picLocks noChangeAspect="1"/>
          </p:cNvPicPr>
          <p:nvPr/>
        </p:nvPicPr>
        <p:blipFill>
          <a:blip r:embed="rId6"/>
          <a:stretch>
            <a:fillRect/>
          </a:stretch>
        </p:blipFill>
        <p:spPr>
          <a:xfrm>
            <a:off x="6492240" y="4297680"/>
            <a:ext cx="457200" cy="457200"/>
          </a:xfrm>
          <a:prstGeom prst="rect">
            <a:avLst/>
          </a:prstGeom>
        </p:spPr>
      </p:pic>
      <p:sp>
        <p:nvSpPr>
          <p:cNvPr id="20" name="Text 12"/>
          <p:cNvSpPr txBox="1"/>
          <p:nvPr/>
        </p:nvSpPr>
        <p:spPr>
          <a:xfrm>
            <a:off x="7132320" y="4114800"/>
            <a:ext cx="4343400" cy="822960"/>
          </a:xfrm>
          <a:prstGeom prst="rect">
            <a:avLst/>
          </a:prstGeom>
          <a:noFill/>
          <a:ln/>
        </p:spPr>
        <p:txBody>
          <a:bodyPr wrap="square" lIns="0" tIns="0" rIns="0" bIns="0" rtlCol="0" anchor="ctr"/>
          <a:lstStyle/>
          <a:p>
            <a:pPr indent="0" marL="0">
              <a:buNone/>
            </a:pPr>
            <a:r>
              <a:rPr lang="en-US" sz="1300" dirty="0">
                <a:solidFill>
                  <a:srgbClr val="1B2A34"/>
                </a:solidFill>
                <a:latin typeface="Calibri" pitchFamily="34" charset="0"/>
                <a:ea typeface="Calibri" pitchFamily="34" charset="-122"/>
                <a:cs typeface="Calibri" pitchFamily="34" charset="-120"/>
              </a:rPr>
              <a:t>Siempre pruebo con casos sintéticos de resultado conocido antes de usar algo en consulta.</a:t>
            </a:r>
            <a:endParaRPr lang="en-US" sz="1300" dirty="0"/>
          </a:p>
        </p:txBody>
      </p:sp>
      <p:sp>
        <p:nvSpPr>
          <p:cNvPr id="21" name="Text 13"/>
          <p:cNvSpPr txBox="1"/>
          <p:nvPr/>
        </p:nvSpPr>
        <p:spPr>
          <a:xfrm>
            <a:off x="548640" y="5349240"/>
            <a:ext cx="11064240" cy="365760"/>
          </a:xfrm>
          <a:prstGeom prst="rect">
            <a:avLst/>
          </a:prstGeom>
          <a:noFill/>
          <a:ln/>
        </p:spPr>
        <p:txBody>
          <a:bodyPr wrap="square" lIns="0" tIns="0" rIns="0" bIns="0" rtlCol="0" anchor="ctr"/>
          <a:lstStyle/>
          <a:p>
            <a:pPr indent="0" marL="0">
              <a:buNone/>
            </a:pPr>
            <a:r>
              <a:rPr lang="en-US" sz="1050" dirty="0">
                <a:solidFill>
                  <a:srgbClr val="5C6B73"/>
                </a:solidFill>
                <a:latin typeface="Calibri" pitchFamily="34" charset="0"/>
                <a:ea typeface="Calibri" pitchFamily="34" charset="-122"/>
                <a:cs typeface="Calibri" pitchFamily="34" charset="-120"/>
              </a:rPr>
              <a:t>Marco: RGPD y LOPDGDD · AI Act · RD 1416/1994 · Código de Deontología OMC 2022 · Código de Buenas Prácticas de Farmaindustria</a:t>
            </a:r>
            <a:endParaRPr lang="en-US" sz="1050" dirty="0"/>
          </a:p>
        </p:txBody>
      </p:sp>
      <p:sp>
        <p:nvSpPr>
          <p:cNvPr id="22" name="Text 14"/>
          <p:cNvSpPr txBox="1"/>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5C6B73"/>
                </a:solidFill>
                <a:latin typeface="Calibri" pitchFamily="34" charset="0"/>
                <a:ea typeface="Calibri" pitchFamily="34" charset="-122"/>
                <a:cs typeface="Calibri" pitchFamily="34" charset="-120"/>
              </a:rPr>
              <a:t>Dra. Cristina Petratti · potencIA 2026 · Proyecto final</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2B3C"/>
        </a:solidFill>
      </p:bgPr>
    </p:bg>
    <p:spTree>
      <p:nvGrpSpPr>
        <p:cNvPr id="1" name=""/>
        <p:cNvGrpSpPr/>
        <p:nvPr/>
      </p:nvGrpSpPr>
      <p:grpSpPr>
        <a:xfrm>
          <a:off x="0" y="0"/>
          <a:ext cx="0" cy="0"/>
          <a:chOff x="0" y="0"/>
          <a:chExt cx="0" cy="0"/>
        </a:xfrm>
      </p:grpSpPr>
      <p:sp>
        <p:nvSpPr>
          <p:cNvPr id="2" name="Shape 0"/>
          <p:cNvSpPr/>
          <p:nvPr/>
        </p:nvSpPr>
        <p:spPr>
          <a:xfrm>
            <a:off x="-2011680" y="3291840"/>
            <a:ext cx="5943600" cy="5943600"/>
          </a:xfrm>
          <a:prstGeom prst="ellipse">
            <a:avLst/>
          </a:prstGeom>
          <a:solidFill>
            <a:srgbClr val="0E7C86">
              <a:alpha val="30000"/>
            </a:srgbClr>
          </a:solidFill>
          <a:ln w="12700">
            <a:solidFill>
              <a:srgbClr val="0E7C86">
                <a:alpha val="30000"/>
              </a:srgbClr>
            </a:solidFill>
            <a:prstDash val="solid"/>
          </a:ln>
        </p:spPr>
      </p:sp>
      <p:pic>
        <p:nvPicPr>
          <p:cNvPr id="3" name="Image 0" descr="preencoded.png">    </p:cNvPr>
          <p:cNvPicPr>
            <a:picLocks noChangeAspect="1"/>
          </p:cNvPicPr>
          <p:nvPr/>
        </p:nvPicPr>
        <p:blipFill>
          <a:blip r:embed="rId1"/>
          <a:stretch>
            <a:fillRect/>
          </a:stretch>
        </p:blipFill>
        <p:spPr>
          <a:xfrm>
            <a:off x="731520" y="1097280"/>
            <a:ext cx="731520" cy="731520"/>
          </a:xfrm>
          <a:prstGeom prst="rect">
            <a:avLst/>
          </a:prstGeom>
        </p:spPr>
      </p:pic>
      <p:sp>
        <p:nvSpPr>
          <p:cNvPr id="4" name="Text 1"/>
          <p:cNvSpPr txBox="1"/>
          <p:nvPr/>
        </p:nvSpPr>
        <p:spPr>
          <a:xfrm>
            <a:off x="731520" y="1920240"/>
            <a:ext cx="10515600" cy="2377440"/>
          </a:xfrm>
          <a:prstGeom prst="rect">
            <a:avLst/>
          </a:prstGeom>
          <a:noFill/>
          <a:ln/>
        </p:spPr>
        <p:txBody>
          <a:bodyPr wrap="square" lIns="0" tIns="0" rIns="0" bIns="0" rtlCol="0" anchor="t"/>
          <a:lstStyle/>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La IA no me devolvió certezas.</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Me devolvió tiempo.</a:t>
            </a:r>
            <a:endParaRPr lang="en-US" sz="3400" dirty="0"/>
          </a:p>
          <a:p>
            <a:pPr indent="0" marL="0">
              <a:lnSpc>
                <a:spcPct val="105000"/>
              </a:lnSpc>
              <a:buNone/>
            </a:pPr>
            <a:r>
              <a:rPr lang="en-US" sz="3400" b="1" dirty="0">
                <a:solidFill>
                  <a:srgbClr val="FFFFFF"/>
                </a:solidFill>
                <a:latin typeface="Cambria" pitchFamily="34" charset="0"/>
                <a:ea typeface="Cambria" pitchFamily="34" charset="-122"/>
                <a:cs typeface="Cambria" pitchFamily="34" charset="-120"/>
              </a:rPr>
              <a:t>Y el tiempo, en obesidad, se lo debo a la persona que tengo delante.</a:t>
            </a:r>
            <a:endParaRPr lang="en-US" sz="3400" dirty="0"/>
          </a:p>
        </p:txBody>
      </p:sp>
      <p:sp>
        <p:nvSpPr>
          <p:cNvPr id="5" name="Text 2"/>
          <p:cNvSpPr txBox="1"/>
          <p:nvPr/>
        </p:nvSpPr>
        <p:spPr>
          <a:xfrm>
            <a:off x="731520" y="4389120"/>
            <a:ext cx="10058400" cy="457200"/>
          </a:xfrm>
          <a:prstGeom prst="rect">
            <a:avLst/>
          </a:prstGeom>
          <a:noFill/>
          <a:ln/>
        </p:spPr>
        <p:txBody>
          <a:bodyPr wrap="square" lIns="0" tIns="0" rIns="0" bIns="0" rtlCol="0" anchor="ctr"/>
          <a:lstStyle/>
          <a:p>
            <a:pPr indent="0" marL="0">
              <a:buNone/>
            </a:pPr>
            <a:r>
              <a:rPr lang="en-US" sz="1800" i="1" dirty="0">
                <a:solidFill>
                  <a:srgbClr val="22B8CF"/>
                </a:solidFill>
                <a:latin typeface="Calibri" pitchFamily="34" charset="0"/>
                <a:ea typeface="Calibri" pitchFamily="34" charset="-122"/>
                <a:cs typeface="Calibri" pitchFamily="34" charset="-120"/>
              </a:rPr>
              <a:t>Es biología, no falta de voluntad. Y ahora también es un percentil que puedo enseñar.</a:t>
            </a:r>
            <a:endParaRPr lang="en-US" sz="1800" dirty="0"/>
          </a:p>
        </p:txBody>
      </p:sp>
      <p:sp>
        <p:nvSpPr>
          <p:cNvPr id="6" name="Text 3"/>
          <p:cNvSpPr txBox="1"/>
          <p:nvPr/>
        </p:nvSpPr>
        <p:spPr>
          <a:xfrm>
            <a:off x="731520" y="5303520"/>
            <a:ext cx="10058400" cy="822960"/>
          </a:xfrm>
          <a:prstGeom prst="rect">
            <a:avLst/>
          </a:prstGeom>
          <a:noFill/>
          <a:ln/>
        </p:spPr>
        <p:txBody>
          <a:bodyPr wrap="square" lIns="0" tIns="0" rIns="0" bIns="0" rtlCol="0" anchor="ctr"/>
          <a:lstStyle/>
          <a:p>
            <a:pPr indent="0" marL="0">
              <a:buNone/>
            </a:pPr>
            <a:r>
              <a:rPr lang="en-US" sz="1500" b="1" dirty="0">
                <a:solidFill>
                  <a:srgbClr val="CADCE3"/>
                </a:solidFill>
                <a:latin typeface="Calibri" pitchFamily="34" charset="0"/>
                <a:ea typeface="Calibri" pitchFamily="34" charset="-122"/>
                <a:cs typeface="Calibri" pitchFamily="34" charset="-120"/>
              </a:rPr>
              <a:t>evaluacion-funcional-pro.streamlit.app</a:t>
            </a:r>
            <a:endParaRPr lang="en-US" sz="1500" dirty="0"/>
          </a:p>
          <a:p>
            <a:pPr indent="0" marL="0">
              <a:buNone/>
            </a:pPr>
            <a:r>
              <a:rPr lang="en-US" sz="1500" dirty="0">
                <a:solidFill>
                  <a:srgbClr val="CADCE3"/>
                </a:solidFill>
                <a:latin typeface="Calibri" pitchFamily="34" charset="0"/>
                <a:ea typeface="Calibri" pitchFamily="34" charset="-122"/>
                <a:cs typeface="Calibri" pitchFamily="34" charset="-120"/>
              </a:rPr>
              <a:t>Dra. Cristina Petratti · Médica de familia · Especialista en obesidad</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 20 minutos a 20 segundos · potencIA 2026</dc:title>
  <dc:subject>PptxGenJS Presentation</dc:subject>
  <dc:creator>Dra. Cristina Petratti</dc:creator>
  <cp:lastModifiedBy>Dra. Cristina Petratti</cp:lastModifiedBy>
  <cp:revision>1</cp:revision>
  <dcterms:created xsi:type="dcterms:W3CDTF">2026-09-11T10:40:35Z</dcterms:created>
  <dcterms:modified xsi:type="dcterms:W3CDTF">2026-09-11T10:40:35Z</dcterms:modified>
</cp:coreProperties>
</file>