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9effa4f-a263-8fef-2167-20c237ced0d0}">
          <p14:sldIdLst>
            <p14:sldId id="256"/>
            <p14:sldId id="257"/>
          </p14:sldIdLst>
        </p14:section>
        <p14:section name="The data" id="{9cd4455a-0459-e3c9-5ca4-3936768db392}">
          <p14:sldIdLst>
            <p14:sldId id="258"/>
            <p14:sldId id="259"/>
          </p14:sldIdLst>
        </p14:section>
        <p14:section name="What the body needs" id="{ccb671ec-78c9-fc87-0441-c36eff91a26f}">
          <p14:sldIdLst>
            <p14:sldId id="260"/>
            <p14:sldId id="261"/>
            <p14:sldId id="262"/>
          </p14:sldIdLst>
        </p14:section>
        <p14:section name="Myth or fact" id="{40b2f862-617a-9c8a-9a30-f007d5eccbc4}">
          <p14:sldIdLst>
            <p14:sldId id="263"/>
            <p14:sldId id="264"/>
          </p14:sldIdLst>
        </p14:section>
        <p14:section name="Sleep, screens, food" id="{cc022082-5fcc-37c1-9048-c0e1908cc87a}">
          <p14:sldIdLst>
            <p14:sldId id="265"/>
            <p14:sldId id="266"/>
            <p14:sldId id="267"/>
          </p14:sldIdLst>
        </p14:section>
        <p14:section name="Your plan" id="{0636ee6a-da01-b7f5-957a-3d0262d70505}">
          <p14:sldIdLst>
            <p14:sldId id="268"/>
            <p14:sldId id="269"/>
            <p14:sldId id="270"/>
          </p14:sldIdLst>
        </p14:section>
        <p14:section name="References" id="{9e517471-7e00-a1d4-04d0-4f6e0591f7fd}">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que no llega a 60 min/día</c:v>
                </c:pt>
              </c:strCache>
            </c:strRef>
          </c:tx>
          <c:spPr>
            <a:solidFill>
              <a:srgbClr val="0F4C5C"/>
            </a:solidFill>
            <a:effectLst/>
          </c:spPr>
          <c:invertIfNegative val="0"/>
          <c:dLbls>
            <c:numFmt formatCode="0&quot;%&quot;" sourceLinked="0"/>
            <c:txPr>
              <a:bodyPr/>
              <a:lstStyle/>
              <a:p>
                <a:pPr>
                  <a:defRPr b="0" i="0" strike="noStrike" sz="1200" u="none">
                    <a:solidFill>
                      <a:srgbClr val="0B2E3A"/>
                    </a:solidFill>
                    <a:latin typeface="+mn-lt"/>
                  </a:defRPr>
                </a:pPr>
              </a:p>
            </c:txPr>
            <c:showLegendKey val="0"/>
            <c:showVal val="1"/>
            <c:showCatName val="0"/>
            <c:showSerName val="0"/>
            <c:showPercent val="0"/>
            <c:showBubbleSize val="0"/>
            <c:showLeaderLines val="0"/>
          </c:dLbls>
          <c:cat>
            <c:multiLvlStrRef>
              <c:f>Sheet1!$A$2:$A$6</c:f>
              <c:multiLvlStrCache>
                <c:ptCount val="5"/>
                <c:lvl>
                  <c:pt idx="0">
                    <c:v>Mundo, 11-17 años (2016)</c:v>
                  </c:pt>
                  <c:pt idx="1">
                    <c:v>Chicas, mundo</c:v>
                  </c:pt>
                  <c:pt idx="2">
                    <c:v>Chicos, mundo</c:v>
                  </c:pt>
                  <c:pt idx="3">
                    <c:v>España, 8-16 años (2022)</c:v>
                  </c:pt>
                  <c:pt idx="4">
                    <c:v>España, adolescentes (2022)</c:v>
                  </c:pt>
                </c:lvl>
              </c:multiLvlStrCache>
            </c:multiLvlStrRef>
          </c:cat>
          <c:val>
            <c:numRef>
              <c:f>Sheet1!$B$2:$B$6</c:f>
              <c:numCache>
                <c:formatCode>General</c:formatCode>
                <c:ptCount val="5"/>
                <c:pt idx="0">
                  <c:v>81</c:v>
                </c:pt>
                <c:pt idx="1">
                  <c:v>85</c:v>
                </c:pt>
                <c:pt idx="2">
                  <c:v>78</c:v>
                </c:pt>
                <c:pt idx="3">
                  <c:v>70</c:v>
                </c:pt>
                <c:pt idx="4">
                  <c:v>77</c:v>
                </c:pt>
              </c:numCache>
            </c:numRef>
          </c:val>
        </c:ser>
        <c:dLbls>
          <c:numFmt formatCode="0&quot;%&quot;" sourceLinked="0"/>
          <c:txPr>
            <a:bodyPr/>
            <a:lstStyle/>
            <a:p>
              <a:pPr>
                <a:defRPr b="0" i="0" strike="noStrike" sz="1200" u="none">
                  <a:solidFill>
                    <a:srgbClr val="0B2E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B2E3A"/>
                </a:solidFill>
                <a:latin typeface="+mn-lt"/>
              </a:defRPr>
            </a:pPr>
            <a:endParaRPr lang="en-US"/>
          </a:p>
        </c:txPr>
        <c:crossAx val="2094734552"/>
        <c:crosses val="autoZero"/>
        <c:auto val="1"/>
        <c:lblAlgn val="ctr"/>
        <c:noMultiLvlLbl val="1"/>
      </c:catAx>
      <c:valAx>
        <c:axId val="2094734552"/>
        <c:scaling>
          <c:orientation val="minMax"/>
          <c:max val="1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[0:00-0:03] Gancho, sin leer la diapositiva. Entra y no te presentes todavía. Pregunta: "Mano arriba quien ayer movió el cuerpo al menos 60 minutos. No cuenta Educación Física: digo sudar un poco." Cuenta en voz alta. Luego: "Mantén la mano quien durmió 8 horas anoche." Caen casi todas. "Hoy vamos a ver por qué importa, y no va de peso. Va de tu cerebro, tu humor y tus notas."
Después preséntate en dos líneas: médica de familia, 25 años de consulta, especialista en obesidad, el año pasado corrí la maratón de Londres después de tres mudanzas. "Si yo pude volver a empezar a mi edad, vosotros podéis empezar esta semana."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[0:03-0:06] Pregunta de una en una; pide a un voluntario que cuente manos y escriba los cuatro números en la pizarra. Volverás a ellos al final (diapositiva 15). Di: "Este es el conjunto de datos de la clase. España también tiene el suyo. Vamos a comparar."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[0:06-0:09] Juego de las cuatro esquinas: se mueven físicamente a la esquina de su respuesta. Ya son 30 segundos de movimiento. La respuesta se revela en la siguiente diapositiva: D, 81 % (Guthold et al., Lancet Child &amp; Adolescent Health 2020; 1,6 millones de estudiantes, 146 países, 2001-2016). Chicas 85 %, chicos 78 %. Pregunta: "¿Por qué creéis que en las chicas es mayor?" Dos respuestas y seguimos, sin sermón.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[0:09-0:12] "El problema no sois vosotros. Es un patrón de toda una generación, en todos los países." Señala España: 7 de cada 10. Los adolescentes peor que los niños: la actividad cae justo a vuestra edad. Pregunta: "¿Qué pasa a los 13-14 para que la gente deje de moverse?" (más deberes, móvil, dejar el equipo, vergüenza). Valida todas. Luego: "¿Y qué es exactamente esa hora? Definámosla como científicos."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[0:12-0:15] Directrices de la OMS sobre actividad física y comportamiento sedentario, 2020 (5-17 años). Mensaje clave: "algo es mejor que nada". Pregunta: "¿Cuenta ir andando al instituto?" Sí, si vas lo bastante rápido para pasar la prueba del habla. "¿Cuenta Educación Física?" Sí. "¿Cuentan los videojuegos?" Solo si quien se mueve eres tú. Comprobación rápida: que nombren una actividad de cada columna que ya hagan.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[0:15-0:19] La diapositiva de biología: tu terreno. Dilo explícitamente: "Soy médica de obesidad y hoy NO voy a hablar de adelgazar. El tamaño de tu cuerpo no es una conducta. Moverte sí lo es, y cambia tu cerebro sea cual sea tu talla." BDNF: factor neurotrófico derivado del cerebro, "abono para las neuronas". Hueso: el pico de masa ósea se alcanza a los veintipocos; la carga que haces ahora decide tu esqueleto a los 70. Hormonas: enlaza con tu campo en una sola frase. Pregunta: "¿Cuál de las seis os sorprende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[0:19-0:23] Todo el mundo de pie. Quien tenga un motivo médico para no hacer ejercicio es el "cronometrador" y cuenta en voz alta. Seguridad: rodillas blandas, sin competir. Después: recoge tres pares antes/después de voluntarios y escríbelos en la pizarra. Idea: "Vuestro corazón os acaba de enseñar qué se siente con moderado y con vigoroso. Sin app." Rangos de referencia de la clasificación del ACSM por porcentaje del máximo; 220 − edad es una aproximación, dilo.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[0:23-0:29] Lee de una en una; que se levanten o se queden sentados; pide a una persona de cada lado que defienda su postura en una frase; luego revela (las respuestas están en la siguiente diapositiva). Ritmo: un minuto por afirmación.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[0:29-0:31] Dedica más tiempo a las bebidas energéticas (muy presentes a los 15-16) y a las pantallas. Fuerza: los posicionamientos de las sociedades de medicina deportiva pediátrica avalan el entrenamiento de fuerza supervisado en niños y adolescentes. Bebidas energéticas: suelen llevar 80-160 mg de cafeína por lata; Galicia aprobó prohibir su venta a menores de 16 y otras comunidades lo siguen; comprueba el estado actual antes de la charla.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[0:31-0:36] El retraso circadiano adolescente es real (trabajos de Carskadon): la melatonina se libera más tarde y el horario escolar temprano choca con la biología. No significa "trasnocha": significa proteger la mañana y sacar el móvil de la habitación. Parejas 2 minutos, recoge 3 respuestas. Sueño y apetito: Spiegel 2004 (Ann Intern Med) y estudios posteriores; basta una frase.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[0:36-0:39] Sin calorías, sin "alimentos buenos y malos", sin hablar de cuerpos. Si alguien saca el peso: "El tamaño del cuerpo no es un hábito. Los hábitos son cosas que haces. Hoy hablamos de lo que haces." Ultraprocesados en una frase: diseñados para comerse rápido y a menudo; el problema es la frecuencia, no una fiesta. Votación con dedos, cuenta y sigue.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[0:39-0:42] Tu mensaje central de "Obesidades sin culpa", adaptado: el entorno obesogénico. La mejora del 40,6 % al 36,1 % demuestra que se puede cambiar, pero no ocurrió en las familias con ingresos por debajo de 18.000 euros: la desigualdad pesa. No mires a ningún alumno en concreto. Mantenlo estructural. Transición: "Así que diseñemos la estrategia. La vuestra."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[0:42-0:47] Reparte la hoja impresa (la misma tabla). En parejas: cada uno rellena la suya, el compañero pregunta "¿qué te lo impediría?" y ajustan. Pasea entre las mesas; busca planes demasiado grandes ("gimnasio todos los días") y hazlos más pequeños. Recoge dos ejemplos en voz 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[0:47-0:49] Tapa la columna de respuestas con la mano o usa la vista del presentador; las respuestas están en los recuadros rojos. Dedos arriba para A/B/C/D (1-4 dedos). Rápido, alto, divertido. Respuestas: C, B, C, C,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[0:49-0:52] Cierra con tu historia en 60 segundos: tres mudanzas, dos cambios de trabajo y la maratón de Londres 2025 con la camiseta de Argentina; la caja de medallas. No para impresionar: para mostrar que volver a empezar es normal. Última frase, despacio: "Es biología, no fuerza de voluntad. Y la biología responde a lo que haces, desde la primera semana." Agradece al profesor. Ofrece: que repita el recuento de manos dentro de un mes y te cuente los números.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 esta diapositiva al profesorado. Todas las cifras de la presentación salen de estas fuentes; las zonas de frecuencia cardiaca son de las clasificaciones del ACSM y la fórmula 220 − edad es una aproximación.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2E3A"/>
        </a:solidFill>
      </p:bgPr>
    </p:bg>
    <p:spTree>
      <p:nvGrpSpPr>
        <p:cNvPr id="1" name=""/>
        <p:cNvGrpSpPr/>
        <p:nvPr/>
      </p:nvGrpSpPr>
      <p:grpSpPr>
        <a:xfrm>
          <a:off x="0" y="0"/>
          <a:ext cx="0" cy="0"/>
          <a:chOff x="0" y="0"/>
          <a:chExt cx="0" cy="0"/>
        </a:xfrm>
      </p:grpSpPr>
      <p:sp>
        <p:nvSpPr>
          <p:cNvPr id="2" name="Text 0"/>
          <p:cNvSpPr txBox="1"/>
          <p:nvPr/>
        </p:nvSpPr>
        <p:spPr>
          <a:xfrm>
            <a:off x="457200" y="4773168"/>
            <a:ext cx="5943600" cy="274320"/>
          </a:xfrm>
          <a:prstGeom prst="rect">
            <a:avLst/>
          </a:prstGeom>
          <a:noFill/>
          <a:ln/>
        </p:spPr>
        <p:txBody>
          <a:bodyPr wrap="square" lIns="0" tIns="0" rIns="0" bIns="0" rtlCol="0" anchor="ctr"/>
          <a:lstStyle/>
          <a:p>
            <a:pPr indent="0" marL="0">
              <a:buNone/>
            </a:pPr>
            <a:r>
              <a:rPr lang="en-US" sz="900" dirty="0">
                <a:solidFill>
                  <a:srgbClr val="9BB8C2"/>
                </a:solidFill>
              </a:rPr>
              <a:t>Dra. Cristina Petratti · Médica de familia · Especialista en obesidad</a:t>
            </a:r>
            <a:endParaRPr lang="en-US" sz="9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8C2"/>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2800" b="1" dirty="0">
                <a:solidFill>
                  <a:srgbClr val="0B2E3A"/>
                </a:solidFill>
              </a:defRPr>
            </a:lvl1pPr>
          </a:lstStyle>
          <a:p>
            <a:pPr algn="l" indent="0" marL="0">
              <a:buNone/>
            </a:pPr>
            <a:endParaRPr lang="en-US" sz="2800" dirty="0"/>
          </a:p>
        </p:txBody>
      </p:sp>
      <p:sp>
        <p:nvSpPr>
          <p:cNvPr id="3" name="Text 0"/>
          <p:cNvSpPr txBox="1"/>
          <p:nvPr/>
        </p:nvSpPr>
        <p:spPr>
          <a:xfrm>
            <a:off x="457200" y="4773168"/>
            <a:ext cx="5943600" cy="274320"/>
          </a:xfrm>
          <a:prstGeom prst="rect">
            <a:avLst/>
          </a:prstGeom>
          <a:noFill/>
          <a:ln/>
        </p:spPr>
        <p:txBody>
          <a:bodyPr wrap="square" lIns="0" tIns="0" rIns="0" bIns="0" rtlCol="0" anchor="ctr"/>
          <a:lstStyle/>
          <a:p>
            <a:pPr indent="0" marL="0">
              <a:buNone/>
            </a:pPr>
            <a:r>
              <a:rPr lang="en-US" sz="900" dirty="0">
                <a:solidFill>
                  <a:srgbClr val="5C7C86"/>
                </a:solidFill>
              </a:rPr>
              <a:t>Dra. Cristina Petratti · Médica de familia · Especialista en obesidad</a:t>
            </a:r>
            <a:endParaRPr lang="en-US" sz="9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7C8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CTIVITY">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2800" b="1" dirty="0">
                <a:solidFill>
                  <a:srgbClr val="C8F23D"/>
                </a:solidFill>
              </a:defRPr>
            </a:lvl1pPr>
          </a:lstStyle>
          <a:p>
            <a:pPr algn="l" indent="0" marL="0">
              <a:buNone/>
            </a:pPr>
            <a:endParaRPr lang="en-US" sz="2800" dirty="0"/>
          </a:p>
        </p:txBody>
      </p:sp>
      <p:sp>
        <p:nvSpPr>
          <p:cNvPr id="3" name="Text 0"/>
          <p:cNvSpPr txBox="1"/>
          <p:nvPr/>
        </p:nvSpPr>
        <p:spPr>
          <a:xfrm>
            <a:off x="457200" y="4773168"/>
            <a:ext cx="5943600" cy="274320"/>
          </a:xfrm>
          <a:prstGeom prst="rect">
            <a:avLst/>
          </a:prstGeom>
          <a:noFill/>
          <a:ln/>
        </p:spPr>
        <p:txBody>
          <a:bodyPr wrap="square" lIns="0" tIns="0" rIns="0" bIns="0" rtlCol="0" anchor="ctr"/>
          <a:lstStyle/>
          <a:p>
            <a:pPr indent="0" marL="0">
              <a:buNone/>
            </a:pPr>
            <a:r>
              <a:rPr lang="en-US" sz="900" dirty="0">
                <a:solidFill>
                  <a:srgbClr val="9BB8C2"/>
                </a:solidFill>
              </a:rPr>
              <a:t>Dra. Cristina Petratti · Médica de familia · Especialista en obesidad</a:t>
            </a:r>
            <a:endParaRPr lang="en-US" sz="9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8C2"/>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8C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457200" y="822960"/>
            <a:ext cx="6766560" cy="1371600"/>
          </a:xfrm>
          <a:prstGeom prst="rect">
            <a:avLst/>
          </a:prstGeom>
          <a:noFill/>
          <a:ln/>
        </p:spPr>
        <p:txBody>
          <a:bodyPr wrap="square" lIns="0" tIns="0" rIns="0" bIns="0" rtlCol="0" anchor="ctr"/>
          <a:lstStyle/>
          <a:p>
            <a:pPr indent="0" marL="0">
              <a:buNone/>
            </a:pPr>
            <a:r>
              <a:rPr lang="en-US" sz="4000" b="1" dirty="0">
                <a:solidFill>
                  <a:schemeClr val="accent1"/>
                </a:solidFill>
              </a:rPr>
              <a:t>LA PREGUNTA DE LOS 60 MINUTOS</a:t>
            </a:r>
            <a:endParaRPr lang="en-US" sz="4000" dirty="0"/>
          </a:p>
        </p:txBody>
      </p:sp>
      <p:sp>
        <p:nvSpPr>
          <p:cNvPr id="3" name="subtitle"/>
          <p:cNvSpPr txBox="1"/>
          <p:nvPr/>
        </p:nvSpPr>
        <p:spPr>
          <a:xfrm>
            <a:off x="457200" y="2377440"/>
            <a:ext cx="6766560" cy="822960"/>
          </a:xfrm>
          <a:prstGeom prst="rect">
            <a:avLst/>
          </a:prstGeom>
          <a:noFill/>
          <a:ln/>
        </p:spPr>
        <p:txBody>
          <a:bodyPr wrap="square" lIns="0" tIns="0" rIns="0" bIns="0" rtlCol="0" anchor="ctr"/>
          <a:lstStyle/>
          <a:p>
            <a:pPr indent="0" marL="0">
              <a:buNone/>
            </a:pPr>
            <a:r>
              <a:rPr lang="en-US" sz="2000" dirty="0">
                <a:solidFill>
                  <a:schemeClr val="bg1"/>
                </a:solidFill>
              </a:rPr>
              <a:t>Lo que tu cuerpo necesita de verdad a los 15 (y lo que dice la ciencia)</a:t>
            </a:r>
            <a:endParaRPr lang="en-US" sz="2000" dirty="0"/>
          </a:p>
        </p:txBody>
      </p:sp>
      <p:sp>
        <p:nvSpPr>
          <p:cNvPr id="4" name="meta"/>
          <p:cNvSpPr txBox="1"/>
          <p:nvPr/>
        </p:nvSpPr>
        <p:spPr>
          <a:xfrm>
            <a:off x="457200" y="3383280"/>
            <a:ext cx="6766560" cy="548640"/>
          </a:xfrm>
          <a:prstGeom prst="rect">
            <a:avLst/>
          </a:prstGeom>
          <a:noFill/>
          <a:ln/>
        </p:spPr>
        <p:txBody>
          <a:bodyPr wrap="square" lIns="0" tIns="0" rIns="0" bIns="0" rtlCol="0" anchor="ctr"/>
          <a:lstStyle/>
          <a:p>
            <a:pPr indent="0" marL="0">
              <a:buNone/>
            </a:pPr>
            <a:r>
              <a:rPr lang="en-US" sz="1300" dirty="0">
                <a:solidFill>
                  <a:schemeClr val="accent5"/>
                </a:solidFill>
              </a:rPr>
              <a:t>Biología · 4.º ESO · Una sesión de 50 minutos con la Dra. Cristina Petratti, médica de familia y especialista en obesidad</a:t>
            </a:r>
            <a:endParaRPr lang="en-US" sz="1300" dirty="0"/>
          </a:p>
        </p:txBody>
      </p:sp>
      <p:sp>
        <p:nvSpPr>
          <p:cNvPr id="5" name="icon circle"/>
          <p:cNvSpPr/>
          <p:nvPr/>
        </p:nvSpPr>
        <p:spPr>
          <a:xfrm>
            <a:off x="7589520" y="822960"/>
            <a:ext cx="1005840" cy="1005840"/>
          </a:xfrm>
          <a:prstGeom prst="ellipse">
            <a:avLst/>
          </a:prstGeom>
          <a:solidFill>
            <a:schemeClr val="accent1"/>
          </a:solidFill>
          <a:ln w="12700">
            <a:solidFill>
              <a:schemeClr val="accent1"/>
            </a:solidFill>
            <a:prstDash val="solid"/>
          </a:ln>
        </p:spPr>
      </p:sp>
      <p:pic>
        <p:nvPicPr>
          <p:cNvPr id="6" name="icon" descr="preencoded.png">    </p:cNvPr>
          <p:cNvPicPr>
            <a:picLocks noChangeAspect="1"/>
          </p:cNvPicPr>
          <p:nvPr/>
        </p:nvPicPr>
        <p:blipFill>
          <a:blip r:embed="rId1"/>
          <a:stretch>
            <a:fillRect/>
          </a:stretch>
        </p:blipFill>
        <p:spPr>
          <a:xfrm>
            <a:off x="7810805" y="1044245"/>
            <a:ext cx="563270" cy="563270"/>
          </a:xfrm>
          <a:prstGeom prst="rect">
            <a:avLst/>
          </a:prstGeom>
        </p:spPr>
      </p:pic>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8C2"/>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rgbClr val="C8F23D"/>
                </a:solidFill>
              </a:rPr>
              <a:t>Manos arriba: 4 preguntas honestas</a:t>
            </a:r>
            <a:endParaRPr lang="en-US" sz="2800" dirty="0"/>
          </a:p>
        </p:txBody>
      </p:sp>
      <p:sp>
        <p:nvSpPr>
          <p:cNvPr id="3" name="poll card"/>
          <p:cNvSpPr/>
          <p:nvPr/>
        </p:nvSpPr>
        <p:spPr>
          <a:xfrm>
            <a:off x="457200" y="1280160"/>
            <a:ext cx="4023360" cy="1371600"/>
          </a:xfrm>
          <a:prstGeom prst="roundRect">
            <a:avLst>
              <a:gd name="adj" fmla="val 8000"/>
            </a:avLst>
          </a:prstGeom>
          <a:solidFill>
            <a:schemeClr val="tx1"/>
          </a:solidFill>
          <a:ln w="12700">
            <a:solidFill>
              <a:schemeClr val="tx1"/>
            </a:solidFill>
            <a:prstDash val="solid"/>
          </a:ln>
        </p:spPr>
      </p:sp>
      <p:sp>
        <p:nvSpPr>
          <p:cNvPr id="4" name="icon circle"/>
          <p:cNvSpPr/>
          <p:nvPr/>
        </p:nvSpPr>
        <p:spPr>
          <a:xfrm>
            <a:off x="640080" y="1627632"/>
            <a:ext cx="685800" cy="68580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790956" y="1778508"/>
            <a:ext cx="384048" cy="384048"/>
          </a:xfrm>
          <a:prstGeom prst="rect">
            <a:avLst/>
          </a:prstGeom>
        </p:spPr>
      </p:pic>
      <p:sp>
        <p:nvSpPr>
          <p:cNvPr id="6" name="poll text"/>
          <p:cNvSpPr txBox="1"/>
          <p:nvPr/>
        </p:nvSpPr>
        <p:spPr>
          <a:xfrm>
            <a:off x="1508760" y="1463040"/>
            <a:ext cx="2834640" cy="1005840"/>
          </a:xfrm>
          <a:prstGeom prst="rect">
            <a:avLst/>
          </a:prstGeom>
          <a:noFill/>
          <a:ln/>
        </p:spPr>
        <p:txBody>
          <a:bodyPr wrap="square" lIns="0" tIns="0" rIns="0" bIns="0" rtlCol="0" anchor="ctr"/>
          <a:lstStyle/>
          <a:p>
            <a:pPr indent="0" marL="0">
              <a:buNone/>
            </a:pPr>
            <a:r>
              <a:rPr lang="en-US" sz="1700" b="1" dirty="0">
                <a:solidFill>
                  <a:schemeClr val="bg1"/>
                </a:solidFill>
              </a:rPr>
              <a:t>¿Ayer te moviste al menos 60 minutos?</a:t>
            </a:r>
            <a:endParaRPr lang="en-US" sz="1700" dirty="0"/>
          </a:p>
        </p:txBody>
      </p:sp>
      <p:sp>
        <p:nvSpPr>
          <p:cNvPr id="7" name="poll card"/>
          <p:cNvSpPr/>
          <p:nvPr/>
        </p:nvSpPr>
        <p:spPr>
          <a:xfrm>
            <a:off x="4663440" y="1280160"/>
            <a:ext cx="4023360" cy="1371600"/>
          </a:xfrm>
          <a:prstGeom prst="roundRect">
            <a:avLst>
              <a:gd name="adj" fmla="val 8000"/>
            </a:avLst>
          </a:prstGeom>
          <a:solidFill>
            <a:schemeClr val="tx1"/>
          </a:solidFill>
          <a:ln w="12700">
            <a:solidFill>
              <a:schemeClr val="tx1"/>
            </a:solidFill>
            <a:prstDash val="solid"/>
          </a:ln>
        </p:spPr>
      </p:sp>
      <p:sp>
        <p:nvSpPr>
          <p:cNvPr id="8" name="icon circle"/>
          <p:cNvSpPr/>
          <p:nvPr/>
        </p:nvSpPr>
        <p:spPr>
          <a:xfrm>
            <a:off x="4846320" y="1627632"/>
            <a:ext cx="685800" cy="685800"/>
          </a:xfrm>
          <a:prstGeom prst="ellipse">
            <a:avLst/>
          </a:prstGeom>
          <a:solidFill>
            <a:schemeClr val="accent1"/>
          </a:solidFill>
          <a:ln w="12700">
            <a:solidFill>
              <a:schemeClr val="accent1"/>
            </a:solidFill>
            <a:prstDash val="solid"/>
          </a:ln>
        </p:spPr>
      </p:sp>
      <p:pic>
        <p:nvPicPr>
          <p:cNvPr id="9" name="icon" descr="preencoded.png">    </p:cNvPr>
          <p:cNvPicPr>
            <a:picLocks noChangeAspect="1"/>
          </p:cNvPicPr>
          <p:nvPr/>
        </p:nvPicPr>
        <p:blipFill>
          <a:blip r:embed="rId2"/>
          <a:stretch>
            <a:fillRect/>
          </a:stretch>
        </p:blipFill>
        <p:spPr>
          <a:xfrm>
            <a:off x="4997196" y="1778508"/>
            <a:ext cx="384048" cy="384048"/>
          </a:xfrm>
          <a:prstGeom prst="rect">
            <a:avLst/>
          </a:prstGeom>
        </p:spPr>
      </p:pic>
      <p:sp>
        <p:nvSpPr>
          <p:cNvPr id="10" name="poll text"/>
          <p:cNvSpPr txBox="1"/>
          <p:nvPr/>
        </p:nvSpPr>
        <p:spPr>
          <a:xfrm>
            <a:off x="5715000" y="1463040"/>
            <a:ext cx="2834640" cy="1005840"/>
          </a:xfrm>
          <a:prstGeom prst="rect">
            <a:avLst/>
          </a:prstGeom>
          <a:noFill/>
          <a:ln/>
        </p:spPr>
        <p:txBody>
          <a:bodyPr wrap="square" lIns="0" tIns="0" rIns="0" bIns="0" rtlCol="0" anchor="ctr"/>
          <a:lstStyle/>
          <a:p>
            <a:pPr indent="0" marL="0">
              <a:buNone/>
            </a:pPr>
            <a:r>
              <a:rPr lang="en-US" sz="1700" b="1" dirty="0">
                <a:solidFill>
                  <a:schemeClr val="bg1"/>
                </a:solidFill>
              </a:rPr>
              <a:t>¿Anoche dormiste 8 horas o más?</a:t>
            </a:r>
            <a:endParaRPr lang="en-US" sz="1700" dirty="0"/>
          </a:p>
        </p:txBody>
      </p:sp>
      <p:sp>
        <p:nvSpPr>
          <p:cNvPr id="11" name="poll card"/>
          <p:cNvSpPr/>
          <p:nvPr/>
        </p:nvSpPr>
        <p:spPr>
          <a:xfrm>
            <a:off x="457200" y="2880360"/>
            <a:ext cx="4023360" cy="1371600"/>
          </a:xfrm>
          <a:prstGeom prst="roundRect">
            <a:avLst>
              <a:gd name="adj" fmla="val 8000"/>
            </a:avLst>
          </a:prstGeom>
          <a:solidFill>
            <a:schemeClr val="tx1"/>
          </a:solidFill>
          <a:ln w="12700">
            <a:solidFill>
              <a:schemeClr val="tx1"/>
            </a:solidFill>
            <a:prstDash val="solid"/>
          </a:ln>
        </p:spPr>
      </p:sp>
      <p:sp>
        <p:nvSpPr>
          <p:cNvPr id="12" name="icon circle"/>
          <p:cNvSpPr/>
          <p:nvPr/>
        </p:nvSpPr>
        <p:spPr>
          <a:xfrm>
            <a:off x="640080" y="3227832"/>
            <a:ext cx="685800" cy="685800"/>
          </a:xfrm>
          <a:prstGeom prst="ellipse">
            <a:avLst/>
          </a:prstGeom>
          <a:solidFill>
            <a:schemeClr val="accent1"/>
          </a:solidFill>
          <a:ln w="12700">
            <a:solidFill>
              <a:schemeClr val="accent1"/>
            </a:solidFill>
            <a:prstDash val="solid"/>
          </a:ln>
        </p:spPr>
      </p:sp>
      <p:pic>
        <p:nvPicPr>
          <p:cNvPr id="13" name="icon" descr="preencoded.png">    </p:cNvPr>
          <p:cNvPicPr>
            <a:picLocks noChangeAspect="1"/>
          </p:cNvPicPr>
          <p:nvPr/>
        </p:nvPicPr>
        <p:blipFill>
          <a:blip r:embed="rId3"/>
          <a:stretch>
            <a:fillRect/>
          </a:stretch>
        </p:blipFill>
        <p:spPr>
          <a:xfrm>
            <a:off x="790956" y="3378708"/>
            <a:ext cx="384048" cy="384048"/>
          </a:xfrm>
          <a:prstGeom prst="rect">
            <a:avLst/>
          </a:prstGeom>
        </p:spPr>
      </p:pic>
      <p:sp>
        <p:nvSpPr>
          <p:cNvPr id="14" name="poll text"/>
          <p:cNvSpPr txBox="1"/>
          <p:nvPr/>
        </p:nvSpPr>
        <p:spPr>
          <a:xfrm>
            <a:off x="1508760" y="3063240"/>
            <a:ext cx="2834640" cy="1005840"/>
          </a:xfrm>
          <a:prstGeom prst="rect">
            <a:avLst/>
          </a:prstGeom>
          <a:noFill/>
          <a:ln/>
        </p:spPr>
        <p:txBody>
          <a:bodyPr wrap="square" lIns="0" tIns="0" rIns="0" bIns="0" rtlCol="0" anchor="ctr"/>
          <a:lstStyle/>
          <a:p>
            <a:pPr indent="0" marL="0">
              <a:buNone/>
            </a:pPr>
            <a:r>
              <a:rPr lang="en-US" sz="1700" b="1" dirty="0">
                <a:solidFill>
                  <a:schemeClr val="bg1"/>
                </a:solidFill>
              </a:rPr>
              <a:t>¿Más de 3 horas de pantalla ayer (sin contar deberes)?</a:t>
            </a:r>
            <a:endParaRPr lang="en-US" sz="1700" dirty="0"/>
          </a:p>
        </p:txBody>
      </p:sp>
      <p:sp>
        <p:nvSpPr>
          <p:cNvPr id="15" name="poll card"/>
          <p:cNvSpPr/>
          <p:nvPr/>
        </p:nvSpPr>
        <p:spPr>
          <a:xfrm>
            <a:off x="4663440" y="2880360"/>
            <a:ext cx="4023360" cy="1371600"/>
          </a:xfrm>
          <a:prstGeom prst="roundRect">
            <a:avLst>
              <a:gd name="adj" fmla="val 8000"/>
            </a:avLst>
          </a:prstGeom>
          <a:solidFill>
            <a:schemeClr val="tx1"/>
          </a:solidFill>
          <a:ln w="12700">
            <a:solidFill>
              <a:schemeClr val="tx1"/>
            </a:solidFill>
            <a:prstDash val="solid"/>
          </a:ln>
        </p:spPr>
      </p:sp>
      <p:sp>
        <p:nvSpPr>
          <p:cNvPr id="16" name="icon circle"/>
          <p:cNvSpPr/>
          <p:nvPr/>
        </p:nvSpPr>
        <p:spPr>
          <a:xfrm>
            <a:off x="4846320" y="3227832"/>
            <a:ext cx="685800" cy="685800"/>
          </a:xfrm>
          <a:prstGeom prst="ellipse">
            <a:avLst/>
          </a:prstGeom>
          <a:solidFill>
            <a:schemeClr val="accent1"/>
          </a:solidFill>
          <a:ln w="12700">
            <a:solidFill>
              <a:schemeClr val="accent1"/>
            </a:solidFill>
            <a:prstDash val="solid"/>
          </a:ln>
        </p:spPr>
      </p:sp>
      <p:pic>
        <p:nvPicPr>
          <p:cNvPr id="17" name="icon" descr="preencoded.png">    </p:cNvPr>
          <p:cNvPicPr>
            <a:picLocks noChangeAspect="1"/>
          </p:cNvPicPr>
          <p:nvPr/>
        </p:nvPicPr>
        <p:blipFill>
          <a:blip r:embed="rId4"/>
          <a:stretch>
            <a:fillRect/>
          </a:stretch>
        </p:blipFill>
        <p:spPr>
          <a:xfrm>
            <a:off x="4997196" y="3378708"/>
            <a:ext cx="384048" cy="384048"/>
          </a:xfrm>
          <a:prstGeom prst="rect">
            <a:avLst/>
          </a:prstGeom>
        </p:spPr>
      </p:pic>
      <p:sp>
        <p:nvSpPr>
          <p:cNvPr id="18" name="poll text"/>
          <p:cNvSpPr txBox="1"/>
          <p:nvPr/>
        </p:nvSpPr>
        <p:spPr>
          <a:xfrm>
            <a:off x="5715000" y="3063240"/>
            <a:ext cx="2834640" cy="1005840"/>
          </a:xfrm>
          <a:prstGeom prst="rect">
            <a:avLst/>
          </a:prstGeom>
          <a:noFill/>
          <a:ln/>
        </p:spPr>
        <p:txBody>
          <a:bodyPr wrap="square" lIns="0" tIns="0" rIns="0" bIns="0" rtlCol="0" anchor="ctr"/>
          <a:lstStyle/>
          <a:p>
            <a:pPr indent="0" marL="0">
              <a:buNone/>
            </a:pPr>
            <a:r>
              <a:rPr lang="en-US" sz="1700" b="1" dirty="0">
                <a:solidFill>
                  <a:schemeClr val="bg1"/>
                </a:solidFill>
              </a:rPr>
              <a:t>¿Has desayunado hoy?</a:t>
            </a:r>
            <a:endParaRPr lang="en-US" sz="1700" dirty="0"/>
          </a:p>
        </p:txBody>
      </p:sp>
      <p:sp>
        <p:nvSpPr>
          <p:cNvPr id="19" name="caption"/>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1300" i="1" dirty="0">
                <a:solidFill>
                  <a:schemeClr val="accent5"/>
                </a:solidFill>
              </a:rPr>
              <a:t>Sin juicios. Estamos recogiendo datos, como biólogos.</a:t>
            </a:r>
            <a:endParaRPr lang="en-US" sz="13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8C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2800" b="1" dirty="0">
                <a:solidFill>
                  <a:schemeClr val="accent1"/>
                </a:solidFill>
              </a:rPr>
              <a:t>Adivina el número</a:t>
            </a:r>
            <a:endParaRPr lang="en-US" sz="2800" dirty="0"/>
          </a:p>
        </p:txBody>
      </p:sp>
      <p:sp>
        <p:nvSpPr>
          <p:cNvPr id="3" name="question"/>
          <p:cNvSpPr txBox="1"/>
          <p:nvPr/>
        </p:nvSpPr>
        <p:spPr>
          <a:xfrm>
            <a:off x="457200" y="1188720"/>
            <a:ext cx="5120640" cy="1280160"/>
          </a:xfrm>
          <a:prstGeom prst="rect">
            <a:avLst/>
          </a:prstGeom>
          <a:noFill/>
          <a:ln/>
        </p:spPr>
        <p:txBody>
          <a:bodyPr wrap="square" lIns="0" tIns="0" rIns="0" bIns="0" rtlCol="0" anchor="ctr"/>
          <a:lstStyle/>
          <a:p>
            <a:pPr indent="0" marL="0">
              <a:buNone/>
            </a:pPr>
            <a:r>
              <a:rPr lang="en-US" sz="2000" dirty="0">
                <a:solidFill>
                  <a:schemeClr val="bg1"/>
                </a:solidFill>
              </a:rPr>
              <a:t>De cada 100 adolescentes del mundo de 11 a 17 años, ¿cuántos NO llegan a una hora de actividad física al día?</a:t>
            </a:r>
            <a:endParaRPr lang="en-US" sz="2000" dirty="0"/>
          </a:p>
        </p:txBody>
      </p:sp>
      <p:sp>
        <p:nvSpPr>
          <p:cNvPr id="4" name="options"/>
          <p:cNvSpPr txBox="1"/>
          <p:nvPr/>
        </p:nvSpPr>
        <p:spPr>
          <a:xfrm>
            <a:off x="457200" y="2651760"/>
            <a:ext cx="5120640" cy="548640"/>
          </a:xfrm>
          <a:prstGeom prst="rect">
            <a:avLst/>
          </a:prstGeom>
          <a:noFill/>
          <a:ln/>
        </p:spPr>
        <p:txBody>
          <a:bodyPr wrap="square" lIns="0" tIns="0" rIns="0" bIns="0" rtlCol="0" anchor="ctr"/>
          <a:lstStyle/>
          <a:p>
            <a:pPr indent="0" marL="0">
              <a:buNone/>
            </a:pPr>
            <a:r>
              <a:rPr lang="en-US" sz="2200" b="1" dirty="0">
                <a:solidFill>
                  <a:schemeClr val="accent4"/>
                </a:solidFill>
              </a:rPr>
              <a:t>A) 25      B) 50      C) 65      D) 81</a:t>
            </a:r>
            <a:endParaRPr lang="en-US" sz="2200" dirty="0"/>
          </a:p>
        </p:txBody>
      </p:sp>
      <p:sp>
        <p:nvSpPr>
          <p:cNvPr id="5" name="instruction"/>
          <p:cNvSpPr txBox="1"/>
          <p:nvPr/>
        </p:nvSpPr>
        <p:spPr>
          <a:xfrm>
            <a:off x="457200" y="3383280"/>
            <a:ext cx="5120640" cy="731520"/>
          </a:xfrm>
          <a:prstGeom prst="rect">
            <a:avLst/>
          </a:prstGeom>
          <a:noFill/>
          <a:ln/>
        </p:spPr>
        <p:txBody>
          <a:bodyPr wrap="square" lIns="0" tIns="0" rIns="0" bIns="0" rtlCol="0" anchor="ctr"/>
          <a:lstStyle/>
          <a:p>
            <a:pPr indent="0" marL="0">
              <a:buNone/>
            </a:pPr>
            <a:r>
              <a:rPr lang="en-US" sz="1400" i="1" dirty="0">
                <a:solidFill>
                  <a:schemeClr val="accent5"/>
                </a:solidFill>
              </a:rPr>
              <a:t>Levántate y ve a tu respuesta: A pared izquierda, B frente, C pared derecha, D fondo.</a:t>
            </a:r>
            <a:endParaRPr lang="en-US" sz="1400" dirty="0"/>
          </a:p>
        </p:txBody>
      </p:sp>
      <p:sp>
        <p:nvSpPr>
          <p:cNvPr id="6" name="icon circle"/>
          <p:cNvSpPr/>
          <p:nvPr/>
        </p:nvSpPr>
        <p:spPr>
          <a:xfrm>
            <a:off x="6583680" y="1463040"/>
            <a:ext cx="1463040" cy="1463040"/>
          </a:xfrm>
          <a:prstGeom prst="ellipse">
            <a:avLst/>
          </a:prstGeom>
          <a:solidFill>
            <a:schemeClr val="accent1"/>
          </a:solidFill>
          <a:ln w="12700">
            <a:solidFill>
              <a:schemeClr val="accent1"/>
            </a:solidFill>
            <a:prstDash val="solid"/>
          </a:ln>
        </p:spPr>
      </p:sp>
      <p:pic>
        <p:nvPicPr>
          <p:cNvPr id="7" name="icon" descr="preencoded.png">    </p:cNvPr>
          <p:cNvPicPr>
            <a:picLocks noChangeAspect="1"/>
          </p:cNvPicPr>
          <p:nvPr/>
        </p:nvPicPr>
        <p:blipFill>
          <a:blip r:embed="rId1"/>
          <a:stretch>
            <a:fillRect/>
          </a:stretch>
        </p:blipFill>
        <p:spPr>
          <a:xfrm>
            <a:off x="6905549" y="1784909"/>
            <a:ext cx="819302" cy="819302"/>
          </a:xfrm>
          <a:prstGeom prst="rect">
            <a:avLst/>
          </a:prstGeom>
        </p:spPr>
      </p:pic>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8C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rgbClr val="0B2E3A"/>
                </a:solidFill>
              </a:rPr>
              <a:t>La mayoría no llegamos a la hora</a:t>
            </a:r>
            <a:endParaRPr lang="en-US" sz="2800" dirty="0"/>
          </a:p>
        </p:txBody>
      </p:sp>
      <p:graphicFrame>
        <p:nvGraphicFramePr>
          <p:cNvPr id="3" name="chart inactivity" descr=""/>
          <p:cNvGraphicFramePr/>
          <p:nvPr/>
        </p:nvGraphicFramePr>
        <p:xfrm>
          <a:off x="457200" y="1188720"/>
          <a:ext cx="5120640" cy="3383280"/>
        </p:xfrm>
        <a:graphic xmlns:a="http://schemas.openxmlformats.org/drawingml/2006/main">
          <a:graphicData uri="http://schemas.openxmlformats.org/drawingml/2006/chart">
            <c:chart xmlns:c="http://schemas.openxmlformats.org/drawingml/2006/chart" r:id="rId1"/>
          </a:graphicData>
        </a:graphic>
      </p:graphicFrame>
      <p:sp>
        <p:nvSpPr>
          <p:cNvPr id="4" name="side card"/>
          <p:cNvSpPr/>
          <p:nvPr/>
        </p:nvSpPr>
        <p:spPr>
          <a:xfrm>
            <a:off x="5852160" y="1188720"/>
            <a:ext cx="2834640" cy="3383280"/>
          </a:xfrm>
          <a:prstGeom prst="roundRect">
            <a:avLst>
              <a:gd name="adj" fmla="val 3871"/>
            </a:avLst>
          </a:prstGeom>
          <a:solidFill>
            <a:schemeClr val="bg2"/>
          </a:solidFill>
          <a:ln w="12700">
            <a:solidFill>
              <a:schemeClr val="bg2"/>
            </a:solidFill>
            <a:prstDash val="solid"/>
          </a:ln>
        </p:spPr>
      </p:sp>
      <p:sp>
        <p:nvSpPr>
          <p:cNvPr id="5" name="side text"/>
          <p:cNvSpPr txBox="1"/>
          <p:nvPr/>
        </p:nvSpPr>
        <p:spPr>
          <a:xfrm>
            <a:off x="6035040" y="1325880"/>
            <a:ext cx="2468880" cy="3108960"/>
          </a:xfrm>
          <a:prstGeom prst="rect">
            <a:avLst/>
          </a:prstGeom>
          <a:noFill/>
          <a:ln/>
        </p:spPr>
        <p:txBody>
          <a:bodyPr wrap="square" lIns="0" tIns="0" rIns="0" bIns="0" rtlCol="0" anchor="t"/>
          <a:lstStyle/>
          <a:p>
            <a:pPr indent="0" marL="0">
              <a:buNone/>
            </a:pPr>
            <a:r>
              <a:rPr lang="en-US" sz="1500" b="1" dirty="0">
                <a:solidFill>
                  <a:schemeClr val="tx1"/>
                </a:solidFill>
              </a:rPr>
              <a:t>España, estudio PASOS 2022</a:t>
            </a:r>
            <a:endParaRPr lang="en-US" sz="1500" dirty="0"/>
          </a:p>
          <a:p>
            <a:pPr indent="0" marL="0">
              <a:spcAft>
                <a:spcPts val="800"/>
              </a:spcAft>
              <a:buNone/>
            </a:pPr>
            <a:r>
              <a:rPr lang="en-US" sz="1200" dirty="0">
                <a:solidFill>
                  <a:schemeClr val="tx1"/>
                </a:solidFill>
              </a:rPr>
              <a:t>3.201 estudiantes, 245 centros, las 17 comunidades.</a:t>
            </a:r>
            <a:endParaRPr lang="en-US" sz="1500" dirty="0"/>
          </a:p>
          <a:p>
            <a:pPr indent="0" marL="0">
              <a:buNone/>
            </a:pPr>
            <a:r>
              <a:rPr lang="en-US" sz="3000" b="1" dirty="0">
                <a:solidFill>
                  <a:schemeClr val="tx2"/>
                </a:solidFill>
              </a:rPr>
              <a:t>~200 min</a:t>
            </a:r>
            <a:endParaRPr lang="en-US" sz="1500" dirty="0"/>
          </a:p>
          <a:p>
            <a:pPr indent="0" marL="0">
              <a:spcAft>
                <a:spcPts val="800"/>
              </a:spcAft>
              <a:buNone/>
            </a:pPr>
            <a:r>
              <a:rPr lang="en-US" sz="1200" dirty="0">
                <a:solidFill>
                  <a:schemeClr val="tx1"/>
                </a:solidFill>
              </a:rPr>
              <a:t>de pantalla al día entre semana. El máximo recomendado es 120.</a:t>
            </a:r>
            <a:endParaRPr lang="en-US" sz="1500" dirty="0"/>
          </a:p>
          <a:p>
            <a:pPr indent="0" marL="0">
              <a:buNone/>
            </a:pPr>
            <a:r>
              <a:rPr lang="en-US" sz="2200" b="1" dirty="0">
                <a:solidFill>
                  <a:schemeClr val="accent2"/>
                </a:solidFill>
              </a:rPr>
              <a:t>19.5% → 32.2%</a:t>
            </a:r>
            <a:endParaRPr lang="en-US" sz="1500" dirty="0"/>
          </a:p>
          <a:p>
            <a:pPr indent="0" marL="0">
              <a:buNone/>
            </a:pPr>
            <a:r>
              <a:rPr lang="en-US" sz="1200" dirty="0">
                <a:solidFill>
                  <a:schemeClr val="tx1"/>
                </a:solidFill>
              </a:rPr>
              <a:t>estudiantes que se sentían tristes, preocupados o infelices, de 2019 a 2022.</a:t>
            </a:r>
            <a:endParaRPr lang="en-US" sz="1500" dirty="0"/>
          </a:p>
        </p:txBody>
      </p:sp>
      <p:sp>
        <p:nvSpPr>
          <p:cNvPr id="6" name="source"/>
          <p:cNvSpPr txBox="1"/>
          <p:nvPr/>
        </p:nvSpPr>
        <p:spPr>
          <a:xfrm>
            <a:off x="457200" y="4572000"/>
            <a:ext cx="8229600" cy="228600"/>
          </a:xfrm>
          <a:prstGeom prst="rect">
            <a:avLst/>
          </a:prstGeom>
          <a:noFill/>
          <a:ln/>
        </p:spPr>
        <p:txBody>
          <a:bodyPr wrap="square" lIns="0" tIns="0" rIns="0" bIns="0" rtlCol="0" anchor="ctr"/>
          <a:lstStyle/>
          <a:p>
            <a:pPr indent="0" marL="0">
              <a:buNone/>
            </a:pPr>
            <a:r>
              <a:rPr lang="en-US" sz="900" dirty="0">
                <a:solidFill>
                  <a:schemeClr val="accent6"/>
                </a:solidFill>
              </a:rPr>
              <a:t>Fuentes: Guthold R et al. Lancet Child Adolesc Health 2020. Gasol Foundation, estudio PASOS 2022.</a:t>
            </a:r>
            <a:endParaRPr lang="en-US" sz="9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7C8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rgbClr val="0B2E3A"/>
                </a:solidFill>
              </a:rPr>
              <a:t>¿Qué cuenta? La receta de la OMS (2020)</a:t>
            </a:r>
            <a:endParaRPr lang="en-US" sz="2800" dirty="0"/>
          </a:p>
        </p:txBody>
      </p:sp>
      <p:sp>
        <p:nvSpPr>
          <p:cNvPr id="3" name="card"/>
          <p:cNvSpPr/>
          <p:nvPr/>
        </p:nvSpPr>
        <p:spPr>
          <a:xfrm>
            <a:off x="457200" y="1188720"/>
            <a:ext cx="2651760" cy="3200400"/>
          </a:xfrm>
          <a:prstGeom prst="roundRect">
            <a:avLst>
              <a:gd name="adj" fmla="val 4138"/>
            </a:avLst>
          </a:prstGeom>
          <a:solidFill>
            <a:schemeClr val="bg2"/>
          </a:solidFill>
          <a:ln w="12700">
            <a:solidFill>
              <a:schemeClr val="bg2"/>
            </a:solidFill>
            <a:prstDash val="solid"/>
          </a:ln>
        </p:spPr>
      </p:sp>
      <p:sp>
        <p:nvSpPr>
          <p:cNvPr id="4" name="icon circle"/>
          <p:cNvSpPr/>
          <p:nvPr/>
        </p:nvSpPr>
        <p:spPr>
          <a:xfrm>
            <a:off x="640080" y="1371600"/>
            <a:ext cx="548640" cy="54864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760781" y="1492301"/>
            <a:ext cx="307238" cy="307238"/>
          </a:xfrm>
          <a:prstGeom prst="rect">
            <a:avLst/>
          </a:prstGeom>
        </p:spPr>
      </p:pic>
      <p:sp>
        <p:nvSpPr>
          <p:cNvPr id="6" name="card head"/>
          <p:cNvSpPr txBox="1"/>
          <p:nvPr/>
        </p:nvSpPr>
        <p:spPr>
          <a:xfrm>
            <a:off x="1325880" y="1353312"/>
            <a:ext cx="1645920" cy="566928"/>
          </a:xfrm>
          <a:prstGeom prst="rect">
            <a:avLst/>
          </a:prstGeom>
          <a:noFill/>
          <a:ln/>
        </p:spPr>
        <p:txBody>
          <a:bodyPr wrap="square" lIns="0" tIns="0" rIns="0" bIns="0" rtlCol="0" anchor="ctr"/>
          <a:lstStyle/>
          <a:p>
            <a:pPr indent="0" marL="0">
              <a:buNone/>
            </a:pPr>
            <a:r>
              <a:rPr lang="en-US" sz="1600" b="1" dirty="0">
                <a:solidFill>
                  <a:schemeClr val="tx1"/>
                </a:solidFill>
              </a:rPr>
              <a:t>60 minutos al día</a:t>
            </a:r>
            <a:endParaRPr lang="en-US" sz="1600" dirty="0"/>
          </a:p>
        </p:txBody>
      </p:sp>
      <p:sp>
        <p:nvSpPr>
          <p:cNvPr id="7" name="card body"/>
          <p:cNvSpPr txBox="1"/>
          <p:nvPr/>
        </p:nvSpPr>
        <p:spPr>
          <a:xfrm>
            <a:off x="640080" y="2057400"/>
            <a:ext cx="2286000" cy="2194560"/>
          </a:xfrm>
          <a:prstGeom prst="rect">
            <a:avLst/>
          </a:prstGeom>
          <a:noFill/>
          <a:ln/>
        </p:spPr>
        <p:txBody>
          <a:bodyPr wrap="square" lIns="0" tIns="0" rIns="0" bIns="0" rtlCol="0" anchor="t"/>
          <a:lstStyle/>
          <a:p>
            <a:pPr indent="0" marL="0">
              <a:buNone/>
            </a:pPr>
            <a:r>
              <a:rPr lang="en-US" sz="1300" dirty="0">
                <a:solidFill>
                  <a:schemeClr val="tx1"/>
                </a:solidFill>
              </a:rPr>
              <a:t>Actividad moderada o vigorosa, de media a lo largo de la semana. Ir rápido al instituto, bailar, fútbol en el patio, bici: todo suma. 10 + 10 + 20 + 20 cuenta.</a:t>
            </a:r>
            <a:endParaRPr lang="en-US" sz="1300" dirty="0"/>
          </a:p>
        </p:txBody>
      </p:sp>
      <p:sp>
        <p:nvSpPr>
          <p:cNvPr id="8" name="card"/>
          <p:cNvSpPr/>
          <p:nvPr/>
        </p:nvSpPr>
        <p:spPr>
          <a:xfrm>
            <a:off x="3246120" y="1188720"/>
            <a:ext cx="2651760" cy="3200400"/>
          </a:xfrm>
          <a:prstGeom prst="roundRect">
            <a:avLst>
              <a:gd name="adj" fmla="val 4138"/>
            </a:avLst>
          </a:prstGeom>
          <a:solidFill>
            <a:schemeClr val="bg2"/>
          </a:solidFill>
          <a:ln w="12700">
            <a:solidFill>
              <a:schemeClr val="bg2"/>
            </a:solidFill>
            <a:prstDash val="solid"/>
          </a:ln>
        </p:spPr>
      </p:sp>
      <p:sp>
        <p:nvSpPr>
          <p:cNvPr id="9" name="icon circle"/>
          <p:cNvSpPr/>
          <p:nvPr/>
        </p:nvSpPr>
        <p:spPr>
          <a:xfrm>
            <a:off x="3429000" y="1371600"/>
            <a:ext cx="548640" cy="548640"/>
          </a:xfrm>
          <a:prstGeom prst="ellipse">
            <a:avLst/>
          </a:prstGeom>
          <a:solidFill>
            <a:schemeClr val="accent1"/>
          </a:solidFill>
          <a:ln w="12700">
            <a:solidFill>
              <a:schemeClr val="accent1"/>
            </a:solidFill>
            <a:prstDash val="solid"/>
          </a:ln>
        </p:spPr>
      </p:sp>
      <p:pic>
        <p:nvPicPr>
          <p:cNvPr id="10" name="icon" descr="preencoded.png">    </p:cNvPr>
          <p:cNvPicPr>
            <a:picLocks noChangeAspect="1"/>
          </p:cNvPicPr>
          <p:nvPr/>
        </p:nvPicPr>
        <p:blipFill>
          <a:blip r:embed="rId2"/>
          <a:stretch>
            <a:fillRect/>
          </a:stretch>
        </p:blipFill>
        <p:spPr>
          <a:xfrm>
            <a:off x="3549701" y="1492301"/>
            <a:ext cx="307238" cy="307238"/>
          </a:xfrm>
          <a:prstGeom prst="rect">
            <a:avLst/>
          </a:prstGeom>
        </p:spPr>
      </p:pic>
      <p:sp>
        <p:nvSpPr>
          <p:cNvPr id="11" name="card head"/>
          <p:cNvSpPr txBox="1"/>
          <p:nvPr/>
        </p:nvSpPr>
        <p:spPr>
          <a:xfrm>
            <a:off x="4114800" y="1353312"/>
            <a:ext cx="1645920" cy="566928"/>
          </a:xfrm>
          <a:prstGeom prst="rect">
            <a:avLst/>
          </a:prstGeom>
          <a:noFill/>
          <a:ln/>
        </p:spPr>
        <p:txBody>
          <a:bodyPr wrap="square" lIns="0" tIns="0" rIns="0" bIns="0" rtlCol="0" anchor="ctr"/>
          <a:lstStyle/>
          <a:p>
            <a:pPr indent="0" marL="0">
              <a:buNone/>
            </a:pPr>
            <a:r>
              <a:rPr lang="en-US" sz="1600" b="1" dirty="0">
                <a:solidFill>
                  <a:schemeClr val="tx1"/>
                </a:solidFill>
              </a:rPr>
              <a:t>3 días a la semana</a:t>
            </a:r>
            <a:endParaRPr lang="en-US" sz="1600" dirty="0"/>
          </a:p>
        </p:txBody>
      </p:sp>
      <p:sp>
        <p:nvSpPr>
          <p:cNvPr id="12" name="card body"/>
          <p:cNvSpPr txBox="1"/>
          <p:nvPr/>
        </p:nvSpPr>
        <p:spPr>
          <a:xfrm>
            <a:off x="3429000" y="2057400"/>
            <a:ext cx="2286000" cy="2194560"/>
          </a:xfrm>
          <a:prstGeom prst="rect">
            <a:avLst/>
          </a:prstGeom>
          <a:noFill/>
          <a:ln/>
        </p:spPr>
        <p:txBody>
          <a:bodyPr wrap="square" lIns="0" tIns="0" rIns="0" bIns="0" rtlCol="0" anchor="t"/>
          <a:lstStyle/>
          <a:p>
            <a:pPr indent="0" marL="0">
              <a:buNone/>
            </a:pPr>
            <a:r>
              <a:rPr lang="en-US" sz="1300" dirty="0">
                <a:solidFill>
                  <a:schemeClr val="tx1"/>
                </a:solidFill>
              </a:rPr>
              <a:t>Actividad vigorosa y algo que cargue músculos y huesos: sprints, saltos, trepar, flexiones, cargar peso, gimnasio con supervisión. Ahora es cuando se construye el hueso.</a:t>
            </a:r>
            <a:endParaRPr lang="en-US" sz="1300" dirty="0"/>
          </a:p>
        </p:txBody>
      </p:sp>
      <p:sp>
        <p:nvSpPr>
          <p:cNvPr id="13" name="card"/>
          <p:cNvSpPr/>
          <p:nvPr/>
        </p:nvSpPr>
        <p:spPr>
          <a:xfrm>
            <a:off x="6035040" y="1188720"/>
            <a:ext cx="2651760" cy="3200400"/>
          </a:xfrm>
          <a:prstGeom prst="roundRect">
            <a:avLst>
              <a:gd name="adj" fmla="val 4138"/>
            </a:avLst>
          </a:prstGeom>
          <a:solidFill>
            <a:schemeClr val="bg2"/>
          </a:solidFill>
          <a:ln w="12700">
            <a:solidFill>
              <a:schemeClr val="bg2"/>
            </a:solidFill>
            <a:prstDash val="solid"/>
          </a:ln>
        </p:spPr>
      </p:sp>
      <p:sp>
        <p:nvSpPr>
          <p:cNvPr id="14" name="icon circle"/>
          <p:cNvSpPr/>
          <p:nvPr/>
        </p:nvSpPr>
        <p:spPr>
          <a:xfrm>
            <a:off x="6217920" y="1371600"/>
            <a:ext cx="548640" cy="548640"/>
          </a:xfrm>
          <a:prstGeom prst="ellipse">
            <a:avLst/>
          </a:prstGeom>
          <a:solidFill>
            <a:schemeClr val="accent1"/>
          </a:solidFill>
          <a:ln w="12700">
            <a:solidFill>
              <a:schemeClr val="accent1"/>
            </a:solidFill>
            <a:prstDash val="solid"/>
          </a:ln>
        </p:spPr>
      </p:sp>
      <p:pic>
        <p:nvPicPr>
          <p:cNvPr id="15" name="icon" descr="preencoded.png">    </p:cNvPr>
          <p:cNvPicPr>
            <a:picLocks noChangeAspect="1"/>
          </p:cNvPicPr>
          <p:nvPr/>
        </p:nvPicPr>
        <p:blipFill>
          <a:blip r:embed="rId3"/>
          <a:stretch>
            <a:fillRect/>
          </a:stretch>
        </p:blipFill>
        <p:spPr>
          <a:xfrm>
            <a:off x="6338621" y="1492301"/>
            <a:ext cx="307238" cy="307238"/>
          </a:xfrm>
          <a:prstGeom prst="rect">
            <a:avLst/>
          </a:prstGeom>
        </p:spPr>
      </p:pic>
      <p:sp>
        <p:nvSpPr>
          <p:cNvPr id="16" name="card head"/>
          <p:cNvSpPr txBox="1"/>
          <p:nvPr/>
        </p:nvSpPr>
        <p:spPr>
          <a:xfrm>
            <a:off x="6903720" y="1353312"/>
            <a:ext cx="1645920" cy="566928"/>
          </a:xfrm>
          <a:prstGeom prst="rect">
            <a:avLst/>
          </a:prstGeom>
          <a:noFill/>
          <a:ln/>
        </p:spPr>
        <p:txBody>
          <a:bodyPr wrap="square" lIns="0" tIns="0" rIns="0" bIns="0" rtlCol="0" anchor="ctr"/>
          <a:lstStyle/>
          <a:p>
            <a:pPr indent="0" marL="0">
              <a:buNone/>
            </a:pPr>
            <a:r>
              <a:rPr lang="en-US" sz="1600" b="1" dirty="0">
                <a:solidFill>
                  <a:schemeClr val="tx1"/>
                </a:solidFill>
              </a:rPr>
              <a:t>Menos tiempo sentado</a:t>
            </a:r>
            <a:endParaRPr lang="en-US" sz="1600" dirty="0"/>
          </a:p>
        </p:txBody>
      </p:sp>
      <p:sp>
        <p:nvSpPr>
          <p:cNvPr id="17" name="card body"/>
          <p:cNvSpPr txBox="1"/>
          <p:nvPr/>
        </p:nvSpPr>
        <p:spPr>
          <a:xfrm>
            <a:off x="6217920" y="2057400"/>
            <a:ext cx="2286000" cy="2194560"/>
          </a:xfrm>
          <a:prstGeom prst="rect">
            <a:avLst/>
          </a:prstGeom>
          <a:noFill/>
          <a:ln/>
        </p:spPr>
        <p:txBody>
          <a:bodyPr wrap="square" lIns="0" tIns="0" rIns="0" bIns="0" rtlCol="0" anchor="t"/>
          <a:lstStyle/>
          <a:p>
            <a:pPr indent="0" marL="0">
              <a:buNone/>
            </a:pPr>
            <a:r>
              <a:rPr lang="en-US" sz="1300" dirty="0">
                <a:solidFill>
                  <a:schemeClr val="tx1"/>
                </a:solidFill>
              </a:rPr>
              <a:t>Limita la pantalla de ocio. Un entrenamiento no cancela todo el día sentado: levántate cada hora.</a:t>
            </a:r>
            <a:endParaRPr lang="en-US" sz="1300" dirty="0"/>
          </a:p>
        </p:txBody>
      </p:sp>
      <p:sp>
        <p:nvSpPr>
          <p:cNvPr id="18" name="caption"/>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1200" i="1" dirty="0">
                <a:solidFill>
                  <a:schemeClr val="accent6"/>
                </a:solidFill>
              </a:rPr>
              <a:t>La prueba del habla: moderado = puedes hablar pero no cantar. Vigoroso = solo te salen unas palabras.</a:t>
            </a:r>
            <a:endParaRPr lang="en-US" sz="12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7C8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2800" b="1" dirty="0">
                <a:solidFill>
                  <a:schemeClr val="accent1"/>
                </a:solidFill>
              </a:rPr>
              <a:t>¿Por qué? No va de peso</a:t>
            </a:r>
            <a:endParaRPr lang="en-US" sz="2800" dirty="0"/>
          </a:p>
        </p:txBody>
      </p:sp>
      <p:sp>
        <p:nvSpPr>
          <p:cNvPr id="3" name="icon circle"/>
          <p:cNvSpPr/>
          <p:nvPr/>
        </p:nvSpPr>
        <p:spPr>
          <a:xfrm>
            <a:off x="457200" y="1234440"/>
            <a:ext cx="594360" cy="594360"/>
          </a:xfrm>
          <a:prstGeom prst="ellipse">
            <a:avLst/>
          </a:prstGeom>
          <a:solidFill>
            <a:schemeClr val="accent1"/>
          </a:solidFill>
          <a:ln w="12700">
            <a:solidFill>
              <a:schemeClr val="accent1"/>
            </a:solidFill>
            <a:prstDash val="solid"/>
          </a:ln>
        </p:spPr>
      </p:sp>
      <p:pic>
        <p:nvPicPr>
          <p:cNvPr id="4" name="icon" descr="preencoded.png">    </p:cNvPr>
          <p:cNvPicPr>
            <a:picLocks noChangeAspect="1"/>
          </p:cNvPicPr>
          <p:nvPr/>
        </p:nvPicPr>
        <p:blipFill>
          <a:blip r:embed="rId1"/>
          <a:stretch>
            <a:fillRect/>
          </a:stretch>
        </p:blipFill>
        <p:spPr>
          <a:xfrm>
            <a:off x="587959" y="1365199"/>
            <a:ext cx="332842" cy="332842"/>
          </a:xfrm>
          <a:prstGeom prst="rect">
            <a:avLst/>
          </a:prstGeom>
        </p:spPr>
      </p:pic>
      <p:sp>
        <p:nvSpPr>
          <p:cNvPr id="5" name="why head"/>
          <p:cNvSpPr txBox="1"/>
          <p:nvPr/>
        </p:nvSpPr>
        <p:spPr>
          <a:xfrm>
            <a:off x="1188720" y="1216152"/>
            <a:ext cx="2011680" cy="365760"/>
          </a:xfrm>
          <a:prstGeom prst="rect">
            <a:avLst/>
          </a:prstGeom>
          <a:noFill/>
          <a:ln/>
        </p:spPr>
        <p:txBody>
          <a:bodyPr wrap="square" lIns="0" tIns="0" rIns="0" bIns="0" rtlCol="0" anchor="ctr"/>
          <a:lstStyle/>
          <a:p>
            <a:pPr indent="0" marL="0">
              <a:buNone/>
            </a:pPr>
            <a:r>
              <a:rPr lang="en-US" sz="1600" b="1" dirty="0">
                <a:solidFill>
                  <a:schemeClr val="accent1"/>
                </a:solidFill>
              </a:rPr>
              <a:t>Cerebro</a:t>
            </a:r>
            <a:endParaRPr lang="en-US" sz="1600" dirty="0"/>
          </a:p>
        </p:txBody>
      </p:sp>
      <p:sp>
        <p:nvSpPr>
          <p:cNvPr id="6" name="why body"/>
          <p:cNvSpPr txBox="1"/>
          <p:nvPr/>
        </p:nvSpPr>
        <p:spPr>
          <a:xfrm>
            <a:off x="457200" y="1892808"/>
            <a:ext cx="2606040" cy="914400"/>
          </a:xfrm>
          <a:prstGeom prst="rect">
            <a:avLst/>
          </a:prstGeom>
          <a:noFill/>
          <a:ln/>
        </p:spPr>
        <p:txBody>
          <a:bodyPr wrap="square" lIns="0" tIns="0" rIns="0" bIns="0" rtlCol="0" anchor="t"/>
          <a:lstStyle/>
          <a:p>
            <a:pPr indent="0" marL="0">
              <a:buNone/>
            </a:pPr>
            <a:r>
              <a:rPr lang="en-US" sz="1200" dirty="0">
                <a:solidFill>
                  <a:schemeClr val="bg1"/>
                </a:solidFill>
              </a:rPr>
              <a:t>Más atención, memoria y mejores notas. El ejercicio libera BDNF, un factor de crecimiento para las neuronas.</a:t>
            </a:r>
            <a:endParaRPr lang="en-US" sz="1200" dirty="0"/>
          </a:p>
        </p:txBody>
      </p:sp>
      <p:sp>
        <p:nvSpPr>
          <p:cNvPr id="7" name="icon circle"/>
          <p:cNvSpPr/>
          <p:nvPr/>
        </p:nvSpPr>
        <p:spPr>
          <a:xfrm>
            <a:off x="3246120" y="1234440"/>
            <a:ext cx="594360" cy="594360"/>
          </a:xfrm>
          <a:prstGeom prst="ellipse">
            <a:avLst/>
          </a:prstGeom>
          <a:solidFill>
            <a:schemeClr val="accent1"/>
          </a:solidFill>
          <a:ln w="12700">
            <a:solidFill>
              <a:schemeClr val="accent1"/>
            </a:solidFill>
            <a:prstDash val="solid"/>
          </a:ln>
        </p:spPr>
      </p:sp>
      <p:pic>
        <p:nvPicPr>
          <p:cNvPr id="8" name="icon" descr="preencoded.png">    </p:cNvPr>
          <p:cNvPicPr>
            <a:picLocks noChangeAspect="1"/>
          </p:cNvPicPr>
          <p:nvPr/>
        </p:nvPicPr>
        <p:blipFill>
          <a:blip r:embed="rId2"/>
          <a:stretch>
            <a:fillRect/>
          </a:stretch>
        </p:blipFill>
        <p:spPr>
          <a:xfrm>
            <a:off x="3376879" y="1365199"/>
            <a:ext cx="332842" cy="332842"/>
          </a:xfrm>
          <a:prstGeom prst="rect">
            <a:avLst/>
          </a:prstGeom>
        </p:spPr>
      </p:pic>
      <p:sp>
        <p:nvSpPr>
          <p:cNvPr id="9" name="why head"/>
          <p:cNvSpPr txBox="1"/>
          <p:nvPr/>
        </p:nvSpPr>
        <p:spPr>
          <a:xfrm>
            <a:off x="3977640" y="1216152"/>
            <a:ext cx="2011680" cy="365760"/>
          </a:xfrm>
          <a:prstGeom prst="rect">
            <a:avLst/>
          </a:prstGeom>
          <a:noFill/>
          <a:ln/>
        </p:spPr>
        <p:txBody>
          <a:bodyPr wrap="square" lIns="0" tIns="0" rIns="0" bIns="0" rtlCol="0" anchor="ctr"/>
          <a:lstStyle/>
          <a:p>
            <a:pPr indent="0" marL="0">
              <a:buNone/>
            </a:pPr>
            <a:r>
              <a:rPr lang="en-US" sz="1600" b="1" dirty="0">
                <a:solidFill>
                  <a:schemeClr val="accent1"/>
                </a:solidFill>
              </a:rPr>
              <a:t>Ánimo</a:t>
            </a:r>
            <a:endParaRPr lang="en-US" sz="1600" dirty="0"/>
          </a:p>
        </p:txBody>
      </p:sp>
      <p:sp>
        <p:nvSpPr>
          <p:cNvPr id="10" name="why body"/>
          <p:cNvSpPr txBox="1"/>
          <p:nvPr/>
        </p:nvSpPr>
        <p:spPr>
          <a:xfrm>
            <a:off x="3246120" y="1892808"/>
            <a:ext cx="2606040" cy="914400"/>
          </a:xfrm>
          <a:prstGeom prst="rect">
            <a:avLst/>
          </a:prstGeom>
          <a:noFill/>
          <a:ln/>
        </p:spPr>
        <p:txBody>
          <a:bodyPr wrap="square" lIns="0" tIns="0" rIns="0" bIns="0" rtlCol="0" anchor="t"/>
          <a:lstStyle/>
          <a:p>
            <a:pPr indent="0" marL="0">
              <a:buNone/>
            </a:pPr>
            <a:r>
              <a:rPr lang="en-US" sz="1200" dirty="0">
                <a:solidFill>
                  <a:schemeClr val="bg1"/>
                </a:solidFill>
              </a:rPr>
              <a:t>Menos ansiedad y menos síntomas depresivos; en adolescentes, un efecto comparable al de algunos tratamientos.</a:t>
            </a:r>
            <a:endParaRPr lang="en-US" sz="1200" dirty="0"/>
          </a:p>
        </p:txBody>
      </p:sp>
      <p:sp>
        <p:nvSpPr>
          <p:cNvPr id="11" name="icon circle"/>
          <p:cNvSpPr/>
          <p:nvPr/>
        </p:nvSpPr>
        <p:spPr>
          <a:xfrm>
            <a:off x="6035040" y="1234440"/>
            <a:ext cx="594360" cy="594360"/>
          </a:xfrm>
          <a:prstGeom prst="ellipse">
            <a:avLst/>
          </a:prstGeom>
          <a:solidFill>
            <a:schemeClr val="accent1"/>
          </a:solidFill>
          <a:ln w="12700">
            <a:solidFill>
              <a:schemeClr val="accent1"/>
            </a:solidFill>
            <a:prstDash val="solid"/>
          </a:ln>
        </p:spPr>
      </p:sp>
      <p:pic>
        <p:nvPicPr>
          <p:cNvPr id="12" name="icon" descr="preencoded.png">    </p:cNvPr>
          <p:cNvPicPr>
            <a:picLocks noChangeAspect="1"/>
          </p:cNvPicPr>
          <p:nvPr/>
        </p:nvPicPr>
        <p:blipFill>
          <a:blip r:embed="rId3"/>
          <a:stretch>
            <a:fillRect/>
          </a:stretch>
        </p:blipFill>
        <p:spPr>
          <a:xfrm>
            <a:off x="6165799" y="1365199"/>
            <a:ext cx="332842" cy="332842"/>
          </a:xfrm>
          <a:prstGeom prst="rect">
            <a:avLst/>
          </a:prstGeom>
        </p:spPr>
      </p:pic>
      <p:sp>
        <p:nvSpPr>
          <p:cNvPr id="13" name="why head"/>
          <p:cNvSpPr txBox="1"/>
          <p:nvPr/>
        </p:nvSpPr>
        <p:spPr>
          <a:xfrm>
            <a:off x="6766560" y="1216152"/>
            <a:ext cx="2011680" cy="365760"/>
          </a:xfrm>
          <a:prstGeom prst="rect">
            <a:avLst/>
          </a:prstGeom>
          <a:noFill/>
          <a:ln/>
        </p:spPr>
        <p:txBody>
          <a:bodyPr wrap="square" lIns="0" tIns="0" rIns="0" bIns="0" rtlCol="0" anchor="ctr"/>
          <a:lstStyle/>
          <a:p>
            <a:pPr indent="0" marL="0">
              <a:buNone/>
            </a:pPr>
            <a:r>
              <a:rPr lang="en-US" sz="1600" b="1" dirty="0">
                <a:solidFill>
                  <a:schemeClr val="accent1"/>
                </a:solidFill>
              </a:rPr>
              <a:t>Huesos</a:t>
            </a:r>
            <a:endParaRPr lang="en-US" sz="1600" dirty="0"/>
          </a:p>
        </p:txBody>
      </p:sp>
      <p:sp>
        <p:nvSpPr>
          <p:cNvPr id="14" name="why body"/>
          <p:cNvSpPr txBox="1"/>
          <p:nvPr/>
        </p:nvSpPr>
        <p:spPr>
          <a:xfrm>
            <a:off x="6035040" y="1892808"/>
            <a:ext cx="2606040" cy="914400"/>
          </a:xfrm>
          <a:prstGeom prst="rect">
            <a:avLst/>
          </a:prstGeom>
          <a:noFill/>
          <a:ln/>
        </p:spPr>
        <p:txBody>
          <a:bodyPr wrap="square" lIns="0" tIns="0" rIns="0" bIns="0" rtlCol="0" anchor="t"/>
          <a:lstStyle/>
          <a:p>
            <a:pPr indent="0" marL="0">
              <a:buNone/>
            </a:pPr>
            <a:r>
              <a:rPr lang="en-US" sz="1200" dirty="0">
                <a:solidFill>
                  <a:schemeClr val="bg1"/>
                </a:solidFill>
              </a:rPr>
              <a:t>Cerca del 90 % de tu masa ósea adulta se construye antes de los 18-20. Saltar ahora es el plan de pensiones de tu esqueleto.</a:t>
            </a:r>
            <a:endParaRPr lang="en-US" sz="1200" dirty="0"/>
          </a:p>
        </p:txBody>
      </p:sp>
      <p:sp>
        <p:nvSpPr>
          <p:cNvPr id="15" name="icon circle"/>
          <p:cNvSpPr/>
          <p:nvPr/>
        </p:nvSpPr>
        <p:spPr>
          <a:xfrm>
            <a:off x="457200" y="2926080"/>
            <a:ext cx="594360" cy="594360"/>
          </a:xfrm>
          <a:prstGeom prst="ellipse">
            <a:avLst/>
          </a:prstGeom>
          <a:solidFill>
            <a:schemeClr val="accent1"/>
          </a:solidFill>
          <a:ln w="12700">
            <a:solidFill>
              <a:schemeClr val="accent1"/>
            </a:solidFill>
            <a:prstDash val="solid"/>
          </a:ln>
        </p:spPr>
      </p:sp>
      <p:pic>
        <p:nvPicPr>
          <p:cNvPr id="16" name="icon" descr="preencoded.png">    </p:cNvPr>
          <p:cNvPicPr>
            <a:picLocks noChangeAspect="1"/>
          </p:cNvPicPr>
          <p:nvPr/>
        </p:nvPicPr>
        <p:blipFill>
          <a:blip r:embed="rId4"/>
          <a:stretch>
            <a:fillRect/>
          </a:stretch>
        </p:blipFill>
        <p:spPr>
          <a:xfrm>
            <a:off x="587959" y="3056839"/>
            <a:ext cx="332842" cy="332842"/>
          </a:xfrm>
          <a:prstGeom prst="rect">
            <a:avLst/>
          </a:prstGeom>
        </p:spPr>
      </p:pic>
      <p:sp>
        <p:nvSpPr>
          <p:cNvPr id="17" name="why head"/>
          <p:cNvSpPr txBox="1"/>
          <p:nvPr/>
        </p:nvSpPr>
        <p:spPr>
          <a:xfrm>
            <a:off x="1188720" y="2907792"/>
            <a:ext cx="2011680" cy="365760"/>
          </a:xfrm>
          <a:prstGeom prst="rect">
            <a:avLst/>
          </a:prstGeom>
          <a:noFill/>
          <a:ln/>
        </p:spPr>
        <p:txBody>
          <a:bodyPr wrap="square" lIns="0" tIns="0" rIns="0" bIns="0" rtlCol="0" anchor="ctr"/>
          <a:lstStyle/>
          <a:p>
            <a:pPr indent="0" marL="0">
              <a:buNone/>
            </a:pPr>
            <a:r>
              <a:rPr lang="en-US" sz="1600" b="1" dirty="0">
                <a:solidFill>
                  <a:schemeClr val="accent1"/>
                </a:solidFill>
              </a:rPr>
              <a:t>Corazón y metabolismo</a:t>
            </a:r>
            <a:endParaRPr lang="en-US" sz="1600" dirty="0"/>
          </a:p>
        </p:txBody>
      </p:sp>
      <p:sp>
        <p:nvSpPr>
          <p:cNvPr id="18" name="why body"/>
          <p:cNvSpPr txBox="1"/>
          <p:nvPr/>
        </p:nvSpPr>
        <p:spPr>
          <a:xfrm>
            <a:off x="457200" y="3584448"/>
            <a:ext cx="2606040" cy="914400"/>
          </a:xfrm>
          <a:prstGeom prst="rect">
            <a:avLst/>
          </a:prstGeom>
          <a:noFill/>
          <a:ln/>
        </p:spPr>
        <p:txBody>
          <a:bodyPr wrap="square" lIns="0" tIns="0" rIns="0" bIns="0" rtlCol="0" anchor="t"/>
          <a:lstStyle/>
          <a:p>
            <a:pPr indent="0" marL="0">
              <a:buNone/>
            </a:pPr>
            <a:r>
              <a:rPr lang="en-US" sz="1200" dirty="0">
                <a:solidFill>
                  <a:schemeClr val="bg1"/>
                </a:solidFill>
              </a:rPr>
              <a:t>Corazón más eficiente, mejor sensibilidad a la insulina, tensión más baja, sea cual sea tu talla.</a:t>
            </a:r>
            <a:endParaRPr lang="en-US" sz="1200" dirty="0"/>
          </a:p>
        </p:txBody>
      </p:sp>
      <p:sp>
        <p:nvSpPr>
          <p:cNvPr id="19" name="icon circle"/>
          <p:cNvSpPr/>
          <p:nvPr/>
        </p:nvSpPr>
        <p:spPr>
          <a:xfrm>
            <a:off x="3246120" y="2926080"/>
            <a:ext cx="594360" cy="594360"/>
          </a:xfrm>
          <a:prstGeom prst="ellipse">
            <a:avLst/>
          </a:prstGeom>
          <a:solidFill>
            <a:schemeClr val="accent1"/>
          </a:solidFill>
          <a:ln w="12700">
            <a:solidFill>
              <a:schemeClr val="accent1"/>
            </a:solidFill>
            <a:prstDash val="solid"/>
          </a:ln>
        </p:spPr>
      </p:sp>
      <p:pic>
        <p:nvPicPr>
          <p:cNvPr id="20" name="icon" descr="preencoded.png">    </p:cNvPr>
          <p:cNvPicPr>
            <a:picLocks noChangeAspect="1"/>
          </p:cNvPicPr>
          <p:nvPr/>
        </p:nvPicPr>
        <p:blipFill>
          <a:blip r:embed="rId5"/>
          <a:stretch>
            <a:fillRect/>
          </a:stretch>
        </p:blipFill>
        <p:spPr>
          <a:xfrm>
            <a:off x="3376879" y="3056839"/>
            <a:ext cx="332842" cy="332842"/>
          </a:xfrm>
          <a:prstGeom prst="rect">
            <a:avLst/>
          </a:prstGeom>
        </p:spPr>
      </p:pic>
      <p:sp>
        <p:nvSpPr>
          <p:cNvPr id="21" name="why head"/>
          <p:cNvSpPr txBox="1"/>
          <p:nvPr/>
        </p:nvSpPr>
        <p:spPr>
          <a:xfrm>
            <a:off x="3977640" y="2907792"/>
            <a:ext cx="2011680" cy="365760"/>
          </a:xfrm>
          <a:prstGeom prst="rect">
            <a:avLst/>
          </a:prstGeom>
          <a:noFill/>
          <a:ln/>
        </p:spPr>
        <p:txBody>
          <a:bodyPr wrap="square" lIns="0" tIns="0" rIns="0" bIns="0" rtlCol="0" anchor="ctr"/>
          <a:lstStyle/>
          <a:p>
            <a:pPr indent="0" marL="0">
              <a:buNone/>
            </a:pPr>
            <a:r>
              <a:rPr lang="en-US" sz="1600" b="1" dirty="0">
                <a:solidFill>
                  <a:schemeClr val="accent1"/>
                </a:solidFill>
              </a:rPr>
              <a:t>Sueño</a:t>
            </a:r>
            <a:endParaRPr lang="en-US" sz="1600" dirty="0"/>
          </a:p>
        </p:txBody>
      </p:sp>
      <p:sp>
        <p:nvSpPr>
          <p:cNvPr id="22" name="why body"/>
          <p:cNvSpPr txBox="1"/>
          <p:nvPr/>
        </p:nvSpPr>
        <p:spPr>
          <a:xfrm>
            <a:off x="3246120" y="3584448"/>
            <a:ext cx="2606040" cy="914400"/>
          </a:xfrm>
          <a:prstGeom prst="rect">
            <a:avLst/>
          </a:prstGeom>
          <a:noFill/>
          <a:ln/>
        </p:spPr>
        <p:txBody>
          <a:bodyPr wrap="square" lIns="0" tIns="0" rIns="0" bIns="0" rtlCol="0" anchor="t"/>
          <a:lstStyle/>
          <a:p>
            <a:pPr indent="0" marL="0">
              <a:buNone/>
            </a:pPr>
            <a:r>
              <a:rPr lang="en-US" sz="1200" dirty="0">
                <a:solidFill>
                  <a:schemeClr val="bg1"/>
                </a:solidFill>
              </a:rPr>
              <a:t>Los días activos dan un sueño más profundo. El sueño profundo da días más activos. Un círculo virtuoso.</a:t>
            </a:r>
            <a:endParaRPr lang="en-US" sz="1200" dirty="0"/>
          </a:p>
        </p:txBody>
      </p:sp>
      <p:sp>
        <p:nvSpPr>
          <p:cNvPr id="23" name="icon circle"/>
          <p:cNvSpPr/>
          <p:nvPr/>
        </p:nvSpPr>
        <p:spPr>
          <a:xfrm>
            <a:off x="6035040" y="2926080"/>
            <a:ext cx="594360" cy="594360"/>
          </a:xfrm>
          <a:prstGeom prst="ellipse">
            <a:avLst/>
          </a:prstGeom>
          <a:solidFill>
            <a:schemeClr val="accent1"/>
          </a:solidFill>
          <a:ln w="12700">
            <a:solidFill>
              <a:schemeClr val="accent1"/>
            </a:solidFill>
            <a:prstDash val="solid"/>
          </a:ln>
        </p:spPr>
      </p:sp>
      <p:pic>
        <p:nvPicPr>
          <p:cNvPr id="24" name="icon" descr="preencoded.png">    </p:cNvPr>
          <p:cNvPicPr>
            <a:picLocks noChangeAspect="1"/>
          </p:cNvPicPr>
          <p:nvPr/>
        </p:nvPicPr>
        <p:blipFill>
          <a:blip r:embed="rId6"/>
          <a:stretch>
            <a:fillRect/>
          </a:stretch>
        </p:blipFill>
        <p:spPr>
          <a:xfrm>
            <a:off x="6165799" y="3056839"/>
            <a:ext cx="332842" cy="332842"/>
          </a:xfrm>
          <a:prstGeom prst="rect">
            <a:avLst/>
          </a:prstGeom>
        </p:spPr>
      </p:pic>
      <p:sp>
        <p:nvSpPr>
          <p:cNvPr id="25" name="why head"/>
          <p:cNvSpPr txBox="1"/>
          <p:nvPr/>
        </p:nvSpPr>
        <p:spPr>
          <a:xfrm>
            <a:off x="6766560" y="2907792"/>
            <a:ext cx="2011680" cy="365760"/>
          </a:xfrm>
          <a:prstGeom prst="rect">
            <a:avLst/>
          </a:prstGeom>
          <a:noFill/>
          <a:ln/>
        </p:spPr>
        <p:txBody>
          <a:bodyPr wrap="square" lIns="0" tIns="0" rIns="0" bIns="0" rtlCol="0" anchor="ctr"/>
          <a:lstStyle/>
          <a:p>
            <a:pPr indent="0" marL="0">
              <a:buNone/>
            </a:pPr>
            <a:r>
              <a:rPr lang="en-US" sz="1600" b="1" dirty="0">
                <a:solidFill>
                  <a:schemeClr val="accent1"/>
                </a:solidFill>
              </a:rPr>
              <a:t>Regulación de la energía</a:t>
            </a:r>
            <a:endParaRPr lang="en-US" sz="1600" dirty="0"/>
          </a:p>
        </p:txBody>
      </p:sp>
      <p:sp>
        <p:nvSpPr>
          <p:cNvPr id="26" name="why body"/>
          <p:cNvSpPr txBox="1"/>
          <p:nvPr/>
        </p:nvSpPr>
        <p:spPr>
          <a:xfrm>
            <a:off x="6035040" y="3584448"/>
            <a:ext cx="2606040" cy="914400"/>
          </a:xfrm>
          <a:prstGeom prst="rect">
            <a:avLst/>
          </a:prstGeom>
          <a:noFill/>
          <a:ln/>
        </p:spPr>
        <p:txBody>
          <a:bodyPr wrap="square" lIns="0" tIns="0" rIns="0" bIns="0" rtlCol="0" anchor="t"/>
          <a:lstStyle/>
          <a:p>
            <a:pPr indent="0" marL="0">
              <a:buNone/>
            </a:pPr>
            <a:r>
              <a:rPr lang="en-US" sz="1200" dirty="0">
                <a:solidFill>
                  <a:schemeClr val="bg1"/>
                </a:solidFill>
              </a:rPr>
              <a:t>El movimiento afina las hormonas que regulan el apetito: leptina, grelina, insulina. Es biología, no fuerza de voluntad.</a:t>
            </a:r>
            <a:endParaRPr lang="en-US" sz="1200" dirty="0"/>
          </a:p>
        </p:txBody>
      </p:sp>
      <p:sp>
        <p:nvSpPr>
          <p:cNvPr id="27" name="source"/>
          <p:cNvSpPr txBox="1"/>
          <p:nvPr/>
        </p:nvSpPr>
        <p:spPr>
          <a:xfrm>
            <a:off x="457200" y="4526280"/>
            <a:ext cx="8229600" cy="228600"/>
          </a:xfrm>
          <a:prstGeom prst="rect">
            <a:avLst/>
          </a:prstGeom>
          <a:noFill/>
          <a:ln/>
        </p:spPr>
        <p:txBody>
          <a:bodyPr wrap="square" lIns="0" tIns="0" rIns="0" bIns="0" rtlCol="0" anchor="ctr"/>
          <a:lstStyle/>
          <a:p>
            <a:pPr indent="0" marL="0">
              <a:buNone/>
            </a:pPr>
            <a:r>
              <a:rPr lang="en-US" sz="900" dirty="0">
                <a:solidFill>
                  <a:schemeClr val="accent5"/>
                </a:solidFill>
              </a:rPr>
              <a:t>Fuentes: OMS 2020; Álvarez-Bueno C et al. Pediatrics 2017 (metaanálisis, rendimiento académico); Erickson KI et al. Med Sci Sports Exerc 2019 (cognición).</a:t>
            </a:r>
            <a:endParaRPr lang="en-US" sz="9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8C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rgbClr val="C8F23D"/>
                </a:solidFill>
              </a:rPr>
              <a:t>Laboratorio: 2 minutos con tu corazón</a:t>
            </a:r>
            <a:endParaRPr lang="en-US" sz="2800" dirty="0"/>
          </a:p>
        </p:txBody>
      </p:sp>
      <p:sp>
        <p:nvSpPr>
          <p:cNvPr id="3" name="step circle"/>
          <p:cNvSpPr/>
          <p:nvPr/>
        </p:nvSpPr>
        <p:spPr>
          <a:xfrm>
            <a:off x="457200" y="1234440"/>
            <a:ext cx="594360" cy="594360"/>
          </a:xfrm>
          <a:prstGeom prst="ellipse">
            <a:avLst/>
          </a:prstGeom>
          <a:solidFill>
            <a:schemeClr val="accent1"/>
          </a:solidFill>
          <a:ln w="12700">
            <a:solidFill>
              <a:schemeClr val="accent1"/>
            </a:solidFill>
            <a:prstDash val="solid"/>
          </a:ln>
        </p:spPr>
      </p:sp>
      <p:sp>
        <p:nvSpPr>
          <p:cNvPr id="4" name="step number"/>
          <p:cNvSpPr txBox="1"/>
          <p:nvPr/>
        </p:nvSpPr>
        <p:spPr>
          <a:xfrm>
            <a:off x="457200" y="1234440"/>
            <a:ext cx="594360" cy="594360"/>
          </a:xfrm>
          <a:prstGeom prst="rect">
            <a:avLst/>
          </a:prstGeom>
          <a:noFill/>
          <a:ln/>
        </p:spPr>
        <p:txBody>
          <a:bodyPr wrap="square" lIns="0" tIns="0" rIns="0" bIns="0" rtlCol="0" anchor="ctr"/>
          <a:lstStyle/>
          <a:p>
            <a:pPr algn="ctr" indent="0" marL="0">
              <a:buNone/>
            </a:pPr>
            <a:r>
              <a:rPr lang="en-US" sz="2200" b="1" dirty="0">
                <a:solidFill>
                  <a:schemeClr val="tx1"/>
                </a:solidFill>
              </a:rPr>
              <a:t>1</a:t>
            </a:r>
            <a:endParaRPr lang="en-US" sz="2200" dirty="0"/>
          </a:p>
        </p:txBody>
      </p:sp>
      <p:sp>
        <p:nvSpPr>
          <p:cNvPr id="5" name="step text"/>
          <p:cNvSpPr txBox="1"/>
          <p:nvPr/>
        </p:nvSpPr>
        <p:spPr>
          <a:xfrm>
            <a:off x="1234440" y="1234440"/>
            <a:ext cx="4754880" cy="594360"/>
          </a:xfrm>
          <a:prstGeom prst="rect">
            <a:avLst/>
          </a:prstGeom>
          <a:noFill/>
          <a:ln/>
        </p:spPr>
        <p:txBody>
          <a:bodyPr wrap="square" lIns="0" tIns="0" rIns="0" bIns="0" rtlCol="0" anchor="ctr"/>
          <a:lstStyle/>
          <a:p>
            <a:pPr indent="0" marL="0">
              <a:buNone/>
            </a:pPr>
            <a:r>
              <a:rPr lang="en-US" sz="1500" dirty="0">
                <a:solidFill>
                  <a:schemeClr val="bg1"/>
                </a:solidFill>
              </a:rPr>
              <a:t>Busca tu pulso (muñeca o cuello). Cuenta 15 segundos y multiplica por 4. Apúntalo.</a:t>
            </a:r>
            <a:endParaRPr lang="en-US" sz="1500" dirty="0"/>
          </a:p>
        </p:txBody>
      </p:sp>
      <p:sp>
        <p:nvSpPr>
          <p:cNvPr id="6" name="step circle"/>
          <p:cNvSpPr/>
          <p:nvPr/>
        </p:nvSpPr>
        <p:spPr>
          <a:xfrm>
            <a:off x="457200" y="2011680"/>
            <a:ext cx="594360" cy="594360"/>
          </a:xfrm>
          <a:prstGeom prst="ellipse">
            <a:avLst/>
          </a:prstGeom>
          <a:solidFill>
            <a:schemeClr val="accent1"/>
          </a:solidFill>
          <a:ln w="12700">
            <a:solidFill>
              <a:schemeClr val="accent1"/>
            </a:solidFill>
            <a:prstDash val="solid"/>
          </a:ln>
        </p:spPr>
      </p:sp>
      <p:sp>
        <p:nvSpPr>
          <p:cNvPr id="7" name="step number"/>
          <p:cNvSpPr txBox="1"/>
          <p:nvPr/>
        </p:nvSpPr>
        <p:spPr>
          <a:xfrm>
            <a:off x="457200" y="2011680"/>
            <a:ext cx="594360" cy="594360"/>
          </a:xfrm>
          <a:prstGeom prst="rect">
            <a:avLst/>
          </a:prstGeom>
          <a:noFill/>
          <a:ln/>
        </p:spPr>
        <p:txBody>
          <a:bodyPr wrap="square" lIns="0" tIns="0" rIns="0" bIns="0" rtlCol="0" anchor="ctr"/>
          <a:lstStyle/>
          <a:p>
            <a:pPr algn="ctr" indent="0" marL="0">
              <a:buNone/>
            </a:pPr>
            <a:r>
              <a:rPr lang="en-US" sz="2200" b="1" dirty="0">
                <a:solidFill>
                  <a:schemeClr val="tx1"/>
                </a:solidFill>
              </a:rPr>
              <a:t>2</a:t>
            </a:r>
            <a:endParaRPr lang="en-US" sz="2200" dirty="0"/>
          </a:p>
        </p:txBody>
      </p:sp>
      <p:sp>
        <p:nvSpPr>
          <p:cNvPr id="8" name="step text"/>
          <p:cNvSpPr txBox="1"/>
          <p:nvPr/>
        </p:nvSpPr>
        <p:spPr>
          <a:xfrm>
            <a:off x="1234440" y="2011680"/>
            <a:ext cx="4754880" cy="594360"/>
          </a:xfrm>
          <a:prstGeom prst="rect">
            <a:avLst/>
          </a:prstGeom>
          <a:noFill/>
          <a:ln/>
        </p:spPr>
        <p:txBody>
          <a:bodyPr wrap="square" lIns="0" tIns="0" rIns="0" bIns="0" rtlCol="0" anchor="ctr"/>
          <a:lstStyle/>
          <a:p>
            <a:pPr indent="0" marL="0">
              <a:buNone/>
            </a:pPr>
            <a:r>
              <a:rPr lang="en-US" sz="1500" dirty="0">
                <a:solidFill>
                  <a:schemeClr val="bg1"/>
                </a:solidFill>
              </a:rPr>
              <a:t>De pie. 30 segundos de sentadillas y 30 segundos de saltos o marcha rápida.</a:t>
            </a:r>
            <a:endParaRPr lang="en-US" sz="1500" dirty="0"/>
          </a:p>
        </p:txBody>
      </p:sp>
      <p:sp>
        <p:nvSpPr>
          <p:cNvPr id="9" name="step circle"/>
          <p:cNvSpPr/>
          <p:nvPr/>
        </p:nvSpPr>
        <p:spPr>
          <a:xfrm>
            <a:off x="457200" y="2788920"/>
            <a:ext cx="594360" cy="594360"/>
          </a:xfrm>
          <a:prstGeom prst="ellipse">
            <a:avLst/>
          </a:prstGeom>
          <a:solidFill>
            <a:schemeClr val="accent1"/>
          </a:solidFill>
          <a:ln w="12700">
            <a:solidFill>
              <a:schemeClr val="accent1"/>
            </a:solidFill>
            <a:prstDash val="solid"/>
          </a:ln>
        </p:spPr>
      </p:sp>
      <p:sp>
        <p:nvSpPr>
          <p:cNvPr id="10" name="step number"/>
          <p:cNvSpPr txBox="1"/>
          <p:nvPr/>
        </p:nvSpPr>
        <p:spPr>
          <a:xfrm>
            <a:off x="457200" y="2788920"/>
            <a:ext cx="594360" cy="594360"/>
          </a:xfrm>
          <a:prstGeom prst="rect">
            <a:avLst/>
          </a:prstGeom>
          <a:noFill/>
          <a:ln/>
        </p:spPr>
        <p:txBody>
          <a:bodyPr wrap="square" lIns="0" tIns="0" rIns="0" bIns="0" rtlCol="0" anchor="ctr"/>
          <a:lstStyle/>
          <a:p>
            <a:pPr algn="ctr" indent="0" marL="0">
              <a:buNone/>
            </a:pPr>
            <a:r>
              <a:rPr lang="en-US" sz="2200" b="1" dirty="0">
                <a:solidFill>
                  <a:schemeClr val="tx1"/>
                </a:solidFill>
              </a:rPr>
              <a:t>3</a:t>
            </a:r>
            <a:endParaRPr lang="en-US" sz="2200" dirty="0"/>
          </a:p>
        </p:txBody>
      </p:sp>
      <p:sp>
        <p:nvSpPr>
          <p:cNvPr id="11" name="step text"/>
          <p:cNvSpPr txBox="1"/>
          <p:nvPr/>
        </p:nvSpPr>
        <p:spPr>
          <a:xfrm>
            <a:off x="1234440" y="2788920"/>
            <a:ext cx="4754880" cy="594360"/>
          </a:xfrm>
          <a:prstGeom prst="rect">
            <a:avLst/>
          </a:prstGeom>
          <a:noFill/>
          <a:ln/>
        </p:spPr>
        <p:txBody>
          <a:bodyPr wrap="square" lIns="0" tIns="0" rIns="0" bIns="0" rtlCol="0" anchor="ctr"/>
          <a:lstStyle/>
          <a:p>
            <a:pPr indent="0" marL="0">
              <a:buNone/>
            </a:pPr>
            <a:r>
              <a:rPr lang="en-US" sz="1500" dirty="0">
                <a:solidFill>
                  <a:schemeClr val="bg1"/>
                </a:solidFill>
              </a:rPr>
              <a:t>Pulso otra vez, 15 segundos × 4. ¿Cuánto ha subido?</a:t>
            </a:r>
            <a:endParaRPr lang="en-US" sz="1500" dirty="0"/>
          </a:p>
        </p:txBody>
      </p:sp>
      <p:sp>
        <p:nvSpPr>
          <p:cNvPr id="12" name="step circle"/>
          <p:cNvSpPr/>
          <p:nvPr/>
        </p:nvSpPr>
        <p:spPr>
          <a:xfrm>
            <a:off x="457200" y="3566160"/>
            <a:ext cx="594360" cy="594360"/>
          </a:xfrm>
          <a:prstGeom prst="ellipse">
            <a:avLst/>
          </a:prstGeom>
          <a:solidFill>
            <a:schemeClr val="accent1"/>
          </a:solidFill>
          <a:ln w="12700">
            <a:solidFill>
              <a:schemeClr val="accent1"/>
            </a:solidFill>
            <a:prstDash val="solid"/>
          </a:ln>
        </p:spPr>
      </p:sp>
      <p:sp>
        <p:nvSpPr>
          <p:cNvPr id="13" name="step number"/>
          <p:cNvSpPr txBox="1"/>
          <p:nvPr/>
        </p:nvSpPr>
        <p:spPr>
          <a:xfrm>
            <a:off x="457200" y="3566160"/>
            <a:ext cx="594360" cy="594360"/>
          </a:xfrm>
          <a:prstGeom prst="rect">
            <a:avLst/>
          </a:prstGeom>
          <a:noFill/>
          <a:ln/>
        </p:spPr>
        <p:txBody>
          <a:bodyPr wrap="square" lIns="0" tIns="0" rIns="0" bIns="0" rtlCol="0" anchor="ctr"/>
          <a:lstStyle/>
          <a:p>
            <a:pPr algn="ctr" indent="0" marL="0">
              <a:buNone/>
            </a:pPr>
            <a:r>
              <a:rPr lang="en-US" sz="2200" b="1" dirty="0">
                <a:solidFill>
                  <a:schemeClr val="tx1"/>
                </a:solidFill>
              </a:rPr>
              <a:t>4</a:t>
            </a:r>
            <a:endParaRPr lang="en-US" sz="2200" dirty="0"/>
          </a:p>
        </p:txBody>
      </p:sp>
      <p:sp>
        <p:nvSpPr>
          <p:cNvPr id="14" name="step text"/>
          <p:cNvSpPr txBox="1"/>
          <p:nvPr/>
        </p:nvSpPr>
        <p:spPr>
          <a:xfrm>
            <a:off x="1234440" y="3566160"/>
            <a:ext cx="4754880" cy="594360"/>
          </a:xfrm>
          <a:prstGeom prst="rect">
            <a:avLst/>
          </a:prstGeom>
          <a:noFill/>
          <a:ln/>
        </p:spPr>
        <p:txBody>
          <a:bodyPr wrap="square" lIns="0" tIns="0" rIns="0" bIns="0" rtlCol="0" anchor="ctr"/>
          <a:lstStyle/>
          <a:p>
            <a:pPr indent="0" marL="0">
              <a:buNone/>
            </a:pPr>
            <a:r>
              <a:rPr lang="en-US" sz="1500" dirty="0">
                <a:solidFill>
                  <a:schemeClr val="bg1"/>
                </a:solidFill>
              </a:rPr>
              <a:t>¿Puedes hablar pero no cantar? Eso es moderado. ¿Solo unas palabras? Eso es vigoroso.</a:t>
            </a:r>
            <a:endParaRPr lang="en-US" sz="1500" dirty="0"/>
          </a:p>
        </p:txBody>
      </p:sp>
      <p:sp>
        <p:nvSpPr>
          <p:cNvPr id="15" name="hr card"/>
          <p:cNvSpPr/>
          <p:nvPr/>
        </p:nvSpPr>
        <p:spPr>
          <a:xfrm>
            <a:off x="6309360" y="1234440"/>
            <a:ext cx="2377440" cy="3017520"/>
          </a:xfrm>
          <a:prstGeom prst="roundRect">
            <a:avLst>
              <a:gd name="adj" fmla="val 4615"/>
            </a:avLst>
          </a:prstGeom>
          <a:solidFill>
            <a:schemeClr val="tx1"/>
          </a:solidFill>
          <a:ln w="12700">
            <a:solidFill>
              <a:schemeClr val="tx1"/>
            </a:solidFill>
            <a:prstDash val="solid"/>
          </a:ln>
        </p:spPr>
      </p:sp>
      <p:sp>
        <p:nvSpPr>
          <p:cNvPr id="16" name="hr text"/>
          <p:cNvSpPr txBox="1"/>
          <p:nvPr/>
        </p:nvSpPr>
        <p:spPr>
          <a:xfrm>
            <a:off x="6446520" y="1371600"/>
            <a:ext cx="2103120" cy="2743200"/>
          </a:xfrm>
          <a:prstGeom prst="rect">
            <a:avLst/>
          </a:prstGeom>
          <a:noFill/>
          <a:ln/>
        </p:spPr>
        <p:txBody>
          <a:bodyPr wrap="square" lIns="0" tIns="0" rIns="0" bIns="0" rtlCol="0" anchor="t"/>
          <a:lstStyle/>
          <a:p>
            <a:pPr indent="0" marL="0">
              <a:spcAft>
                <a:spcPts val="600"/>
              </a:spcAft>
              <a:buNone/>
            </a:pPr>
            <a:r>
              <a:rPr lang="en-US" sz="1400" b="1" dirty="0">
                <a:solidFill>
                  <a:schemeClr val="accent1"/>
                </a:solidFill>
              </a:rPr>
              <a:t>Referencia</a:t>
            </a:r>
            <a:endParaRPr lang="en-US" sz="1400" dirty="0"/>
          </a:p>
          <a:p>
            <a:pPr indent="0" marL="0">
              <a:buNone/>
            </a:pPr>
            <a:r>
              <a:rPr lang="en-US" sz="1300" dirty="0">
                <a:solidFill>
                  <a:schemeClr val="bg1"/>
                </a:solidFill>
              </a:rPr>
              <a:t>En reposo: 60-100 lpm</a:t>
            </a:r>
            <a:endParaRPr lang="en-US" sz="1400" dirty="0"/>
          </a:p>
          <a:p>
            <a:pPr indent="0" marL="0">
              <a:buNone/>
            </a:pPr>
            <a:r>
              <a:rPr lang="en-US" sz="1300" dirty="0">
                <a:solidFill>
                  <a:schemeClr val="bg1"/>
                </a:solidFill>
              </a:rPr>
              <a:t>Moderado: ~ 64-76 % del máximo</a:t>
            </a:r>
            <a:endParaRPr lang="en-US" sz="1400" dirty="0"/>
          </a:p>
          <a:p>
            <a:pPr indent="0" marL="0">
              <a:spcAft>
                <a:spcPts val="600"/>
              </a:spcAft>
              <a:buNone/>
            </a:pPr>
            <a:r>
              <a:rPr lang="en-US" sz="1300" dirty="0">
                <a:solidFill>
                  <a:schemeClr val="bg1"/>
                </a:solidFill>
              </a:rPr>
              <a:t>Vigoroso: ~ 77-95 % del máximo</a:t>
            </a:r>
            <a:endParaRPr lang="en-US" sz="1400" dirty="0"/>
          </a:p>
          <a:p>
            <a:pPr indent="0" marL="0">
              <a:buNone/>
            </a:pPr>
            <a:r>
              <a:rPr lang="en-US" sz="1100" i="1" dirty="0">
                <a:solidFill>
                  <a:schemeClr val="accent5"/>
                </a:solidFill>
              </a:rPr>
              <a:t>Máximo ≈ 220 − edad ≈ 205 lpm a los 15 (fórmula aproximada, con mucha variación individual)</a:t>
            </a:r>
            <a:endParaRPr lang="en-US" sz="1400" dirty="0"/>
          </a:p>
        </p:txBody>
      </p:sp>
      <p:sp>
        <p:nvSpPr>
          <p:cNvPr id="17" name="icon circle"/>
          <p:cNvSpPr/>
          <p:nvPr/>
        </p:nvSpPr>
        <p:spPr>
          <a:xfrm>
            <a:off x="7086600" y="4297680"/>
            <a:ext cx="457200" cy="457200"/>
          </a:xfrm>
          <a:prstGeom prst="ellipse">
            <a:avLst/>
          </a:prstGeom>
          <a:solidFill>
            <a:schemeClr val="accent1"/>
          </a:solidFill>
          <a:ln w="12700">
            <a:solidFill>
              <a:schemeClr val="accent1"/>
            </a:solidFill>
            <a:prstDash val="solid"/>
          </a:ln>
        </p:spPr>
      </p:sp>
      <p:pic>
        <p:nvPicPr>
          <p:cNvPr id="18" name="icon" descr="preencoded.png">    </p:cNvPr>
          <p:cNvPicPr>
            <a:picLocks noChangeAspect="1"/>
          </p:cNvPicPr>
          <p:nvPr/>
        </p:nvPicPr>
        <p:blipFill>
          <a:blip r:embed="rId1"/>
          <a:stretch>
            <a:fillRect/>
          </a:stretch>
        </p:blipFill>
        <p:spPr>
          <a:xfrm>
            <a:off x="7187184" y="4398264"/>
            <a:ext cx="256032" cy="256032"/>
          </a:xfrm>
          <a:prstGeom prst="rect">
            <a:avLst/>
          </a:prstGeom>
        </p:spPr>
      </p:pic>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8C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2800" b="1" dirty="0">
                <a:solidFill>
                  <a:schemeClr val="accent1"/>
                </a:solidFill>
              </a:rPr>
              <a:t>¿Mito o realidad? De pie = REALIDAD, sentados = MITO</a:t>
            </a:r>
            <a:endParaRPr lang="en-US" sz="2800" dirty="0"/>
          </a:p>
        </p:txBody>
      </p:sp>
      <p:sp>
        <p:nvSpPr>
          <p:cNvPr id="3" name="myths list"/>
          <p:cNvSpPr txBox="1"/>
          <p:nvPr/>
        </p:nvSpPr>
        <p:spPr>
          <a:xfrm>
            <a:off x="457200" y="1188720"/>
            <a:ext cx="5852160" cy="3383280"/>
          </a:xfrm>
          <a:prstGeom prst="rect">
            <a:avLst/>
          </a:prstGeom>
          <a:noFill/>
          <a:ln/>
        </p:spPr>
        <p:txBody>
          <a:bodyPr wrap="square" lIns="0" tIns="0" rIns="0" bIns="0" rtlCol="0" anchor="t"/>
          <a:lstStyle/>
          <a:p>
            <a:pPr indent="0" marL="0">
              <a:spcAft>
                <a:spcPts val="800"/>
              </a:spcAft>
              <a:buNone/>
            </a:pPr>
            <a:r>
              <a:rPr lang="en-US" sz="1700" dirty="0">
                <a:solidFill>
                  <a:schemeClr val="bg1"/>
                </a:solidFill>
              </a:rPr>
              <a:t>1 · Para estar en forma necesitas un gimnasio.</a:t>
            </a:r>
            <a:endParaRPr lang="en-US" sz="1700" dirty="0"/>
          </a:p>
          <a:p>
            <a:pPr indent="0" marL="0">
              <a:spcAft>
                <a:spcPts val="800"/>
              </a:spcAft>
              <a:buNone/>
            </a:pPr>
            <a:r>
              <a:rPr lang="en-US" sz="1700" dirty="0">
                <a:solidFill>
                  <a:schemeClr val="bg1"/>
                </a:solidFill>
              </a:rPr>
              <a:t>2 · Una hora de deporte cancela un día entero sentado.</a:t>
            </a:r>
            <a:endParaRPr lang="en-US" sz="1700" dirty="0"/>
          </a:p>
          <a:p>
            <a:pPr indent="0" marL="0">
              <a:spcAft>
                <a:spcPts val="800"/>
              </a:spcAft>
              <a:buNone/>
            </a:pPr>
            <a:r>
              <a:rPr lang="en-US" sz="1700" dirty="0">
                <a:solidFill>
                  <a:schemeClr val="bg1"/>
                </a:solidFill>
              </a:rPr>
              <a:t>3 · Las bebidas energéticas mejoran el rendimiento deportivo.</a:t>
            </a:r>
            <a:endParaRPr lang="en-US" sz="1700" dirty="0"/>
          </a:p>
          <a:p>
            <a:pPr indent="0" marL="0">
              <a:spcAft>
                <a:spcPts val="800"/>
              </a:spcAft>
              <a:buNone/>
            </a:pPr>
            <a:r>
              <a:rPr lang="en-US" sz="1700" dirty="0">
                <a:solidFill>
                  <a:schemeClr val="bg1"/>
                </a:solidFill>
              </a:rPr>
              <a:t>4 · Entrenar fuerza frena el crecimiento.</a:t>
            </a:r>
            <a:endParaRPr lang="en-US" sz="1700" dirty="0"/>
          </a:p>
          <a:p>
            <a:pPr indent="0" marL="0">
              <a:spcAft>
                <a:spcPts val="800"/>
              </a:spcAft>
              <a:buNone/>
            </a:pPr>
            <a:r>
              <a:rPr lang="en-US" sz="1700" dirty="0">
                <a:solidFill>
                  <a:schemeClr val="bg1"/>
                </a:solidFill>
              </a:rPr>
              <a:t>5 · Las pantallas antes de dormir cambian la calidad del sueño.</a:t>
            </a:r>
            <a:endParaRPr lang="en-US" sz="1700" dirty="0"/>
          </a:p>
          <a:p>
            <a:pPr indent="0" marL="0">
              <a:spcAft>
                <a:spcPts val="800"/>
              </a:spcAft>
              <a:buNone/>
            </a:pPr>
            <a:r>
              <a:rPr lang="en-US" sz="1700" dirty="0">
                <a:solidFill>
                  <a:schemeClr val="bg1"/>
                </a:solidFill>
              </a:rPr>
              <a:t>6 · Saltarse el desayuno adelgaza.</a:t>
            </a:r>
            <a:endParaRPr lang="en-US" sz="1700" dirty="0"/>
          </a:p>
        </p:txBody>
      </p:sp>
      <p:sp>
        <p:nvSpPr>
          <p:cNvPr id="4" name="icon circle"/>
          <p:cNvSpPr/>
          <p:nvPr/>
        </p:nvSpPr>
        <p:spPr>
          <a:xfrm>
            <a:off x="6949440" y="1645920"/>
            <a:ext cx="1371600" cy="137160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7251192" y="1947672"/>
            <a:ext cx="768096" cy="768096"/>
          </a:xfrm>
          <a:prstGeom prst="rect">
            <a:avLst/>
          </a:prstGeom>
        </p:spPr>
      </p:pic>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8C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rgbClr val="0B2E3A"/>
                </a:solidFill>
              </a:rPr>
              <a:t>Las respuestas</a:t>
            </a:r>
            <a:endParaRPr lang="en-US" sz="2800" dirty="0"/>
          </a:p>
        </p:txBody>
      </p:sp>
      <p:sp>
        <p:nvSpPr>
          <p:cNvPr id="3" name="icon circle"/>
          <p:cNvSpPr/>
          <p:nvPr/>
        </p:nvSpPr>
        <p:spPr>
          <a:xfrm>
            <a:off x="457200" y="1188720"/>
            <a:ext cx="502920" cy="502920"/>
          </a:xfrm>
          <a:prstGeom prst="ellipse">
            <a:avLst/>
          </a:prstGeom>
          <a:solidFill>
            <a:schemeClr val="accent2"/>
          </a:solidFill>
          <a:ln w="12700">
            <a:solidFill>
              <a:schemeClr val="accent2"/>
            </a:solidFill>
            <a:prstDash val="solid"/>
          </a:ln>
        </p:spPr>
      </p:sp>
      <p:pic>
        <p:nvPicPr>
          <p:cNvPr id="4" name="icon" descr="preencoded.png">    </p:cNvPr>
          <p:cNvPicPr>
            <a:picLocks noChangeAspect="1"/>
          </p:cNvPicPr>
          <p:nvPr/>
        </p:nvPicPr>
        <p:blipFill>
          <a:blip r:embed="rId1"/>
          <a:stretch>
            <a:fillRect/>
          </a:stretch>
        </p:blipFill>
        <p:spPr>
          <a:xfrm>
            <a:off x="567842" y="1299362"/>
            <a:ext cx="281635" cy="281635"/>
          </a:xfrm>
          <a:prstGeom prst="rect">
            <a:avLst/>
          </a:prstGeom>
        </p:spPr>
      </p:pic>
      <p:sp>
        <p:nvSpPr>
          <p:cNvPr id="5" name="verdict"/>
          <p:cNvSpPr txBox="1"/>
          <p:nvPr/>
        </p:nvSpPr>
        <p:spPr>
          <a:xfrm>
            <a:off x="1051560" y="1133856"/>
            <a:ext cx="2103120" cy="237744"/>
          </a:xfrm>
          <a:prstGeom prst="rect">
            <a:avLst/>
          </a:prstGeom>
          <a:noFill/>
          <a:ln/>
        </p:spPr>
        <p:txBody>
          <a:bodyPr wrap="square" lIns="0" tIns="0" rIns="0" bIns="0" rtlCol="0" anchor="ctr"/>
          <a:lstStyle/>
          <a:p>
            <a:pPr indent="0" marL="0">
              <a:buNone/>
            </a:pPr>
            <a:r>
              <a:rPr lang="en-US" sz="1000" b="1" dirty="0">
                <a:solidFill>
                  <a:schemeClr val="accent2"/>
                </a:solidFill>
              </a:rPr>
              <a:t>MITO</a:t>
            </a:r>
            <a:endParaRPr lang="en-US" sz="1000" dirty="0"/>
          </a:p>
        </p:txBody>
      </p:sp>
      <p:sp>
        <p:nvSpPr>
          <p:cNvPr id="6" name="answer head"/>
          <p:cNvSpPr txBox="1"/>
          <p:nvPr/>
        </p:nvSpPr>
        <p:spPr>
          <a:xfrm>
            <a:off x="1051560" y="1371600"/>
            <a:ext cx="2103120" cy="329184"/>
          </a:xfrm>
          <a:prstGeom prst="rect">
            <a:avLst/>
          </a:prstGeom>
          <a:noFill/>
          <a:ln/>
        </p:spPr>
        <p:txBody>
          <a:bodyPr wrap="square" lIns="0" tIns="0" rIns="0" bIns="0" rtlCol="0" anchor="ctr"/>
          <a:lstStyle/>
          <a:p>
            <a:pPr indent="0" marL="0">
              <a:buNone/>
            </a:pPr>
            <a:r>
              <a:rPr lang="en-US" sz="1400" b="1" dirty="0">
                <a:solidFill>
                  <a:schemeClr val="tx1"/>
                </a:solidFill>
              </a:rPr>
              <a:t>Gimnasio obligatorio</a:t>
            </a:r>
            <a:endParaRPr lang="en-US" sz="1400" dirty="0"/>
          </a:p>
        </p:txBody>
      </p:sp>
      <p:sp>
        <p:nvSpPr>
          <p:cNvPr id="7" name="answer body"/>
          <p:cNvSpPr txBox="1"/>
          <p:nvPr/>
        </p:nvSpPr>
        <p:spPr>
          <a:xfrm>
            <a:off x="457200" y="1810512"/>
            <a:ext cx="2606040" cy="1005840"/>
          </a:xfrm>
          <a:prstGeom prst="rect">
            <a:avLst/>
          </a:prstGeom>
          <a:noFill/>
          <a:ln/>
        </p:spPr>
        <p:txBody>
          <a:bodyPr wrap="square" lIns="0" tIns="0" rIns="0" bIns="0" rtlCol="0" anchor="t"/>
          <a:lstStyle/>
          <a:p>
            <a:pPr indent="0" marL="0">
              <a:buNone/>
            </a:pPr>
            <a:r>
              <a:rPr lang="en-US" sz="1100" dirty="0">
                <a:solidFill>
                  <a:schemeClr val="tx1"/>
                </a:solidFill>
              </a:rPr>
              <a:t>Tu cuerpo es el gimnasio: escaleras, flexiones, saltos, cargar bolsas, bailar. La OMS lo cuenta todo.</a:t>
            </a:r>
            <a:endParaRPr lang="en-US" sz="1100" dirty="0"/>
          </a:p>
        </p:txBody>
      </p:sp>
      <p:sp>
        <p:nvSpPr>
          <p:cNvPr id="8" name="icon circle"/>
          <p:cNvSpPr/>
          <p:nvPr/>
        </p:nvSpPr>
        <p:spPr>
          <a:xfrm>
            <a:off x="3246120" y="1188720"/>
            <a:ext cx="502920" cy="502920"/>
          </a:xfrm>
          <a:prstGeom prst="ellipse">
            <a:avLst/>
          </a:prstGeom>
          <a:solidFill>
            <a:schemeClr val="accent2"/>
          </a:solidFill>
          <a:ln w="12700">
            <a:solidFill>
              <a:schemeClr val="accent2"/>
            </a:solidFill>
            <a:prstDash val="solid"/>
          </a:ln>
        </p:spPr>
      </p:sp>
      <p:pic>
        <p:nvPicPr>
          <p:cNvPr id="9" name="icon" descr="preencoded.png">    </p:cNvPr>
          <p:cNvPicPr>
            <a:picLocks noChangeAspect="1"/>
          </p:cNvPicPr>
          <p:nvPr/>
        </p:nvPicPr>
        <p:blipFill>
          <a:blip r:embed="rId2"/>
          <a:stretch>
            <a:fillRect/>
          </a:stretch>
        </p:blipFill>
        <p:spPr>
          <a:xfrm>
            <a:off x="3356762" y="1299362"/>
            <a:ext cx="281635" cy="281635"/>
          </a:xfrm>
          <a:prstGeom prst="rect">
            <a:avLst/>
          </a:prstGeom>
        </p:spPr>
      </p:pic>
      <p:sp>
        <p:nvSpPr>
          <p:cNvPr id="10" name="verdict"/>
          <p:cNvSpPr txBox="1"/>
          <p:nvPr/>
        </p:nvSpPr>
        <p:spPr>
          <a:xfrm>
            <a:off x="3840480" y="1133856"/>
            <a:ext cx="2103120" cy="237744"/>
          </a:xfrm>
          <a:prstGeom prst="rect">
            <a:avLst/>
          </a:prstGeom>
          <a:noFill/>
          <a:ln/>
        </p:spPr>
        <p:txBody>
          <a:bodyPr wrap="square" lIns="0" tIns="0" rIns="0" bIns="0" rtlCol="0" anchor="ctr"/>
          <a:lstStyle/>
          <a:p>
            <a:pPr indent="0" marL="0">
              <a:buNone/>
            </a:pPr>
            <a:r>
              <a:rPr lang="en-US" sz="1000" b="1" dirty="0">
                <a:solidFill>
                  <a:schemeClr val="accent2"/>
                </a:solidFill>
              </a:rPr>
              <a:t>CASI MITO</a:t>
            </a:r>
            <a:endParaRPr lang="en-US" sz="1000" dirty="0"/>
          </a:p>
        </p:txBody>
      </p:sp>
      <p:sp>
        <p:nvSpPr>
          <p:cNvPr id="11" name="answer head"/>
          <p:cNvSpPr txBox="1"/>
          <p:nvPr/>
        </p:nvSpPr>
        <p:spPr>
          <a:xfrm>
            <a:off x="3840480" y="1371600"/>
            <a:ext cx="2103120" cy="329184"/>
          </a:xfrm>
          <a:prstGeom prst="rect">
            <a:avLst/>
          </a:prstGeom>
          <a:noFill/>
          <a:ln/>
        </p:spPr>
        <p:txBody>
          <a:bodyPr wrap="square" lIns="0" tIns="0" rIns="0" bIns="0" rtlCol="0" anchor="ctr"/>
          <a:lstStyle/>
          <a:p>
            <a:pPr indent="0" marL="0">
              <a:buNone/>
            </a:pPr>
            <a:r>
              <a:rPr lang="en-US" sz="1400" b="1" dirty="0">
                <a:solidFill>
                  <a:schemeClr val="tx1"/>
                </a:solidFill>
              </a:rPr>
              <a:t>Deporte contra sofá</a:t>
            </a:r>
            <a:endParaRPr lang="en-US" sz="1400" dirty="0"/>
          </a:p>
        </p:txBody>
      </p:sp>
      <p:sp>
        <p:nvSpPr>
          <p:cNvPr id="12" name="answer body"/>
          <p:cNvSpPr txBox="1"/>
          <p:nvPr/>
        </p:nvSpPr>
        <p:spPr>
          <a:xfrm>
            <a:off x="3246120" y="1810512"/>
            <a:ext cx="2606040" cy="1005840"/>
          </a:xfrm>
          <a:prstGeom prst="rect">
            <a:avLst/>
          </a:prstGeom>
          <a:noFill/>
          <a:ln/>
        </p:spPr>
        <p:txBody>
          <a:bodyPr wrap="square" lIns="0" tIns="0" rIns="0" bIns="0" rtlCol="0" anchor="t"/>
          <a:lstStyle/>
          <a:p>
            <a:pPr indent="0" marL="0">
              <a:buNone/>
            </a:pPr>
            <a:r>
              <a:rPr lang="en-US" sz="1100" dirty="0">
                <a:solidFill>
                  <a:schemeClr val="tx1"/>
                </a:solidFill>
              </a:rPr>
              <a:t>Entrenar ayuda mucho, pero estar sentado muchas horas seguidas tiene efectos propios. Levántate cada hora.</a:t>
            </a:r>
            <a:endParaRPr lang="en-US" sz="1100" dirty="0"/>
          </a:p>
        </p:txBody>
      </p:sp>
      <p:sp>
        <p:nvSpPr>
          <p:cNvPr id="13" name="icon circle"/>
          <p:cNvSpPr/>
          <p:nvPr/>
        </p:nvSpPr>
        <p:spPr>
          <a:xfrm>
            <a:off x="6035040" y="1188720"/>
            <a:ext cx="502920" cy="502920"/>
          </a:xfrm>
          <a:prstGeom prst="ellipse">
            <a:avLst/>
          </a:prstGeom>
          <a:solidFill>
            <a:schemeClr val="accent2"/>
          </a:solidFill>
          <a:ln w="12700">
            <a:solidFill>
              <a:schemeClr val="accent2"/>
            </a:solidFill>
            <a:prstDash val="solid"/>
          </a:ln>
        </p:spPr>
      </p:sp>
      <p:pic>
        <p:nvPicPr>
          <p:cNvPr id="14" name="icon" descr="preencoded.png">    </p:cNvPr>
          <p:cNvPicPr>
            <a:picLocks noChangeAspect="1"/>
          </p:cNvPicPr>
          <p:nvPr/>
        </p:nvPicPr>
        <p:blipFill>
          <a:blip r:embed="rId3"/>
          <a:stretch>
            <a:fillRect/>
          </a:stretch>
        </p:blipFill>
        <p:spPr>
          <a:xfrm>
            <a:off x="6145682" y="1299362"/>
            <a:ext cx="281635" cy="281635"/>
          </a:xfrm>
          <a:prstGeom prst="rect">
            <a:avLst/>
          </a:prstGeom>
        </p:spPr>
      </p:pic>
      <p:sp>
        <p:nvSpPr>
          <p:cNvPr id="15" name="verdict"/>
          <p:cNvSpPr txBox="1"/>
          <p:nvPr/>
        </p:nvSpPr>
        <p:spPr>
          <a:xfrm>
            <a:off x="6629400" y="1133856"/>
            <a:ext cx="2103120" cy="237744"/>
          </a:xfrm>
          <a:prstGeom prst="rect">
            <a:avLst/>
          </a:prstGeom>
          <a:noFill/>
          <a:ln/>
        </p:spPr>
        <p:txBody>
          <a:bodyPr wrap="square" lIns="0" tIns="0" rIns="0" bIns="0" rtlCol="0" anchor="ctr"/>
          <a:lstStyle/>
          <a:p>
            <a:pPr indent="0" marL="0">
              <a:buNone/>
            </a:pPr>
            <a:r>
              <a:rPr lang="en-US" sz="1000" b="1" dirty="0">
                <a:solidFill>
                  <a:schemeClr val="accent2"/>
                </a:solidFill>
              </a:rPr>
              <a:t>MITO</a:t>
            </a:r>
            <a:endParaRPr lang="en-US" sz="1000" dirty="0"/>
          </a:p>
        </p:txBody>
      </p:sp>
      <p:sp>
        <p:nvSpPr>
          <p:cNvPr id="16" name="answer head"/>
          <p:cNvSpPr txBox="1"/>
          <p:nvPr/>
        </p:nvSpPr>
        <p:spPr>
          <a:xfrm>
            <a:off x="6629400" y="1371600"/>
            <a:ext cx="2103120" cy="329184"/>
          </a:xfrm>
          <a:prstGeom prst="rect">
            <a:avLst/>
          </a:prstGeom>
          <a:noFill/>
          <a:ln/>
        </p:spPr>
        <p:txBody>
          <a:bodyPr wrap="square" lIns="0" tIns="0" rIns="0" bIns="0" rtlCol="0" anchor="ctr"/>
          <a:lstStyle/>
          <a:p>
            <a:pPr indent="0" marL="0">
              <a:buNone/>
            </a:pPr>
            <a:r>
              <a:rPr lang="en-US" sz="1400" b="1" dirty="0">
                <a:solidFill>
                  <a:schemeClr val="tx1"/>
                </a:solidFill>
              </a:rPr>
              <a:t>Bebidas energéticas</a:t>
            </a:r>
            <a:endParaRPr lang="en-US" sz="1400" dirty="0"/>
          </a:p>
        </p:txBody>
      </p:sp>
      <p:sp>
        <p:nvSpPr>
          <p:cNvPr id="17" name="answer body"/>
          <p:cNvSpPr txBox="1"/>
          <p:nvPr/>
        </p:nvSpPr>
        <p:spPr>
          <a:xfrm>
            <a:off x="6035040" y="1810512"/>
            <a:ext cx="2606040" cy="1005840"/>
          </a:xfrm>
          <a:prstGeom prst="rect">
            <a:avLst/>
          </a:prstGeom>
          <a:noFill/>
          <a:ln/>
        </p:spPr>
        <p:txBody>
          <a:bodyPr wrap="square" lIns="0" tIns="0" rIns="0" bIns="0" rtlCol="0" anchor="t"/>
          <a:lstStyle/>
          <a:p>
            <a:pPr indent="0" marL="0">
              <a:buNone/>
            </a:pPr>
            <a:r>
              <a:rPr lang="en-US" sz="1100" dirty="0">
                <a:solidFill>
                  <a:schemeClr val="tx1"/>
                </a:solidFill>
              </a:rPr>
              <a:t>Cafeína + azúcar: corazón acelerado, peor sueño y ninguna mejora probada en adolescentes. Varias comunidades prohíben venderlas a menores.</a:t>
            </a:r>
            <a:endParaRPr lang="en-US" sz="1100" dirty="0"/>
          </a:p>
        </p:txBody>
      </p:sp>
      <p:sp>
        <p:nvSpPr>
          <p:cNvPr id="18" name="icon circle"/>
          <p:cNvSpPr/>
          <p:nvPr/>
        </p:nvSpPr>
        <p:spPr>
          <a:xfrm>
            <a:off x="457200" y="2880360"/>
            <a:ext cx="502920" cy="502920"/>
          </a:xfrm>
          <a:prstGeom prst="ellipse">
            <a:avLst/>
          </a:prstGeom>
          <a:solidFill>
            <a:schemeClr val="accent2"/>
          </a:solidFill>
          <a:ln w="12700">
            <a:solidFill>
              <a:schemeClr val="accent2"/>
            </a:solidFill>
            <a:prstDash val="solid"/>
          </a:ln>
        </p:spPr>
      </p:sp>
      <p:pic>
        <p:nvPicPr>
          <p:cNvPr id="19" name="icon" descr="preencoded.png">    </p:cNvPr>
          <p:cNvPicPr>
            <a:picLocks noChangeAspect="1"/>
          </p:cNvPicPr>
          <p:nvPr/>
        </p:nvPicPr>
        <p:blipFill>
          <a:blip r:embed="rId4"/>
          <a:stretch>
            <a:fillRect/>
          </a:stretch>
        </p:blipFill>
        <p:spPr>
          <a:xfrm>
            <a:off x="567842" y="2991002"/>
            <a:ext cx="281635" cy="281635"/>
          </a:xfrm>
          <a:prstGeom prst="rect">
            <a:avLst/>
          </a:prstGeom>
        </p:spPr>
      </p:pic>
      <p:sp>
        <p:nvSpPr>
          <p:cNvPr id="20" name="verdict"/>
          <p:cNvSpPr txBox="1"/>
          <p:nvPr/>
        </p:nvSpPr>
        <p:spPr>
          <a:xfrm>
            <a:off x="1051560" y="2825496"/>
            <a:ext cx="2103120" cy="237744"/>
          </a:xfrm>
          <a:prstGeom prst="rect">
            <a:avLst/>
          </a:prstGeom>
          <a:noFill/>
          <a:ln/>
        </p:spPr>
        <p:txBody>
          <a:bodyPr wrap="square" lIns="0" tIns="0" rIns="0" bIns="0" rtlCol="0" anchor="ctr"/>
          <a:lstStyle/>
          <a:p>
            <a:pPr indent="0" marL="0">
              <a:buNone/>
            </a:pPr>
            <a:r>
              <a:rPr lang="en-US" sz="1000" b="1" dirty="0">
                <a:solidFill>
                  <a:schemeClr val="accent2"/>
                </a:solidFill>
              </a:rPr>
              <a:t>MITO</a:t>
            </a:r>
            <a:endParaRPr lang="en-US" sz="1000" dirty="0"/>
          </a:p>
        </p:txBody>
      </p:sp>
      <p:sp>
        <p:nvSpPr>
          <p:cNvPr id="21" name="answer head"/>
          <p:cNvSpPr txBox="1"/>
          <p:nvPr/>
        </p:nvSpPr>
        <p:spPr>
          <a:xfrm>
            <a:off x="1051560" y="3063240"/>
            <a:ext cx="2103120" cy="329184"/>
          </a:xfrm>
          <a:prstGeom prst="rect">
            <a:avLst/>
          </a:prstGeom>
          <a:noFill/>
          <a:ln/>
        </p:spPr>
        <p:txBody>
          <a:bodyPr wrap="square" lIns="0" tIns="0" rIns="0" bIns="0" rtlCol="0" anchor="ctr"/>
          <a:lstStyle/>
          <a:p>
            <a:pPr indent="0" marL="0">
              <a:buNone/>
            </a:pPr>
            <a:r>
              <a:rPr lang="en-US" sz="1400" b="1" dirty="0">
                <a:solidFill>
                  <a:schemeClr val="tx1"/>
                </a:solidFill>
              </a:rPr>
              <a:t>Fuerza y crecimiento</a:t>
            </a:r>
            <a:endParaRPr lang="en-US" sz="1400" dirty="0"/>
          </a:p>
        </p:txBody>
      </p:sp>
      <p:sp>
        <p:nvSpPr>
          <p:cNvPr id="22" name="answer body"/>
          <p:cNvSpPr txBox="1"/>
          <p:nvPr/>
        </p:nvSpPr>
        <p:spPr>
          <a:xfrm>
            <a:off x="457200" y="3502152"/>
            <a:ext cx="2606040" cy="1005840"/>
          </a:xfrm>
          <a:prstGeom prst="rect">
            <a:avLst/>
          </a:prstGeom>
          <a:noFill/>
          <a:ln/>
        </p:spPr>
        <p:txBody>
          <a:bodyPr wrap="square" lIns="0" tIns="0" rIns="0" bIns="0" rtlCol="0" anchor="t"/>
          <a:lstStyle/>
          <a:p>
            <a:pPr indent="0" marL="0">
              <a:buNone/>
            </a:pPr>
            <a:r>
              <a:rPr lang="en-US" sz="1100" dirty="0">
                <a:solidFill>
                  <a:schemeClr val="tx1"/>
                </a:solidFill>
              </a:rPr>
              <a:t>El entrenamiento de fuerza supervisado es seguro y recomendado desde la infancia. Fortalece el hueso; no cierra las placas de crecimiento.</a:t>
            </a:r>
            <a:endParaRPr lang="en-US" sz="1100" dirty="0"/>
          </a:p>
        </p:txBody>
      </p:sp>
      <p:sp>
        <p:nvSpPr>
          <p:cNvPr id="23" name="icon circle"/>
          <p:cNvSpPr/>
          <p:nvPr/>
        </p:nvSpPr>
        <p:spPr>
          <a:xfrm>
            <a:off x="3246120" y="2880360"/>
            <a:ext cx="502920" cy="502920"/>
          </a:xfrm>
          <a:prstGeom prst="ellipse">
            <a:avLst/>
          </a:prstGeom>
          <a:solidFill>
            <a:schemeClr val="accent3"/>
          </a:solidFill>
          <a:ln w="12700">
            <a:solidFill>
              <a:schemeClr val="accent3"/>
            </a:solidFill>
            <a:prstDash val="solid"/>
          </a:ln>
        </p:spPr>
      </p:sp>
      <p:pic>
        <p:nvPicPr>
          <p:cNvPr id="24" name="icon" descr="preencoded.png">    </p:cNvPr>
          <p:cNvPicPr>
            <a:picLocks noChangeAspect="1"/>
          </p:cNvPicPr>
          <p:nvPr/>
        </p:nvPicPr>
        <p:blipFill>
          <a:blip r:embed="rId5"/>
          <a:stretch>
            <a:fillRect/>
          </a:stretch>
        </p:blipFill>
        <p:spPr>
          <a:xfrm>
            <a:off x="3356762" y="2991002"/>
            <a:ext cx="281635" cy="281635"/>
          </a:xfrm>
          <a:prstGeom prst="rect">
            <a:avLst/>
          </a:prstGeom>
        </p:spPr>
      </p:pic>
      <p:sp>
        <p:nvSpPr>
          <p:cNvPr id="25" name="verdict"/>
          <p:cNvSpPr txBox="1"/>
          <p:nvPr/>
        </p:nvSpPr>
        <p:spPr>
          <a:xfrm>
            <a:off x="3840480" y="2825496"/>
            <a:ext cx="2103120" cy="237744"/>
          </a:xfrm>
          <a:prstGeom prst="rect">
            <a:avLst/>
          </a:prstGeom>
          <a:noFill/>
          <a:ln/>
        </p:spPr>
        <p:txBody>
          <a:bodyPr wrap="square" lIns="0" tIns="0" rIns="0" bIns="0" rtlCol="0" anchor="ctr"/>
          <a:lstStyle/>
          <a:p>
            <a:pPr indent="0" marL="0">
              <a:buNone/>
            </a:pPr>
            <a:r>
              <a:rPr lang="en-US" sz="1000" b="1" dirty="0">
                <a:solidFill>
                  <a:schemeClr val="accent3"/>
                </a:solidFill>
              </a:rPr>
              <a:t>REALIDAD</a:t>
            </a:r>
            <a:endParaRPr lang="en-US" sz="1000" dirty="0"/>
          </a:p>
        </p:txBody>
      </p:sp>
      <p:sp>
        <p:nvSpPr>
          <p:cNvPr id="26" name="answer head"/>
          <p:cNvSpPr txBox="1"/>
          <p:nvPr/>
        </p:nvSpPr>
        <p:spPr>
          <a:xfrm>
            <a:off x="3840480" y="3063240"/>
            <a:ext cx="2103120" cy="329184"/>
          </a:xfrm>
          <a:prstGeom prst="rect">
            <a:avLst/>
          </a:prstGeom>
          <a:noFill/>
          <a:ln/>
        </p:spPr>
        <p:txBody>
          <a:bodyPr wrap="square" lIns="0" tIns="0" rIns="0" bIns="0" rtlCol="0" anchor="ctr"/>
          <a:lstStyle/>
          <a:p>
            <a:pPr indent="0" marL="0">
              <a:buNone/>
            </a:pPr>
            <a:r>
              <a:rPr lang="en-US" sz="1400" b="1" dirty="0">
                <a:solidFill>
                  <a:schemeClr val="tx1"/>
                </a:solidFill>
              </a:rPr>
              <a:t>Pantallas y sueño</a:t>
            </a:r>
            <a:endParaRPr lang="en-US" sz="1400" dirty="0"/>
          </a:p>
        </p:txBody>
      </p:sp>
      <p:sp>
        <p:nvSpPr>
          <p:cNvPr id="27" name="answer body"/>
          <p:cNvSpPr txBox="1"/>
          <p:nvPr/>
        </p:nvSpPr>
        <p:spPr>
          <a:xfrm>
            <a:off x="3246120" y="3502152"/>
            <a:ext cx="2606040" cy="1005840"/>
          </a:xfrm>
          <a:prstGeom prst="rect">
            <a:avLst/>
          </a:prstGeom>
          <a:noFill/>
          <a:ln/>
        </p:spPr>
        <p:txBody>
          <a:bodyPr wrap="square" lIns="0" tIns="0" rIns="0" bIns="0" rtlCol="0" anchor="t"/>
          <a:lstStyle/>
          <a:p>
            <a:pPr indent="0" marL="0">
              <a:buNone/>
            </a:pPr>
            <a:r>
              <a:rPr lang="en-US" sz="1100" dirty="0">
                <a:solidFill>
                  <a:schemeClr val="tx1"/>
                </a:solidFill>
              </a:rPr>
              <a:t>La luz y el estímulo retrasan la melatonina y acortan el sueño. El móvil fuera de la habitación es el cambio más eficaz.</a:t>
            </a:r>
            <a:endParaRPr lang="en-US" sz="1100" dirty="0"/>
          </a:p>
        </p:txBody>
      </p:sp>
      <p:sp>
        <p:nvSpPr>
          <p:cNvPr id="28" name="icon circle"/>
          <p:cNvSpPr/>
          <p:nvPr/>
        </p:nvSpPr>
        <p:spPr>
          <a:xfrm>
            <a:off x="6035040" y="2880360"/>
            <a:ext cx="502920" cy="502920"/>
          </a:xfrm>
          <a:prstGeom prst="ellipse">
            <a:avLst/>
          </a:prstGeom>
          <a:solidFill>
            <a:schemeClr val="accent2"/>
          </a:solidFill>
          <a:ln w="12700">
            <a:solidFill>
              <a:schemeClr val="accent2"/>
            </a:solidFill>
            <a:prstDash val="solid"/>
          </a:ln>
        </p:spPr>
      </p:sp>
      <p:pic>
        <p:nvPicPr>
          <p:cNvPr id="29" name="icon" descr="preencoded.png">    </p:cNvPr>
          <p:cNvPicPr>
            <a:picLocks noChangeAspect="1"/>
          </p:cNvPicPr>
          <p:nvPr/>
        </p:nvPicPr>
        <p:blipFill>
          <a:blip r:embed="rId6"/>
          <a:stretch>
            <a:fillRect/>
          </a:stretch>
        </p:blipFill>
        <p:spPr>
          <a:xfrm>
            <a:off x="6145682" y="2991002"/>
            <a:ext cx="281635" cy="281635"/>
          </a:xfrm>
          <a:prstGeom prst="rect">
            <a:avLst/>
          </a:prstGeom>
        </p:spPr>
      </p:pic>
      <p:sp>
        <p:nvSpPr>
          <p:cNvPr id="30" name="verdict"/>
          <p:cNvSpPr txBox="1"/>
          <p:nvPr/>
        </p:nvSpPr>
        <p:spPr>
          <a:xfrm>
            <a:off x="6629400" y="2825496"/>
            <a:ext cx="2103120" cy="237744"/>
          </a:xfrm>
          <a:prstGeom prst="rect">
            <a:avLst/>
          </a:prstGeom>
          <a:noFill/>
          <a:ln/>
        </p:spPr>
        <p:txBody>
          <a:bodyPr wrap="square" lIns="0" tIns="0" rIns="0" bIns="0" rtlCol="0" anchor="ctr"/>
          <a:lstStyle/>
          <a:p>
            <a:pPr indent="0" marL="0">
              <a:buNone/>
            </a:pPr>
            <a:r>
              <a:rPr lang="en-US" sz="1000" b="1" dirty="0">
                <a:solidFill>
                  <a:schemeClr val="accent2"/>
                </a:solidFill>
              </a:rPr>
              <a:t>MITO</a:t>
            </a:r>
            <a:endParaRPr lang="en-US" sz="1000" dirty="0"/>
          </a:p>
        </p:txBody>
      </p:sp>
      <p:sp>
        <p:nvSpPr>
          <p:cNvPr id="31" name="answer head"/>
          <p:cNvSpPr txBox="1"/>
          <p:nvPr/>
        </p:nvSpPr>
        <p:spPr>
          <a:xfrm>
            <a:off x="6629400" y="3063240"/>
            <a:ext cx="2103120" cy="329184"/>
          </a:xfrm>
          <a:prstGeom prst="rect">
            <a:avLst/>
          </a:prstGeom>
          <a:noFill/>
          <a:ln/>
        </p:spPr>
        <p:txBody>
          <a:bodyPr wrap="square" lIns="0" tIns="0" rIns="0" bIns="0" rtlCol="0" anchor="ctr"/>
          <a:lstStyle/>
          <a:p>
            <a:pPr indent="0" marL="0">
              <a:buNone/>
            </a:pPr>
            <a:r>
              <a:rPr lang="en-US" sz="1400" b="1" dirty="0">
                <a:solidFill>
                  <a:schemeClr val="tx1"/>
                </a:solidFill>
              </a:rPr>
              <a:t>Saltarse el desayuno</a:t>
            </a:r>
            <a:endParaRPr lang="en-US" sz="1400" dirty="0"/>
          </a:p>
        </p:txBody>
      </p:sp>
      <p:sp>
        <p:nvSpPr>
          <p:cNvPr id="32" name="answer body"/>
          <p:cNvSpPr txBox="1"/>
          <p:nvPr/>
        </p:nvSpPr>
        <p:spPr>
          <a:xfrm>
            <a:off x="6035040" y="3502152"/>
            <a:ext cx="2606040" cy="1005840"/>
          </a:xfrm>
          <a:prstGeom prst="rect">
            <a:avLst/>
          </a:prstGeom>
          <a:noFill/>
          <a:ln/>
        </p:spPr>
        <p:txBody>
          <a:bodyPr wrap="square" lIns="0" tIns="0" rIns="0" bIns="0" rtlCol="0" anchor="t"/>
          <a:lstStyle/>
          <a:p>
            <a:pPr indent="0" marL="0">
              <a:buNone/>
            </a:pPr>
            <a:r>
              <a:rPr lang="en-US" sz="1100" dirty="0">
                <a:solidFill>
                  <a:schemeClr val="tx1"/>
                </a:solidFill>
              </a:rPr>
              <a:t>Saltarse comidas suele acabar en compensar después y en peor atención en clase. La comida no es el enemigo; la regularidad es la aliada.</a:t>
            </a:r>
            <a:endParaRPr lang="en-US" sz="11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7C8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rgbClr val="0B2E3A"/>
                </a:solidFill>
              </a:rPr>
              <a:t>Sueño: tu reloj es distinto</a:t>
            </a:r>
            <a:endParaRPr lang="en-US" sz="2800" dirty="0"/>
          </a:p>
        </p:txBody>
      </p:sp>
      <p:sp>
        <p:nvSpPr>
          <p:cNvPr id="3" name="stat"/>
          <p:cNvSpPr txBox="1"/>
          <p:nvPr/>
        </p:nvSpPr>
        <p:spPr>
          <a:xfrm>
            <a:off x="457200" y="1188720"/>
            <a:ext cx="2651760" cy="1005840"/>
          </a:xfrm>
          <a:prstGeom prst="rect">
            <a:avLst/>
          </a:prstGeom>
          <a:noFill/>
          <a:ln/>
        </p:spPr>
        <p:txBody>
          <a:bodyPr wrap="square" lIns="0" tIns="0" rIns="0" bIns="0" rtlCol="0" anchor="ctr"/>
          <a:lstStyle/>
          <a:p>
            <a:pPr algn="ctr" indent="0" marL="0">
              <a:buNone/>
            </a:pPr>
            <a:r>
              <a:rPr lang="en-US" sz="4400" b="1" dirty="0">
                <a:solidFill>
                  <a:schemeClr val="tx2"/>
                </a:solidFill>
              </a:rPr>
              <a:t>8-10 h</a:t>
            </a:r>
            <a:endParaRPr lang="en-US" sz="4400" dirty="0"/>
          </a:p>
        </p:txBody>
      </p:sp>
      <p:sp>
        <p:nvSpPr>
          <p:cNvPr id="4" name="stat label"/>
          <p:cNvSpPr txBox="1"/>
          <p:nvPr/>
        </p:nvSpPr>
        <p:spPr>
          <a:xfrm>
            <a:off x="457200" y="2194560"/>
            <a:ext cx="2651760" cy="822960"/>
          </a:xfrm>
          <a:prstGeom prst="rect">
            <a:avLst/>
          </a:prstGeom>
          <a:noFill/>
          <a:ln/>
        </p:spPr>
        <p:txBody>
          <a:bodyPr wrap="square" lIns="0" tIns="0" rIns="0" bIns="0" rtlCol="0" anchor="t"/>
          <a:lstStyle/>
          <a:p>
            <a:pPr algn="ctr" indent="0" marL="0">
              <a:buNone/>
            </a:pPr>
            <a:r>
              <a:rPr lang="en-US" sz="1400" dirty="0">
                <a:solidFill>
                  <a:schemeClr val="tx1"/>
                </a:solidFill>
              </a:rPr>
              <a:t>de sueño recomendadas por noche a los 13-18 (Academia Americana de Medicina del Sueño, 2016)</a:t>
            </a:r>
            <a:endParaRPr lang="en-US" sz="1400" dirty="0"/>
          </a:p>
        </p:txBody>
      </p:sp>
      <p:sp>
        <p:nvSpPr>
          <p:cNvPr id="5" name="stat"/>
          <p:cNvSpPr txBox="1"/>
          <p:nvPr/>
        </p:nvSpPr>
        <p:spPr>
          <a:xfrm>
            <a:off x="3246120" y="1188720"/>
            <a:ext cx="2651760" cy="1005840"/>
          </a:xfrm>
          <a:prstGeom prst="rect">
            <a:avLst/>
          </a:prstGeom>
          <a:noFill/>
          <a:ln/>
        </p:spPr>
        <p:txBody>
          <a:bodyPr wrap="square" lIns="0" tIns="0" rIns="0" bIns="0" rtlCol="0" anchor="ctr"/>
          <a:lstStyle/>
          <a:p>
            <a:pPr algn="ctr" indent="0" marL="0">
              <a:buNone/>
            </a:pPr>
            <a:r>
              <a:rPr lang="en-US" sz="4400" b="1" dirty="0">
                <a:solidFill>
                  <a:schemeClr val="tx2"/>
                </a:solidFill>
              </a:rPr>
              <a:t>~ 2 h</a:t>
            </a:r>
            <a:endParaRPr lang="en-US" sz="4400" dirty="0"/>
          </a:p>
        </p:txBody>
      </p:sp>
      <p:sp>
        <p:nvSpPr>
          <p:cNvPr id="6" name="stat label"/>
          <p:cNvSpPr txBox="1"/>
          <p:nvPr/>
        </p:nvSpPr>
        <p:spPr>
          <a:xfrm>
            <a:off x="3246120" y="2194560"/>
            <a:ext cx="2651760" cy="822960"/>
          </a:xfrm>
          <a:prstGeom prst="rect">
            <a:avLst/>
          </a:prstGeom>
          <a:noFill/>
          <a:ln/>
        </p:spPr>
        <p:txBody>
          <a:bodyPr wrap="square" lIns="0" tIns="0" rIns="0" bIns="0" rtlCol="0" anchor="t"/>
          <a:lstStyle/>
          <a:p>
            <a:pPr algn="ctr" indent="0" marL="0">
              <a:buNone/>
            </a:pPr>
            <a:r>
              <a:rPr lang="en-US" sz="1400" dirty="0">
                <a:solidFill>
                  <a:schemeClr val="tx1"/>
                </a:solidFill>
              </a:rPr>
              <a:t>más tarde se libera la melatonina en la adolescencia: tus 23:00 son las 21:00 de un adulto</a:t>
            </a:r>
            <a:endParaRPr lang="en-US" sz="1400" dirty="0"/>
          </a:p>
        </p:txBody>
      </p:sp>
      <p:sp>
        <p:nvSpPr>
          <p:cNvPr id="7" name="stat"/>
          <p:cNvSpPr txBox="1"/>
          <p:nvPr/>
        </p:nvSpPr>
        <p:spPr>
          <a:xfrm>
            <a:off x="6035040" y="1188720"/>
            <a:ext cx="2651760" cy="1005840"/>
          </a:xfrm>
          <a:prstGeom prst="rect">
            <a:avLst/>
          </a:prstGeom>
          <a:noFill/>
          <a:ln/>
        </p:spPr>
        <p:txBody>
          <a:bodyPr wrap="square" lIns="0" tIns="0" rIns="0" bIns="0" rtlCol="0" anchor="ctr"/>
          <a:lstStyle/>
          <a:p>
            <a:pPr algn="ctr" indent="0" marL="0">
              <a:buNone/>
            </a:pPr>
            <a:r>
              <a:rPr lang="en-US" sz="4400" b="1" dirty="0">
                <a:solidFill>
                  <a:schemeClr val="accent2"/>
                </a:solidFill>
              </a:rPr>
              <a:t>200 min</a:t>
            </a:r>
            <a:endParaRPr lang="en-US" sz="4400" dirty="0"/>
          </a:p>
        </p:txBody>
      </p:sp>
      <p:sp>
        <p:nvSpPr>
          <p:cNvPr id="8" name="stat label"/>
          <p:cNvSpPr txBox="1"/>
          <p:nvPr/>
        </p:nvSpPr>
        <p:spPr>
          <a:xfrm>
            <a:off x="6035040" y="2194560"/>
            <a:ext cx="2651760" cy="822960"/>
          </a:xfrm>
          <a:prstGeom prst="rect">
            <a:avLst/>
          </a:prstGeom>
          <a:noFill/>
          <a:ln/>
        </p:spPr>
        <p:txBody>
          <a:bodyPr wrap="square" lIns="0" tIns="0" rIns="0" bIns="0" rtlCol="0" anchor="t"/>
          <a:lstStyle/>
          <a:p>
            <a:pPr algn="ctr" indent="0" marL="0">
              <a:buNone/>
            </a:pPr>
            <a:r>
              <a:rPr lang="en-US" sz="1400" dirty="0">
                <a:solidFill>
                  <a:schemeClr val="tx1"/>
                </a:solidFill>
              </a:rPr>
              <a:t>de pantalla al día entre semana en España, 8-16 años (PASOS 2022). Máximo recomendado: 120.</a:t>
            </a:r>
            <a:endParaRPr lang="en-US" sz="1400" dirty="0"/>
          </a:p>
        </p:txBody>
      </p:sp>
      <p:sp>
        <p:nvSpPr>
          <p:cNvPr id="9" name="sleep card"/>
          <p:cNvSpPr/>
          <p:nvPr/>
        </p:nvSpPr>
        <p:spPr>
          <a:xfrm>
            <a:off x="457200" y="3200400"/>
            <a:ext cx="8229600" cy="1188720"/>
          </a:xfrm>
          <a:prstGeom prst="roundRect">
            <a:avLst>
              <a:gd name="adj" fmla="val 9231"/>
            </a:avLst>
          </a:prstGeom>
          <a:solidFill>
            <a:schemeClr val="bg2"/>
          </a:solidFill>
          <a:ln w="12700">
            <a:solidFill>
              <a:schemeClr val="bg2"/>
            </a:solidFill>
            <a:prstDash val="solid"/>
          </a:ln>
        </p:spPr>
      </p:sp>
      <p:sp>
        <p:nvSpPr>
          <p:cNvPr id="10" name="sleep text"/>
          <p:cNvSpPr txBox="1"/>
          <p:nvPr/>
        </p:nvSpPr>
        <p:spPr>
          <a:xfrm>
            <a:off x="640080" y="3291840"/>
            <a:ext cx="7863840" cy="1005840"/>
          </a:xfrm>
          <a:prstGeom prst="rect">
            <a:avLst/>
          </a:prstGeom>
          <a:noFill/>
          <a:ln/>
        </p:spPr>
        <p:txBody>
          <a:bodyPr wrap="square" lIns="0" tIns="0" rIns="0" bIns="0" rtlCol="0" anchor="ctr"/>
          <a:lstStyle/>
          <a:p>
            <a:pPr indent="0" marL="0">
              <a:buNone/>
            </a:pPr>
            <a:r>
              <a:rPr lang="en-US" sz="1500" b="1" dirty="0">
                <a:solidFill>
                  <a:schemeClr val="tx1"/>
                </a:solidFill>
              </a:rPr>
              <a:t>Piensa, comparte en pareja, cuenta (2 min): </a:t>
            </a:r>
            <a:pPr indent="0" marL="0">
              <a:buNone/>
            </a:pPr>
            <a:r>
              <a:rPr lang="en-US" sz="1400" dirty="0">
                <a:solidFill>
                  <a:schemeClr val="tx1"/>
                </a:solidFill>
              </a:rPr>
              <a:t>¿Qué te hace una noche corta al día siguiente? Atención, humor, hambre, deporte. Luego os cuento qué hacen las hormonas: dormir poco sube la grelina (hambre) y baja la leptina (saciedad). Un cerebro cansado pide azúcar. Es biología, no debilidad.</a:t>
            </a:r>
            <a:endParaRPr lang="en-US" sz="15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7C8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rgbClr val="0B2E3A"/>
                </a:solidFill>
              </a:rPr>
              <a:t>Comida: sin dietas, tres hábitos</a:t>
            </a:r>
            <a:endParaRPr lang="en-US" sz="2800" dirty="0"/>
          </a:p>
        </p:txBody>
      </p:sp>
      <p:sp>
        <p:nvSpPr>
          <p:cNvPr id="3" name="card"/>
          <p:cNvSpPr/>
          <p:nvPr/>
        </p:nvSpPr>
        <p:spPr>
          <a:xfrm>
            <a:off x="457200" y="1188720"/>
            <a:ext cx="2651760" cy="2286000"/>
          </a:xfrm>
          <a:prstGeom prst="roundRect">
            <a:avLst>
              <a:gd name="adj" fmla="val 4800"/>
            </a:avLst>
          </a:prstGeom>
          <a:solidFill>
            <a:schemeClr val="bg2"/>
          </a:solidFill>
          <a:ln w="12700">
            <a:solidFill>
              <a:schemeClr val="bg2"/>
            </a:solidFill>
            <a:prstDash val="solid"/>
          </a:ln>
        </p:spPr>
      </p:sp>
      <p:sp>
        <p:nvSpPr>
          <p:cNvPr id="4" name="icon circle"/>
          <p:cNvSpPr/>
          <p:nvPr/>
        </p:nvSpPr>
        <p:spPr>
          <a:xfrm>
            <a:off x="640080" y="1371600"/>
            <a:ext cx="548640" cy="54864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760781" y="1492301"/>
            <a:ext cx="307238" cy="307238"/>
          </a:xfrm>
          <a:prstGeom prst="rect">
            <a:avLst/>
          </a:prstGeom>
        </p:spPr>
      </p:pic>
      <p:sp>
        <p:nvSpPr>
          <p:cNvPr id="6" name="card head"/>
          <p:cNvSpPr txBox="1"/>
          <p:nvPr/>
        </p:nvSpPr>
        <p:spPr>
          <a:xfrm>
            <a:off x="1325880" y="1353312"/>
            <a:ext cx="1645920" cy="566928"/>
          </a:xfrm>
          <a:prstGeom prst="rect">
            <a:avLst/>
          </a:prstGeom>
          <a:noFill/>
          <a:ln/>
        </p:spPr>
        <p:txBody>
          <a:bodyPr wrap="square" lIns="0" tIns="0" rIns="0" bIns="0" rtlCol="0" anchor="ctr"/>
          <a:lstStyle/>
          <a:p>
            <a:pPr indent="0" marL="0">
              <a:buNone/>
            </a:pPr>
            <a:r>
              <a:rPr lang="en-US" sz="1600" b="1" dirty="0">
                <a:solidFill>
                  <a:schemeClr val="tx1"/>
                </a:solidFill>
              </a:rPr>
              <a:t>Come como un atleta mediterráneo</a:t>
            </a:r>
            <a:endParaRPr lang="en-US" sz="1600" dirty="0"/>
          </a:p>
        </p:txBody>
      </p:sp>
      <p:sp>
        <p:nvSpPr>
          <p:cNvPr id="7" name="card body"/>
          <p:cNvSpPr txBox="1"/>
          <p:nvPr/>
        </p:nvSpPr>
        <p:spPr>
          <a:xfrm>
            <a:off x="640080" y="2057400"/>
            <a:ext cx="2286000" cy="1280160"/>
          </a:xfrm>
          <a:prstGeom prst="rect">
            <a:avLst/>
          </a:prstGeom>
          <a:noFill/>
          <a:ln/>
        </p:spPr>
        <p:txBody>
          <a:bodyPr wrap="square" lIns="0" tIns="0" rIns="0" bIns="0" rtlCol="0" anchor="t"/>
          <a:lstStyle/>
          <a:p>
            <a:pPr indent="0" marL="0">
              <a:buNone/>
            </a:pPr>
            <a:r>
              <a:rPr lang="en-US" sz="1300" dirty="0">
                <a:solidFill>
                  <a:schemeClr val="tx1"/>
                </a:solidFill>
              </a:rPr>
              <a:t>Fruta, verdura, legumbres, cereales integrales, aceite de oliva, pescado, frutos secos. PASOS muestra que la adherencia cae en la adolescencia. Dale la vuelta una comida a la vez.</a:t>
            </a:r>
            <a:endParaRPr lang="en-US" sz="1300" dirty="0"/>
          </a:p>
        </p:txBody>
      </p:sp>
      <p:sp>
        <p:nvSpPr>
          <p:cNvPr id="8" name="card"/>
          <p:cNvSpPr/>
          <p:nvPr/>
        </p:nvSpPr>
        <p:spPr>
          <a:xfrm>
            <a:off x="3246120" y="1188720"/>
            <a:ext cx="2651760" cy="2286000"/>
          </a:xfrm>
          <a:prstGeom prst="roundRect">
            <a:avLst>
              <a:gd name="adj" fmla="val 4800"/>
            </a:avLst>
          </a:prstGeom>
          <a:solidFill>
            <a:schemeClr val="bg2"/>
          </a:solidFill>
          <a:ln w="12700">
            <a:solidFill>
              <a:schemeClr val="bg2"/>
            </a:solidFill>
            <a:prstDash val="solid"/>
          </a:ln>
        </p:spPr>
      </p:sp>
      <p:sp>
        <p:nvSpPr>
          <p:cNvPr id="9" name="icon circle"/>
          <p:cNvSpPr/>
          <p:nvPr/>
        </p:nvSpPr>
        <p:spPr>
          <a:xfrm>
            <a:off x="3429000" y="1371600"/>
            <a:ext cx="548640" cy="548640"/>
          </a:xfrm>
          <a:prstGeom prst="ellipse">
            <a:avLst/>
          </a:prstGeom>
          <a:solidFill>
            <a:schemeClr val="accent1"/>
          </a:solidFill>
          <a:ln w="12700">
            <a:solidFill>
              <a:schemeClr val="accent1"/>
            </a:solidFill>
            <a:prstDash val="solid"/>
          </a:ln>
        </p:spPr>
      </p:sp>
      <p:pic>
        <p:nvPicPr>
          <p:cNvPr id="10" name="icon" descr="preencoded.png">    </p:cNvPr>
          <p:cNvPicPr>
            <a:picLocks noChangeAspect="1"/>
          </p:cNvPicPr>
          <p:nvPr/>
        </p:nvPicPr>
        <p:blipFill>
          <a:blip r:embed="rId2"/>
          <a:stretch>
            <a:fillRect/>
          </a:stretch>
        </p:blipFill>
        <p:spPr>
          <a:xfrm>
            <a:off x="3549701" y="1492301"/>
            <a:ext cx="307238" cy="307238"/>
          </a:xfrm>
          <a:prstGeom prst="rect">
            <a:avLst/>
          </a:prstGeom>
        </p:spPr>
      </p:pic>
      <p:sp>
        <p:nvSpPr>
          <p:cNvPr id="11" name="card head"/>
          <p:cNvSpPr txBox="1"/>
          <p:nvPr/>
        </p:nvSpPr>
        <p:spPr>
          <a:xfrm>
            <a:off x="4114800" y="1353312"/>
            <a:ext cx="1645920" cy="566928"/>
          </a:xfrm>
          <a:prstGeom prst="rect">
            <a:avLst/>
          </a:prstGeom>
          <a:noFill/>
          <a:ln/>
        </p:spPr>
        <p:txBody>
          <a:bodyPr wrap="square" lIns="0" tIns="0" rIns="0" bIns="0" rtlCol="0" anchor="ctr"/>
          <a:lstStyle/>
          <a:p>
            <a:pPr indent="0" marL="0">
              <a:buNone/>
            </a:pPr>
            <a:r>
              <a:rPr lang="en-US" sz="1600" b="1" dirty="0">
                <a:solidFill>
                  <a:schemeClr val="tx1"/>
                </a:solidFill>
              </a:rPr>
              <a:t>Bebe agua</a:t>
            </a:r>
            <a:endParaRPr lang="en-US" sz="1600" dirty="0"/>
          </a:p>
        </p:txBody>
      </p:sp>
      <p:sp>
        <p:nvSpPr>
          <p:cNvPr id="12" name="card body"/>
          <p:cNvSpPr txBox="1"/>
          <p:nvPr/>
        </p:nvSpPr>
        <p:spPr>
          <a:xfrm>
            <a:off x="3429000" y="2057400"/>
            <a:ext cx="2286000" cy="1280160"/>
          </a:xfrm>
          <a:prstGeom prst="rect">
            <a:avLst/>
          </a:prstGeom>
          <a:noFill/>
          <a:ln/>
        </p:spPr>
        <p:txBody>
          <a:bodyPr wrap="square" lIns="0" tIns="0" rIns="0" bIns="0" rtlCol="0" anchor="t"/>
          <a:lstStyle/>
          <a:p>
            <a:pPr indent="0" marL="0">
              <a:buNone/>
            </a:pPr>
            <a:r>
              <a:rPr lang="en-US" sz="1300" dirty="0">
                <a:solidFill>
                  <a:schemeClr val="tx1"/>
                </a:solidFill>
              </a:rPr>
              <a:t>Las bebidas azucaradas y energéticas son el cambio más fácil con el mayor efecto sobre el azúcar que tomas. Agua, y leche si te gusta.</a:t>
            </a:r>
            <a:endParaRPr lang="en-US" sz="1300" dirty="0"/>
          </a:p>
        </p:txBody>
      </p:sp>
      <p:sp>
        <p:nvSpPr>
          <p:cNvPr id="13" name="card"/>
          <p:cNvSpPr/>
          <p:nvPr/>
        </p:nvSpPr>
        <p:spPr>
          <a:xfrm>
            <a:off x="6035040" y="1188720"/>
            <a:ext cx="2651760" cy="2286000"/>
          </a:xfrm>
          <a:prstGeom prst="roundRect">
            <a:avLst>
              <a:gd name="adj" fmla="val 4800"/>
            </a:avLst>
          </a:prstGeom>
          <a:solidFill>
            <a:schemeClr val="bg2"/>
          </a:solidFill>
          <a:ln w="12700">
            <a:solidFill>
              <a:schemeClr val="bg2"/>
            </a:solidFill>
            <a:prstDash val="solid"/>
          </a:ln>
        </p:spPr>
      </p:sp>
      <p:sp>
        <p:nvSpPr>
          <p:cNvPr id="14" name="icon circle"/>
          <p:cNvSpPr/>
          <p:nvPr/>
        </p:nvSpPr>
        <p:spPr>
          <a:xfrm>
            <a:off x="6217920" y="1371600"/>
            <a:ext cx="548640" cy="548640"/>
          </a:xfrm>
          <a:prstGeom prst="ellipse">
            <a:avLst/>
          </a:prstGeom>
          <a:solidFill>
            <a:schemeClr val="accent1"/>
          </a:solidFill>
          <a:ln w="12700">
            <a:solidFill>
              <a:schemeClr val="accent1"/>
            </a:solidFill>
            <a:prstDash val="solid"/>
          </a:ln>
        </p:spPr>
      </p:sp>
      <p:pic>
        <p:nvPicPr>
          <p:cNvPr id="15" name="icon" descr="preencoded.png">    </p:cNvPr>
          <p:cNvPicPr>
            <a:picLocks noChangeAspect="1"/>
          </p:cNvPicPr>
          <p:nvPr/>
        </p:nvPicPr>
        <p:blipFill>
          <a:blip r:embed="rId3"/>
          <a:stretch>
            <a:fillRect/>
          </a:stretch>
        </p:blipFill>
        <p:spPr>
          <a:xfrm>
            <a:off x="6338621" y="1492301"/>
            <a:ext cx="307238" cy="307238"/>
          </a:xfrm>
          <a:prstGeom prst="rect">
            <a:avLst/>
          </a:prstGeom>
        </p:spPr>
      </p:pic>
      <p:sp>
        <p:nvSpPr>
          <p:cNvPr id="16" name="card head"/>
          <p:cNvSpPr txBox="1"/>
          <p:nvPr/>
        </p:nvSpPr>
        <p:spPr>
          <a:xfrm>
            <a:off x="6903720" y="1353312"/>
            <a:ext cx="1645920" cy="566928"/>
          </a:xfrm>
          <a:prstGeom prst="rect">
            <a:avLst/>
          </a:prstGeom>
          <a:noFill/>
          <a:ln/>
        </p:spPr>
        <p:txBody>
          <a:bodyPr wrap="square" lIns="0" tIns="0" rIns="0" bIns="0" rtlCol="0" anchor="ctr"/>
          <a:lstStyle/>
          <a:p>
            <a:pPr indent="0" marL="0">
              <a:buNone/>
            </a:pPr>
            <a:r>
              <a:rPr lang="en-US" sz="1600" b="1" dirty="0">
                <a:solidFill>
                  <a:schemeClr val="tx1"/>
                </a:solidFill>
              </a:rPr>
              <a:t>Comidas regulares</a:t>
            </a:r>
            <a:endParaRPr lang="en-US" sz="1600" dirty="0"/>
          </a:p>
        </p:txBody>
      </p:sp>
      <p:sp>
        <p:nvSpPr>
          <p:cNvPr id="17" name="card body"/>
          <p:cNvSpPr txBox="1"/>
          <p:nvPr/>
        </p:nvSpPr>
        <p:spPr>
          <a:xfrm>
            <a:off x="6217920" y="2057400"/>
            <a:ext cx="2286000" cy="1280160"/>
          </a:xfrm>
          <a:prstGeom prst="rect">
            <a:avLst/>
          </a:prstGeom>
          <a:noFill/>
          <a:ln/>
        </p:spPr>
        <p:txBody>
          <a:bodyPr wrap="square" lIns="0" tIns="0" rIns="0" bIns="0" rtlCol="0" anchor="t"/>
          <a:lstStyle/>
          <a:p>
            <a:pPr indent="0" marL="0">
              <a:buNone/>
            </a:pPr>
            <a:r>
              <a:rPr lang="en-US" sz="1300" dirty="0">
                <a:solidFill>
                  <a:schemeClr val="tx1"/>
                </a:solidFill>
              </a:rPr>
              <a:t>Desayuno, comida, merienda, cena, más o menos a su hora. La regularidad gana a la restricción. Nunca te saltes una comida para compensar.</a:t>
            </a:r>
            <a:endParaRPr lang="en-US" sz="1300" dirty="0"/>
          </a:p>
        </p:txBody>
      </p:sp>
      <p:sp>
        <p:nvSpPr>
          <p:cNvPr id="18" name="food banner"/>
          <p:cNvSpPr/>
          <p:nvPr/>
        </p:nvSpPr>
        <p:spPr>
          <a:xfrm>
            <a:off x="457200" y="3657600"/>
            <a:ext cx="8229600" cy="777240"/>
          </a:xfrm>
          <a:prstGeom prst="roundRect">
            <a:avLst>
              <a:gd name="adj" fmla="val 14118"/>
            </a:avLst>
          </a:prstGeom>
          <a:solidFill>
            <a:schemeClr val="tx1"/>
          </a:solidFill>
          <a:ln w="12700">
            <a:solidFill>
              <a:schemeClr val="tx1"/>
            </a:solidFill>
            <a:prstDash val="solid"/>
          </a:ln>
        </p:spPr>
      </p:sp>
      <p:sp>
        <p:nvSpPr>
          <p:cNvPr id="19" name="food vote"/>
          <p:cNvSpPr txBox="1"/>
          <p:nvPr/>
        </p:nvSpPr>
        <p:spPr>
          <a:xfrm>
            <a:off x="640080" y="3703320"/>
            <a:ext cx="7863840" cy="685800"/>
          </a:xfrm>
          <a:prstGeom prst="rect">
            <a:avLst/>
          </a:prstGeom>
          <a:noFill/>
          <a:ln/>
        </p:spPr>
        <p:txBody>
          <a:bodyPr wrap="square" lIns="0" tIns="0" rIns="0" bIns="0" rtlCol="0" anchor="ctr"/>
          <a:lstStyle/>
          <a:p>
            <a:pPr indent="0" marL="0">
              <a:buNone/>
            </a:pPr>
            <a:r>
              <a:rPr lang="en-US" sz="1500" b="1" dirty="0">
                <a:solidFill>
                  <a:schemeClr val="accent1"/>
                </a:solidFill>
              </a:rPr>
              <a:t>Votación rápida: ¿cuál de los tres te sería más fácil cambiar esta semana? Puño para el 1, dos dedos para el 2, tres para el 3.</a:t>
            </a:r>
            <a:endParaRPr lang="en-US" sz="15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7C8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2800" b="1" dirty="0">
                <a:solidFill>
                  <a:schemeClr val="accent1"/>
                </a:solidFill>
              </a:rPr>
              <a:t>No es tu culpa. Es el entorno</a:t>
            </a:r>
            <a:endParaRPr lang="en-US" sz="2800" dirty="0"/>
          </a:p>
        </p:txBody>
      </p:sp>
      <p:sp>
        <p:nvSpPr>
          <p:cNvPr id="3" name="stat"/>
          <p:cNvSpPr txBox="1"/>
          <p:nvPr/>
        </p:nvSpPr>
        <p:spPr>
          <a:xfrm>
            <a:off x="457200" y="1188720"/>
            <a:ext cx="2651760" cy="1005840"/>
          </a:xfrm>
          <a:prstGeom prst="rect">
            <a:avLst/>
          </a:prstGeom>
          <a:noFill/>
          <a:ln/>
        </p:spPr>
        <p:txBody>
          <a:bodyPr wrap="square" lIns="0" tIns="0" rIns="0" bIns="0" rtlCol="0" anchor="ctr"/>
          <a:lstStyle/>
          <a:p>
            <a:pPr algn="ctr" indent="0" marL="0">
              <a:buNone/>
            </a:pPr>
            <a:r>
              <a:rPr lang="en-US" sz="6000" b="1" dirty="0">
                <a:solidFill>
                  <a:schemeClr val="accent1"/>
                </a:solidFill>
              </a:rPr>
              <a:t>36%</a:t>
            </a:r>
            <a:endParaRPr lang="en-US" sz="6000" dirty="0"/>
          </a:p>
        </p:txBody>
      </p:sp>
      <p:sp>
        <p:nvSpPr>
          <p:cNvPr id="4" name="stat label"/>
          <p:cNvSpPr txBox="1"/>
          <p:nvPr/>
        </p:nvSpPr>
        <p:spPr>
          <a:xfrm>
            <a:off x="457200" y="2194560"/>
            <a:ext cx="2651760" cy="822960"/>
          </a:xfrm>
          <a:prstGeom prst="rect">
            <a:avLst/>
          </a:prstGeom>
          <a:noFill/>
          <a:ln/>
        </p:spPr>
        <p:txBody>
          <a:bodyPr wrap="square" lIns="0" tIns="0" rIns="0" bIns="0" rtlCol="0" anchor="t"/>
          <a:lstStyle/>
          <a:p>
            <a:pPr algn="ctr" indent="0" marL="0">
              <a:buNone/>
            </a:pPr>
            <a:r>
              <a:rPr lang="en-US" sz="1400" dirty="0">
                <a:solidFill>
                  <a:schemeClr val="bg1"/>
                </a:solidFill>
              </a:rPr>
              <a:t>de los niños y niñas españoles de 6 a 9 años viven con sobrepeso u obesidad (ALADINO 2023; era el 40,6 % en 2019)</a:t>
            </a:r>
            <a:endParaRPr lang="en-US" sz="1400" dirty="0"/>
          </a:p>
        </p:txBody>
      </p:sp>
      <p:sp>
        <p:nvSpPr>
          <p:cNvPr id="5" name="stat"/>
          <p:cNvSpPr txBox="1"/>
          <p:nvPr/>
        </p:nvSpPr>
        <p:spPr>
          <a:xfrm>
            <a:off x="3246120" y="1188720"/>
            <a:ext cx="2651760" cy="1005840"/>
          </a:xfrm>
          <a:prstGeom prst="rect">
            <a:avLst/>
          </a:prstGeom>
          <a:noFill/>
          <a:ln/>
        </p:spPr>
        <p:txBody>
          <a:bodyPr wrap="square" lIns="0" tIns="0" rIns="0" bIns="0" rtlCol="0" anchor="ctr"/>
          <a:lstStyle/>
          <a:p>
            <a:pPr algn="ctr" indent="0" marL="0">
              <a:buNone/>
            </a:pPr>
            <a:r>
              <a:rPr lang="en-US" sz="6000" b="1" dirty="0">
                <a:solidFill>
                  <a:schemeClr val="accent1"/>
                </a:solidFill>
              </a:rPr>
              <a:t>81 %</a:t>
            </a:r>
            <a:endParaRPr lang="en-US" sz="6000" dirty="0"/>
          </a:p>
        </p:txBody>
      </p:sp>
      <p:sp>
        <p:nvSpPr>
          <p:cNvPr id="6" name="stat label"/>
          <p:cNvSpPr txBox="1"/>
          <p:nvPr/>
        </p:nvSpPr>
        <p:spPr>
          <a:xfrm>
            <a:off x="3246120" y="2194560"/>
            <a:ext cx="2651760" cy="822960"/>
          </a:xfrm>
          <a:prstGeom prst="rect">
            <a:avLst/>
          </a:prstGeom>
          <a:noFill/>
          <a:ln/>
        </p:spPr>
        <p:txBody>
          <a:bodyPr wrap="square" lIns="0" tIns="0" rIns="0" bIns="0" rtlCol="0" anchor="t"/>
          <a:lstStyle/>
          <a:p>
            <a:pPr algn="ctr" indent="0" marL="0">
              <a:buNone/>
            </a:pPr>
            <a:r>
              <a:rPr lang="en-US" sz="1400" dirty="0">
                <a:solidFill>
                  <a:schemeClr val="bg1"/>
                </a:solidFill>
              </a:rPr>
              <a:t>de los adolescentes del mundo no llegan a la actividad recomendada (Guthold 2020)</a:t>
            </a:r>
            <a:endParaRPr lang="en-US" sz="1400" dirty="0"/>
          </a:p>
        </p:txBody>
      </p:sp>
      <p:sp>
        <p:nvSpPr>
          <p:cNvPr id="7" name="stat"/>
          <p:cNvSpPr txBox="1"/>
          <p:nvPr/>
        </p:nvSpPr>
        <p:spPr>
          <a:xfrm>
            <a:off x="6035040" y="1188720"/>
            <a:ext cx="2651760" cy="1005840"/>
          </a:xfrm>
          <a:prstGeom prst="rect">
            <a:avLst/>
          </a:prstGeom>
          <a:noFill/>
          <a:ln/>
        </p:spPr>
        <p:txBody>
          <a:bodyPr wrap="square" lIns="0" tIns="0" rIns="0" bIns="0" rtlCol="0" anchor="ctr"/>
          <a:lstStyle/>
          <a:p>
            <a:pPr algn="ctr" indent="0" marL="0">
              <a:buNone/>
            </a:pPr>
            <a:r>
              <a:rPr lang="en-US" sz="6000" b="1" dirty="0">
                <a:solidFill>
                  <a:schemeClr val="accent1"/>
                </a:solidFill>
              </a:rPr>
              <a:t>1 de 3</a:t>
            </a:r>
            <a:endParaRPr lang="en-US" sz="6000" dirty="0"/>
          </a:p>
        </p:txBody>
      </p:sp>
      <p:sp>
        <p:nvSpPr>
          <p:cNvPr id="8" name="stat label"/>
          <p:cNvSpPr txBox="1"/>
          <p:nvPr/>
        </p:nvSpPr>
        <p:spPr>
          <a:xfrm>
            <a:off x="6035040" y="2194560"/>
            <a:ext cx="2651760" cy="822960"/>
          </a:xfrm>
          <a:prstGeom prst="rect">
            <a:avLst/>
          </a:prstGeom>
          <a:noFill/>
          <a:ln/>
        </p:spPr>
        <p:txBody>
          <a:bodyPr wrap="square" lIns="0" tIns="0" rIns="0" bIns="0" rtlCol="0" anchor="t"/>
          <a:lstStyle/>
          <a:p>
            <a:pPr algn="ctr" indent="0" marL="0">
              <a:buNone/>
            </a:pPr>
            <a:r>
              <a:rPr lang="en-US" sz="1400" dirty="0">
                <a:solidFill>
                  <a:schemeClr val="bg1"/>
                </a:solidFill>
              </a:rPr>
              <a:t>estudiantes españoles se sentían tristes, preocupados o infelices en 2022 (PASOS); en 2019 era 1 de 5</a:t>
            </a:r>
            <a:endParaRPr lang="en-US" sz="1400" dirty="0"/>
          </a:p>
        </p:txBody>
      </p:sp>
      <p:sp>
        <p:nvSpPr>
          <p:cNvPr id="9" name="env text"/>
          <p:cNvSpPr txBox="1"/>
          <p:nvPr/>
        </p:nvSpPr>
        <p:spPr>
          <a:xfrm>
            <a:off x="457200" y="3429000"/>
            <a:ext cx="8229600" cy="1097280"/>
          </a:xfrm>
          <a:prstGeom prst="rect">
            <a:avLst/>
          </a:prstGeom>
          <a:noFill/>
          <a:ln/>
        </p:spPr>
        <p:txBody>
          <a:bodyPr wrap="square" lIns="0" tIns="0" rIns="0" bIns="0" rtlCol="0" anchor="t"/>
          <a:lstStyle/>
          <a:p>
            <a:pPr indent="0" marL="0">
              <a:buNone/>
            </a:pPr>
            <a:r>
              <a:rPr lang="en-US" sz="1500" dirty="0">
                <a:solidFill>
                  <a:schemeClr val="bg1"/>
                </a:solidFill>
              </a:rPr>
              <a:t>Pantallas que no se acaban, comida diseñada para comerse rápido, ciudades hechas para coches, horarios que ignoran tu reloj de sueño. El entorno empuja hacia un lado. Los hábitos son tu manera de empujar hacia el otro. Sin culpa. Con estrategia.</a:t>
            </a:r>
            <a:endParaRPr lang="en-US" sz="15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8C2"/>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rgbClr val="C8F23D"/>
                </a:solidFill>
              </a:rPr>
              <a:t>Diseña tu semana (parejas, 5 minutos)</a:t>
            </a:r>
            <a:endParaRPr lang="en-US" sz="2800" dirty="0"/>
          </a:p>
        </p:txBody>
      </p:sp>
      <p:graphicFrame>
        <p:nvGraphicFramePr>
          <p:cNvPr id="14" name="plan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645920"/>
                <a:gridCol w="2926080"/>
                <a:gridCol w="3657600"/>
              </a:tblGrid>
              <a:tr h="457200">
                <a:tc>
                  <a:txBody>
                    <a:bodyPr/>
                    <a:lstStyle/>
                    <a:p>
                      <a:pPr indent="0" marL="0">
                        <a:buNone/>
                      </a:pPr>
                      <a:r>
                        <a:rPr lang="en-US" sz="1200" b="1" dirty="0">
                          <a:solidFill>
                            <a:srgbClr val="C8F23D"/>
                          </a:solidFill>
                        </a:rPr>
                        <a:t>Hábito</a:t>
                      </a:r>
                      <a:endParaRPr lang="en-US" sz="1200" dirty="0"/>
                    </a:p>
                  </a:txBody>
                  <a:tcPr marL="54864" marR="54864" marT="54864" marB="54864" anchor="ctr">
                    <a:lnL w="12700" cap="flat" cmpd="sng" algn="ctr">
                      <a:solidFill>
                        <a:srgbClr val="0F4C5C"/>
                      </a:solidFill>
                      <a:prstDash val="solid"/>
                      <a:round/>
                      <a:headEnd type="none" w="med" len="med"/>
                      <a:tailEnd type="none" w="med" len="med"/>
                    </a:lnL>
                    <a:lnR w="12700" cap="flat" cmpd="sng" algn="ctr">
                      <a:solidFill>
                        <a:srgbClr val="0F4C5C"/>
                      </a:solidFill>
                      <a:prstDash val="solid"/>
                      <a:round/>
                      <a:headEnd type="none" w="med" len="med"/>
                      <a:tailEnd type="none" w="med" len="med"/>
                    </a:lnR>
                    <a:lnT w="12700" cap="flat" cmpd="sng" algn="ctr">
                      <a:solidFill>
                        <a:srgbClr val="0F4C5C"/>
                      </a:solidFill>
                      <a:prstDash val="solid"/>
                      <a:round/>
                      <a:headEnd type="none" w="med" len="med"/>
                      <a:tailEnd type="none" w="med" len="med"/>
                    </a:lnT>
                    <a:lnB w="12700" cap="flat" cmpd="sng" algn="ctr">
                      <a:solidFill>
                        <a:srgbClr val="0F4C5C"/>
                      </a:solidFill>
                      <a:prstDash val="solid"/>
                      <a:round/>
                      <a:headEnd type="none" w="med" len="med"/>
                      <a:tailEnd type="none" w="med" len="med"/>
                    </a:lnB>
                    <a:solidFill>
                      <a:srgbClr val="0B2E3A"/>
                    </a:solidFill>
                  </a:tcPr>
                </a:tc>
                <a:tc>
                  <a:txBody>
                    <a:bodyPr/>
                    <a:lstStyle/>
                    <a:p>
                      <a:pPr indent="0" marL="0">
                        <a:buNone/>
                      </a:pPr>
                      <a:r>
                        <a:rPr lang="en-US" sz="1200" b="1" dirty="0">
                          <a:solidFill>
                            <a:srgbClr val="C8F23D"/>
                          </a:solidFill>
                        </a:rPr>
                        <a:t>Objetivo</a:t>
                      </a:r>
                      <a:endParaRPr lang="en-US" sz="1200" dirty="0"/>
                    </a:p>
                  </a:txBody>
                  <a:tcPr marL="54864" marR="54864" marT="54864" marB="54864" anchor="ctr">
                    <a:lnL w="12700" cap="flat" cmpd="sng" algn="ctr">
                      <a:solidFill>
                        <a:srgbClr val="0F4C5C"/>
                      </a:solidFill>
                      <a:prstDash val="solid"/>
                      <a:round/>
                      <a:headEnd type="none" w="med" len="med"/>
                      <a:tailEnd type="none" w="med" len="med"/>
                    </a:lnL>
                    <a:lnR w="12700" cap="flat" cmpd="sng" algn="ctr">
                      <a:solidFill>
                        <a:srgbClr val="0F4C5C"/>
                      </a:solidFill>
                      <a:prstDash val="solid"/>
                      <a:round/>
                      <a:headEnd type="none" w="med" len="med"/>
                      <a:tailEnd type="none" w="med" len="med"/>
                    </a:lnR>
                    <a:lnT w="12700" cap="flat" cmpd="sng" algn="ctr">
                      <a:solidFill>
                        <a:srgbClr val="0F4C5C"/>
                      </a:solidFill>
                      <a:prstDash val="solid"/>
                      <a:round/>
                      <a:headEnd type="none" w="med" len="med"/>
                      <a:tailEnd type="none" w="med" len="med"/>
                    </a:lnT>
                    <a:lnB w="12700" cap="flat" cmpd="sng" algn="ctr">
                      <a:solidFill>
                        <a:srgbClr val="0F4C5C"/>
                      </a:solidFill>
                      <a:prstDash val="solid"/>
                      <a:round/>
                      <a:headEnd type="none" w="med" len="med"/>
                      <a:tailEnd type="none" w="med" len="med"/>
                    </a:lnB>
                    <a:solidFill>
                      <a:srgbClr val="0B2E3A"/>
                    </a:solidFill>
                  </a:tcPr>
                </a:tc>
                <a:tc>
                  <a:txBody>
                    <a:bodyPr/>
                    <a:lstStyle/>
                    <a:p>
                      <a:pPr indent="0" marL="0">
                        <a:buNone/>
                      </a:pPr>
                      <a:r>
                        <a:rPr lang="en-US" sz="1200" b="1" dirty="0">
                          <a:solidFill>
                            <a:srgbClr val="C8F23D"/>
                          </a:solidFill>
                        </a:rPr>
                        <a:t>Mi plan (escríbelo)</a:t>
                      </a:r>
                      <a:endParaRPr lang="en-US" sz="1200" dirty="0"/>
                    </a:p>
                  </a:txBody>
                  <a:tcPr marL="54864" marR="54864" marT="54864" marB="54864" anchor="ctr">
                    <a:lnL w="12700" cap="flat" cmpd="sng" algn="ctr">
                      <a:solidFill>
                        <a:srgbClr val="0F4C5C"/>
                      </a:solidFill>
                      <a:prstDash val="solid"/>
                      <a:round/>
                      <a:headEnd type="none" w="med" len="med"/>
                      <a:tailEnd type="none" w="med" len="med"/>
                    </a:lnL>
                    <a:lnR w="12700" cap="flat" cmpd="sng" algn="ctr">
                      <a:solidFill>
                        <a:srgbClr val="0F4C5C"/>
                      </a:solidFill>
                      <a:prstDash val="solid"/>
                      <a:round/>
                      <a:headEnd type="none" w="med" len="med"/>
                      <a:tailEnd type="none" w="med" len="med"/>
                    </a:lnR>
                    <a:lnT w="12700" cap="flat" cmpd="sng" algn="ctr">
                      <a:solidFill>
                        <a:srgbClr val="0F4C5C"/>
                      </a:solidFill>
                      <a:prstDash val="solid"/>
                      <a:round/>
                      <a:headEnd type="none" w="med" len="med"/>
                      <a:tailEnd type="none" w="med" len="med"/>
                    </a:lnT>
                    <a:lnB w="12700" cap="flat" cmpd="sng" algn="ctr">
                      <a:solidFill>
                        <a:srgbClr val="0F4C5C"/>
                      </a:solidFill>
                      <a:prstDash val="solid"/>
                      <a:round/>
                      <a:headEnd type="none" w="med" len="med"/>
                      <a:tailEnd type="none" w="med" len="med"/>
                    </a:lnB>
                    <a:solidFill>
                      <a:srgbClr val="0B2E3A"/>
                    </a:solidFill>
                  </a:tcPr>
                </a:tc>
              </a:tr>
              <a:tr h="457200">
                <a:tc>
                  <a:txBody>
                    <a:bodyPr/>
                    <a:lstStyle/>
                    <a:p>
                      <a:pPr indent="0" marL="0">
                        <a:buNone/>
                      </a:pPr>
                      <a:r>
                        <a:rPr lang="en-US" sz="1200" dirty="0">
                          <a:solidFill>
                            <a:srgbClr val="FFFFFF"/>
                          </a:solidFill>
                        </a:rPr>
                        <a:t>Moverme</a:t>
                      </a:r>
                      <a:endParaRPr lang="en-US" sz="1200" dirty="0"/>
                    </a:p>
                  </a:txBody>
                  <a:tcPr marL="54864" marR="54864" marT="54864" marB="54864" anchor="ctr">
                    <a:lnL w="12700" cap="flat" cmpd="sng" algn="ctr">
                      <a:solidFill>
                        <a:srgbClr val="0F4C5C"/>
                      </a:solidFill>
                      <a:prstDash val="solid"/>
                      <a:round/>
                      <a:headEnd type="none" w="med" len="med"/>
                      <a:tailEnd type="none" w="med" len="med"/>
                    </a:lnL>
                    <a:lnR w="12700" cap="flat" cmpd="sng" algn="ctr">
                      <a:solidFill>
                        <a:srgbClr val="0F4C5C"/>
                      </a:solidFill>
                      <a:prstDash val="solid"/>
                      <a:round/>
                      <a:headEnd type="none" w="med" len="med"/>
                      <a:tailEnd type="none" w="med" len="med"/>
                    </a:lnR>
                    <a:lnT w="12700" cap="flat" cmpd="sng" algn="ctr">
                      <a:solidFill>
                        <a:srgbClr val="0F4C5C"/>
                      </a:solidFill>
                      <a:prstDash val="solid"/>
                      <a:round/>
                      <a:headEnd type="none" w="med" len="med"/>
                      <a:tailEnd type="none" w="med" len="med"/>
                    </a:lnT>
                    <a:lnB w="12700" cap="flat" cmpd="sng" algn="ctr">
                      <a:solidFill>
                        <a:srgbClr val="0F4C5C"/>
                      </a:solidFill>
                      <a:prstDash val="solid"/>
                      <a:round/>
                      <a:headEnd type="none" w="med" len="med"/>
                      <a:tailEnd type="none" w="med" len="med"/>
                    </a:lnB>
                    <a:solidFill>
                      <a:srgbClr val="0B2E3A"/>
                    </a:solidFill>
                  </a:tcPr>
                </a:tc>
                <a:tc>
                  <a:txBody>
                    <a:bodyPr/>
                    <a:lstStyle/>
                    <a:p>
                      <a:pPr indent="0" marL="0">
                        <a:buNone/>
                      </a:pPr>
                      <a:r>
                        <a:rPr lang="en-US" sz="1200" dirty="0">
                          <a:solidFill>
                            <a:srgbClr val="FFFFFF"/>
                          </a:solidFill>
                        </a:rPr>
                        <a:t>60 min/día, en trozos (10 + 10 + 20 + 20)</a:t>
                      </a:r>
                      <a:endParaRPr lang="en-US" sz="1200" dirty="0"/>
                    </a:p>
                  </a:txBody>
                  <a:tcPr marL="54864" marR="54864" marT="54864" marB="54864" anchor="ctr">
                    <a:lnL w="12700" cap="flat" cmpd="sng" algn="ctr">
                      <a:solidFill>
                        <a:srgbClr val="0F4C5C"/>
                      </a:solidFill>
                      <a:prstDash val="solid"/>
                      <a:round/>
                      <a:headEnd type="none" w="med" len="med"/>
                      <a:tailEnd type="none" w="med" len="med"/>
                    </a:lnL>
                    <a:lnR w="12700" cap="flat" cmpd="sng" algn="ctr">
                      <a:solidFill>
                        <a:srgbClr val="0F4C5C"/>
                      </a:solidFill>
                      <a:prstDash val="solid"/>
                      <a:round/>
                      <a:headEnd type="none" w="med" len="med"/>
                      <a:tailEnd type="none" w="med" len="med"/>
                    </a:lnR>
                    <a:lnT w="12700" cap="flat" cmpd="sng" algn="ctr">
                      <a:solidFill>
                        <a:srgbClr val="0F4C5C"/>
                      </a:solidFill>
                      <a:prstDash val="solid"/>
                      <a:round/>
                      <a:headEnd type="none" w="med" len="med"/>
                      <a:tailEnd type="none" w="med" len="med"/>
                    </a:lnT>
                    <a:lnB w="12700" cap="flat" cmpd="sng" algn="ctr">
                      <a:solidFill>
                        <a:srgbClr val="0F4C5C"/>
                      </a:solidFill>
                      <a:prstDash val="solid"/>
                      <a:round/>
                      <a:headEnd type="none" w="med" len="med"/>
                      <a:tailEnd type="none" w="med" len="med"/>
                    </a:lnB>
                    <a:solidFill>
                      <a:srgbClr val="0B2E3A"/>
                    </a:solidFill>
                  </a:tcPr>
                </a:tc>
                <a:tc>
                  <a:txBody>
                    <a:bodyPr/>
                    <a:lstStyle/>
                    <a:p>
                      <a:pPr indent="0" marL="0">
                        <a:buNone/>
                      </a:pPr>
                      <a:r>
                        <a:rPr lang="en-US" sz="1200" dirty="0">
                          <a:solidFill>
                            <a:srgbClr val="FFFFFF"/>
                          </a:solidFill>
                        </a:rPr>
                        <a:t>L ____  M ____  X ____  J ____  V ____  Finde ____</a:t>
                      </a:r>
                      <a:endParaRPr lang="en-US" sz="1200" dirty="0"/>
                    </a:p>
                  </a:txBody>
                  <a:tcPr marL="54864" marR="54864" marT="54864" marB="54864" anchor="ctr">
                    <a:lnL w="12700" cap="flat" cmpd="sng" algn="ctr">
                      <a:solidFill>
                        <a:srgbClr val="0F4C5C"/>
                      </a:solidFill>
                      <a:prstDash val="solid"/>
                      <a:round/>
                      <a:headEnd type="none" w="med" len="med"/>
                      <a:tailEnd type="none" w="med" len="med"/>
                    </a:lnL>
                    <a:lnR w="12700" cap="flat" cmpd="sng" algn="ctr">
                      <a:solidFill>
                        <a:srgbClr val="0F4C5C"/>
                      </a:solidFill>
                      <a:prstDash val="solid"/>
                      <a:round/>
                      <a:headEnd type="none" w="med" len="med"/>
                      <a:tailEnd type="none" w="med" len="med"/>
                    </a:lnR>
                    <a:lnT w="12700" cap="flat" cmpd="sng" algn="ctr">
                      <a:solidFill>
                        <a:srgbClr val="0F4C5C"/>
                      </a:solidFill>
                      <a:prstDash val="solid"/>
                      <a:round/>
                      <a:headEnd type="none" w="med" len="med"/>
                      <a:tailEnd type="none" w="med" len="med"/>
                    </a:lnT>
                    <a:lnB w="12700" cap="flat" cmpd="sng" algn="ctr">
                      <a:solidFill>
                        <a:srgbClr val="0F4C5C"/>
                      </a:solidFill>
                      <a:prstDash val="solid"/>
                      <a:round/>
                      <a:headEnd type="none" w="med" len="med"/>
                      <a:tailEnd type="none" w="med" len="med"/>
                    </a:lnB>
                    <a:solidFill>
                      <a:srgbClr val="0B2E3A"/>
                    </a:solidFill>
                  </a:tcPr>
                </a:tc>
              </a:tr>
              <a:tr h="457200">
                <a:tc>
                  <a:txBody>
                    <a:bodyPr/>
                    <a:lstStyle/>
                    <a:p>
                      <a:pPr indent="0" marL="0">
                        <a:buNone/>
                      </a:pPr>
                      <a:r>
                        <a:rPr lang="en-US" sz="1200" dirty="0">
                          <a:solidFill>
                            <a:srgbClr val="FFFFFF"/>
                          </a:solidFill>
                        </a:rPr>
                        <a:t>Cargar músculos y huesos</a:t>
                      </a:r>
                      <a:endParaRPr lang="en-US" sz="1200" dirty="0"/>
                    </a:p>
                  </a:txBody>
                  <a:tcPr marL="54864" marR="54864" marT="54864" marB="54864" anchor="ctr">
                    <a:lnL w="12700" cap="flat" cmpd="sng" algn="ctr">
                      <a:solidFill>
                        <a:srgbClr val="0F4C5C"/>
                      </a:solidFill>
                      <a:prstDash val="solid"/>
                      <a:round/>
                      <a:headEnd type="none" w="med" len="med"/>
                      <a:tailEnd type="none" w="med" len="med"/>
                    </a:lnL>
                    <a:lnR w="12700" cap="flat" cmpd="sng" algn="ctr">
                      <a:solidFill>
                        <a:srgbClr val="0F4C5C"/>
                      </a:solidFill>
                      <a:prstDash val="solid"/>
                      <a:round/>
                      <a:headEnd type="none" w="med" len="med"/>
                      <a:tailEnd type="none" w="med" len="med"/>
                    </a:lnR>
                    <a:lnT w="12700" cap="flat" cmpd="sng" algn="ctr">
                      <a:solidFill>
                        <a:srgbClr val="0F4C5C"/>
                      </a:solidFill>
                      <a:prstDash val="solid"/>
                      <a:round/>
                      <a:headEnd type="none" w="med" len="med"/>
                      <a:tailEnd type="none" w="med" len="med"/>
                    </a:lnT>
                    <a:lnB w="12700" cap="flat" cmpd="sng" algn="ctr">
                      <a:solidFill>
                        <a:srgbClr val="0F4C5C"/>
                      </a:solidFill>
                      <a:prstDash val="solid"/>
                      <a:round/>
                      <a:headEnd type="none" w="med" len="med"/>
                      <a:tailEnd type="none" w="med" len="med"/>
                    </a:lnB>
                    <a:solidFill>
                      <a:srgbClr val="0B2E3A"/>
                    </a:solidFill>
                  </a:tcPr>
                </a:tc>
                <a:tc>
                  <a:txBody>
                    <a:bodyPr/>
                    <a:lstStyle/>
                    <a:p>
                      <a:pPr indent="0" marL="0">
                        <a:buNone/>
                      </a:pPr>
                      <a:r>
                        <a:rPr lang="en-US" sz="1200" dirty="0">
                          <a:solidFill>
                            <a:srgbClr val="FFFFFF"/>
                          </a:solidFill>
                        </a:rPr>
                        <a:t>3 días/semana: saltos, escaleras, flexiones, deporte</a:t>
                      </a:r>
                      <a:endParaRPr lang="en-US" sz="1200" dirty="0"/>
                    </a:p>
                  </a:txBody>
                  <a:tcPr marL="54864" marR="54864" marT="54864" marB="54864" anchor="ctr">
                    <a:lnL w="12700" cap="flat" cmpd="sng" algn="ctr">
                      <a:solidFill>
                        <a:srgbClr val="0F4C5C"/>
                      </a:solidFill>
                      <a:prstDash val="solid"/>
                      <a:round/>
                      <a:headEnd type="none" w="med" len="med"/>
                      <a:tailEnd type="none" w="med" len="med"/>
                    </a:lnL>
                    <a:lnR w="12700" cap="flat" cmpd="sng" algn="ctr">
                      <a:solidFill>
                        <a:srgbClr val="0F4C5C"/>
                      </a:solidFill>
                      <a:prstDash val="solid"/>
                      <a:round/>
                      <a:headEnd type="none" w="med" len="med"/>
                      <a:tailEnd type="none" w="med" len="med"/>
                    </a:lnR>
                    <a:lnT w="12700" cap="flat" cmpd="sng" algn="ctr">
                      <a:solidFill>
                        <a:srgbClr val="0F4C5C"/>
                      </a:solidFill>
                      <a:prstDash val="solid"/>
                      <a:round/>
                      <a:headEnd type="none" w="med" len="med"/>
                      <a:tailEnd type="none" w="med" len="med"/>
                    </a:lnT>
                    <a:lnB w="12700" cap="flat" cmpd="sng" algn="ctr">
                      <a:solidFill>
                        <a:srgbClr val="0F4C5C"/>
                      </a:solidFill>
                      <a:prstDash val="solid"/>
                      <a:round/>
                      <a:headEnd type="none" w="med" len="med"/>
                      <a:tailEnd type="none" w="med" len="med"/>
                    </a:lnB>
                    <a:solidFill>
                      <a:srgbClr val="0B2E3A"/>
                    </a:solidFill>
                  </a:tcPr>
                </a:tc>
                <a:tc>
                  <a:txBody>
                    <a:bodyPr/>
                    <a:lstStyle/>
                    <a:p>
                      <a:pPr indent="0" marL="0">
                        <a:buNone/>
                      </a:pPr>
                      <a:r>
                        <a:rPr lang="en-US" sz="1200" dirty="0">
                          <a:solidFill>
                            <a:srgbClr val="FFFFFF"/>
                          </a:solidFill>
                        </a:rPr>
                        <a:t>¿Qué días? ______  ¿Qué actividad? ______</a:t>
                      </a:r>
                      <a:endParaRPr lang="en-US" sz="1200" dirty="0"/>
                    </a:p>
                  </a:txBody>
                  <a:tcPr marL="54864" marR="54864" marT="54864" marB="54864" anchor="ctr">
                    <a:lnL w="12700" cap="flat" cmpd="sng" algn="ctr">
                      <a:solidFill>
                        <a:srgbClr val="0F4C5C"/>
                      </a:solidFill>
                      <a:prstDash val="solid"/>
                      <a:round/>
                      <a:headEnd type="none" w="med" len="med"/>
                      <a:tailEnd type="none" w="med" len="med"/>
                    </a:lnL>
                    <a:lnR w="12700" cap="flat" cmpd="sng" algn="ctr">
                      <a:solidFill>
                        <a:srgbClr val="0F4C5C"/>
                      </a:solidFill>
                      <a:prstDash val="solid"/>
                      <a:round/>
                      <a:headEnd type="none" w="med" len="med"/>
                      <a:tailEnd type="none" w="med" len="med"/>
                    </a:lnR>
                    <a:lnT w="12700" cap="flat" cmpd="sng" algn="ctr">
                      <a:solidFill>
                        <a:srgbClr val="0F4C5C"/>
                      </a:solidFill>
                      <a:prstDash val="solid"/>
                      <a:round/>
                      <a:headEnd type="none" w="med" len="med"/>
                      <a:tailEnd type="none" w="med" len="med"/>
                    </a:lnT>
                    <a:lnB w="12700" cap="flat" cmpd="sng" algn="ctr">
                      <a:solidFill>
                        <a:srgbClr val="0F4C5C"/>
                      </a:solidFill>
                      <a:prstDash val="solid"/>
                      <a:round/>
                      <a:headEnd type="none" w="med" len="med"/>
                      <a:tailEnd type="none" w="med" len="med"/>
                    </a:lnB>
                    <a:solidFill>
                      <a:srgbClr val="0B2E3A"/>
                    </a:solidFill>
                  </a:tcPr>
                </a:tc>
              </a:tr>
              <a:tr h="457200">
                <a:tc>
                  <a:txBody>
                    <a:bodyPr/>
                    <a:lstStyle/>
                    <a:p>
                      <a:pPr indent="0" marL="0">
                        <a:buNone/>
                      </a:pPr>
                      <a:r>
                        <a:rPr lang="en-US" sz="1200" dirty="0">
                          <a:solidFill>
                            <a:srgbClr val="FFFFFF"/>
                          </a:solidFill>
                        </a:rPr>
                        <a:t>Pantallas</a:t>
                      </a:r>
                      <a:endParaRPr lang="en-US" sz="1200" dirty="0"/>
                    </a:p>
                  </a:txBody>
                  <a:tcPr marL="54864" marR="54864" marT="54864" marB="54864" anchor="ctr">
                    <a:lnL w="12700" cap="flat" cmpd="sng" algn="ctr">
                      <a:solidFill>
                        <a:srgbClr val="0F4C5C"/>
                      </a:solidFill>
                      <a:prstDash val="solid"/>
                      <a:round/>
                      <a:headEnd type="none" w="med" len="med"/>
                      <a:tailEnd type="none" w="med" len="med"/>
                    </a:lnL>
                    <a:lnR w="12700" cap="flat" cmpd="sng" algn="ctr">
                      <a:solidFill>
                        <a:srgbClr val="0F4C5C"/>
                      </a:solidFill>
                      <a:prstDash val="solid"/>
                      <a:round/>
                      <a:headEnd type="none" w="med" len="med"/>
                      <a:tailEnd type="none" w="med" len="med"/>
                    </a:lnR>
                    <a:lnT w="12700" cap="flat" cmpd="sng" algn="ctr">
                      <a:solidFill>
                        <a:srgbClr val="0F4C5C"/>
                      </a:solidFill>
                      <a:prstDash val="solid"/>
                      <a:round/>
                      <a:headEnd type="none" w="med" len="med"/>
                      <a:tailEnd type="none" w="med" len="med"/>
                    </a:lnT>
                    <a:lnB w="12700" cap="flat" cmpd="sng" algn="ctr">
                      <a:solidFill>
                        <a:srgbClr val="0F4C5C"/>
                      </a:solidFill>
                      <a:prstDash val="solid"/>
                      <a:round/>
                      <a:headEnd type="none" w="med" len="med"/>
                      <a:tailEnd type="none" w="med" len="med"/>
                    </a:lnB>
                    <a:solidFill>
                      <a:srgbClr val="0B2E3A"/>
                    </a:solidFill>
                  </a:tcPr>
                </a:tc>
                <a:tc>
                  <a:txBody>
                    <a:bodyPr/>
                    <a:lstStyle/>
                    <a:p>
                      <a:pPr indent="0" marL="0">
                        <a:buNone/>
                      </a:pPr>
                      <a:r>
                        <a:rPr lang="en-US" sz="1200" dirty="0">
                          <a:solidFill>
                            <a:srgbClr val="FFFFFF"/>
                          </a:solidFill>
                        </a:rPr>
                        <a:t>Apagar 60 min antes de dormir; el móvil carga fuera de la habitación</a:t>
                      </a:r>
                      <a:endParaRPr lang="en-US" sz="1200" dirty="0"/>
                    </a:p>
                  </a:txBody>
                  <a:tcPr marL="54864" marR="54864" marT="54864" marB="54864" anchor="ctr">
                    <a:lnL w="12700" cap="flat" cmpd="sng" algn="ctr">
                      <a:solidFill>
                        <a:srgbClr val="0F4C5C"/>
                      </a:solidFill>
                      <a:prstDash val="solid"/>
                      <a:round/>
                      <a:headEnd type="none" w="med" len="med"/>
                      <a:tailEnd type="none" w="med" len="med"/>
                    </a:lnL>
                    <a:lnR w="12700" cap="flat" cmpd="sng" algn="ctr">
                      <a:solidFill>
                        <a:srgbClr val="0F4C5C"/>
                      </a:solidFill>
                      <a:prstDash val="solid"/>
                      <a:round/>
                      <a:headEnd type="none" w="med" len="med"/>
                      <a:tailEnd type="none" w="med" len="med"/>
                    </a:lnR>
                    <a:lnT w="12700" cap="flat" cmpd="sng" algn="ctr">
                      <a:solidFill>
                        <a:srgbClr val="0F4C5C"/>
                      </a:solidFill>
                      <a:prstDash val="solid"/>
                      <a:round/>
                      <a:headEnd type="none" w="med" len="med"/>
                      <a:tailEnd type="none" w="med" len="med"/>
                    </a:lnT>
                    <a:lnB w="12700" cap="flat" cmpd="sng" algn="ctr">
                      <a:solidFill>
                        <a:srgbClr val="0F4C5C"/>
                      </a:solidFill>
                      <a:prstDash val="solid"/>
                      <a:round/>
                      <a:headEnd type="none" w="med" len="med"/>
                      <a:tailEnd type="none" w="med" len="med"/>
                    </a:lnB>
                    <a:solidFill>
                      <a:srgbClr val="0B2E3A"/>
                    </a:solidFill>
                  </a:tcPr>
                </a:tc>
                <a:tc>
                  <a:txBody>
                    <a:bodyPr/>
                    <a:lstStyle/>
                    <a:p>
                      <a:pPr indent="0" marL="0">
                        <a:buNone/>
                      </a:pPr>
                      <a:r>
                        <a:rPr lang="en-US" sz="1200" dirty="0">
                          <a:solidFill>
                            <a:srgbClr val="FFFFFF"/>
                          </a:solidFill>
                        </a:rPr>
                        <a:t>Mi hora límite: ____:____   Dónde duerme el móvil: ______</a:t>
                      </a:r>
                      <a:endParaRPr lang="en-US" sz="1200" dirty="0"/>
                    </a:p>
                  </a:txBody>
                  <a:tcPr marL="54864" marR="54864" marT="54864" marB="54864" anchor="ctr">
                    <a:lnL w="12700" cap="flat" cmpd="sng" algn="ctr">
                      <a:solidFill>
                        <a:srgbClr val="0F4C5C"/>
                      </a:solidFill>
                      <a:prstDash val="solid"/>
                      <a:round/>
                      <a:headEnd type="none" w="med" len="med"/>
                      <a:tailEnd type="none" w="med" len="med"/>
                    </a:lnL>
                    <a:lnR w="12700" cap="flat" cmpd="sng" algn="ctr">
                      <a:solidFill>
                        <a:srgbClr val="0F4C5C"/>
                      </a:solidFill>
                      <a:prstDash val="solid"/>
                      <a:round/>
                      <a:headEnd type="none" w="med" len="med"/>
                      <a:tailEnd type="none" w="med" len="med"/>
                    </a:lnR>
                    <a:lnT w="12700" cap="flat" cmpd="sng" algn="ctr">
                      <a:solidFill>
                        <a:srgbClr val="0F4C5C"/>
                      </a:solidFill>
                      <a:prstDash val="solid"/>
                      <a:round/>
                      <a:headEnd type="none" w="med" len="med"/>
                      <a:tailEnd type="none" w="med" len="med"/>
                    </a:lnT>
                    <a:lnB w="12700" cap="flat" cmpd="sng" algn="ctr">
                      <a:solidFill>
                        <a:srgbClr val="0F4C5C"/>
                      </a:solidFill>
                      <a:prstDash val="solid"/>
                      <a:round/>
                      <a:headEnd type="none" w="med" len="med"/>
                      <a:tailEnd type="none" w="med" len="med"/>
                    </a:lnB>
                    <a:solidFill>
                      <a:srgbClr val="0B2E3A"/>
                    </a:solidFill>
                  </a:tcPr>
                </a:tc>
              </a:tr>
              <a:tr h="457200">
                <a:tc>
                  <a:txBody>
                    <a:bodyPr/>
                    <a:lstStyle/>
                    <a:p>
                      <a:pPr indent="0" marL="0">
                        <a:buNone/>
                      </a:pPr>
                      <a:r>
                        <a:rPr lang="en-US" sz="1200" dirty="0">
                          <a:solidFill>
                            <a:srgbClr val="FFFFFF"/>
                          </a:solidFill>
                        </a:rPr>
                        <a:t>Sueño</a:t>
                      </a:r>
                      <a:endParaRPr lang="en-US" sz="1200" dirty="0"/>
                    </a:p>
                  </a:txBody>
                  <a:tcPr marL="54864" marR="54864" marT="54864" marB="54864" anchor="ctr">
                    <a:lnL w="12700" cap="flat" cmpd="sng" algn="ctr">
                      <a:solidFill>
                        <a:srgbClr val="0F4C5C"/>
                      </a:solidFill>
                      <a:prstDash val="solid"/>
                      <a:round/>
                      <a:headEnd type="none" w="med" len="med"/>
                      <a:tailEnd type="none" w="med" len="med"/>
                    </a:lnL>
                    <a:lnR w="12700" cap="flat" cmpd="sng" algn="ctr">
                      <a:solidFill>
                        <a:srgbClr val="0F4C5C"/>
                      </a:solidFill>
                      <a:prstDash val="solid"/>
                      <a:round/>
                      <a:headEnd type="none" w="med" len="med"/>
                      <a:tailEnd type="none" w="med" len="med"/>
                    </a:lnR>
                    <a:lnT w="12700" cap="flat" cmpd="sng" algn="ctr">
                      <a:solidFill>
                        <a:srgbClr val="0F4C5C"/>
                      </a:solidFill>
                      <a:prstDash val="solid"/>
                      <a:round/>
                      <a:headEnd type="none" w="med" len="med"/>
                      <a:tailEnd type="none" w="med" len="med"/>
                    </a:lnT>
                    <a:lnB w="12700" cap="flat" cmpd="sng" algn="ctr">
                      <a:solidFill>
                        <a:srgbClr val="0F4C5C"/>
                      </a:solidFill>
                      <a:prstDash val="solid"/>
                      <a:round/>
                      <a:headEnd type="none" w="med" len="med"/>
                      <a:tailEnd type="none" w="med" len="med"/>
                    </a:lnB>
                    <a:solidFill>
                      <a:srgbClr val="0B2E3A"/>
                    </a:solidFill>
                  </a:tcPr>
                </a:tc>
                <a:tc>
                  <a:txBody>
                    <a:bodyPr/>
                    <a:lstStyle/>
                    <a:p>
                      <a:pPr indent="0" marL="0">
                        <a:buNone/>
                      </a:pPr>
                      <a:r>
                        <a:rPr lang="en-US" sz="1200" dirty="0">
                          <a:solidFill>
                            <a:srgbClr val="FFFFFF"/>
                          </a:solidFill>
                        </a:rPr>
                        <a:t>8-10 h; misma hora de levantarse (± 1 h el finde)</a:t>
                      </a:r>
                      <a:endParaRPr lang="en-US" sz="1200" dirty="0"/>
                    </a:p>
                  </a:txBody>
                  <a:tcPr marL="54864" marR="54864" marT="54864" marB="54864" anchor="ctr">
                    <a:lnL w="12700" cap="flat" cmpd="sng" algn="ctr">
                      <a:solidFill>
                        <a:srgbClr val="0F4C5C"/>
                      </a:solidFill>
                      <a:prstDash val="solid"/>
                      <a:round/>
                      <a:headEnd type="none" w="med" len="med"/>
                      <a:tailEnd type="none" w="med" len="med"/>
                    </a:lnL>
                    <a:lnR w="12700" cap="flat" cmpd="sng" algn="ctr">
                      <a:solidFill>
                        <a:srgbClr val="0F4C5C"/>
                      </a:solidFill>
                      <a:prstDash val="solid"/>
                      <a:round/>
                      <a:headEnd type="none" w="med" len="med"/>
                      <a:tailEnd type="none" w="med" len="med"/>
                    </a:lnR>
                    <a:lnT w="12700" cap="flat" cmpd="sng" algn="ctr">
                      <a:solidFill>
                        <a:srgbClr val="0F4C5C"/>
                      </a:solidFill>
                      <a:prstDash val="solid"/>
                      <a:round/>
                      <a:headEnd type="none" w="med" len="med"/>
                      <a:tailEnd type="none" w="med" len="med"/>
                    </a:lnT>
                    <a:lnB w="12700" cap="flat" cmpd="sng" algn="ctr">
                      <a:solidFill>
                        <a:srgbClr val="0F4C5C"/>
                      </a:solidFill>
                      <a:prstDash val="solid"/>
                      <a:round/>
                      <a:headEnd type="none" w="med" len="med"/>
                      <a:tailEnd type="none" w="med" len="med"/>
                    </a:lnB>
                    <a:solidFill>
                      <a:srgbClr val="0B2E3A"/>
                    </a:solidFill>
                  </a:tcPr>
                </a:tc>
                <a:tc>
                  <a:txBody>
                    <a:bodyPr/>
                    <a:lstStyle/>
                    <a:p>
                      <a:pPr indent="0" marL="0">
                        <a:buNone/>
                      </a:pPr>
                      <a:r>
                        <a:rPr lang="en-US" sz="1200" dirty="0">
                          <a:solidFill>
                            <a:srgbClr val="FFFFFF"/>
                          </a:solidFill>
                        </a:rPr>
                        <a:t>Luces fuera: ____   Me levanto: ____</a:t>
                      </a:r>
                      <a:endParaRPr lang="en-US" sz="1200" dirty="0"/>
                    </a:p>
                  </a:txBody>
                  <a:tcPr marL="54864" marR="54864" marT="54864" marB="54864" anchor="ctr">
                    <a:lnL w="12700" cap="flat" cmpd="sng" algn="ctr">
                      <a:solidFill>
                        <a:srgbClr val="0F4C5C"/>
                      </a:solidFill>
                      <a:prstDash val="solid"/>
                      <a:round/>
                      <a:headEnd type="none" w="med" len="med"/>
                      <a:tailEnd type="none" w="med" len="med"/>
                    </a:lnL>
                    <a:lnR w="12700" cap="flat" cmpd="sng" algn="ctr">
                      <a:solidFill>
                        <a:srgbClr val="0F4C5C"/>
                      </a:solidFill>
                      <a:prstDash val="solid"/>
                      <a:round/>
                      <a:headEnd type="none" w="med" len="med"/>
                      <a:tailEnd type="none" w="med" len="med"/>
                    </a:lnR>
                    <a:lnT w="12700" cap="flat" cmpd="sng" algn="ctr">
                      <a:solidFill>
                        <a:srgbClr val="0F4C5C"/>
                      </a:solidFill>
                      <a:prstDash val="solid"/>
                      <a:round/>
                      <a:headEnd type="none" w="med" len="med"/>
                      <a:tailEnd type="none" w="med" len="med"/>
                    </a:lnT>
                    <a:lnB w="12700" cap="flat" cmpd="sng" algn="ctr">
                      <a:solidFill>
                        <a:srgbClr val="0F4C5C"/>
                      </a:solidFill>
                      <a:prstDash val="solid"/>
                      <a:round/>
                      <a:headEnd type="none" w="med" len="med"/>
                      <a:tailEnd type="none" w="med" len="med"/>
                    </a:lnB>
                    <a:solidFill>
                      <a:srgbClr val="0B2E3A"/>
                    </a:solidFill>
                  </a:tcPr>
                </a:tc>
              </a:tr>
              <a:tr h="457200">
                <a:tc>
                  <a:txBody>
                    <a:bodyPr/>
                    <a:lstStyle/>
                    <a:p>
                      <a:pPr indent="0" marL="0">
                        <a:buNone/>
                      </a:pPr>
                      <a:r>
                        <a:rPr lang="en-US" sz="1200" dirty="0">
                          <a:solidFill>
                            <a:srgbClr val="FFFFFF"/>
                          </a:solidFill>
                        </a:rPr>
                        <a:t>Comida</a:t>
                      </a:r>
                      <a:endParaRPr lang="en-US" sz="1200" dirty="0"/>
                    </a:p>
                  </a:txBody>
                  <a:tcPr marL="54864" marR="54864" marT="54864" marB="54864" anchor="ctr">
                    <a:lnL w="12700" cap="flat" cmpd="sng" algn="ctr">
                      <a:solidFill>
                        <a:srgbClr val="0F4C5C"/>
                      </a:solidFill>
                      <a:prstDash val="solid"/>
                      <a:round/>
                      <a:headEnd type="none" w="med" len="med"/>
                      <a:tailEnd type="none" w="med" len="med"/>
                    </a:lnL>
                    <a:lnR w="12700" cap="flat" cmpd="sng" algn="ctr">
                      <a:solidFill>
                        <a:srgbClr val="0F4C5C"/>
                      </a:solidFill>
                      <a:prstDash val="solid"/>
                      <a:round/>
                      <a:headEnd type="none" w="med" len="med"/>
                      <a:tailEnd type="none" w="med" len="med"/>
                    </a:lnR>
                    <a:lnT w="12700" cap="flat" cmpd="sng" algn="ctr">
                      <a:solidFill>
                        <a:srgbClr val="0F4C5C"/>
                      </a:solidFill>
                      <a:prstDash val="solid"/>
                      <a:round/>
                      <a:headEnd type="none" w="med" len="med"/>
                      <a:tailEnd type="none" w="med" len="med"/>
                    </a:lnT>
                    <a:lnB w="12700" cap="flat" cmpd="sng" algn="ctr">
                      <a:solidFill>
                        <a:srgbClr val="0F4C5C"/>
                      </a:solidFill>
                      <a:prstDash val="solid"/>
                      <a:round/>
                      <a:headEnd type="none" w="med" len="med"/>
                      <a:tailEnd type="none" w="med" len="med"/>
                    </a:lnB>
                    <a:solidFill>
                      <a:srgbClr val="0B2E3A"/>
                    </a:solidFill>
                  </a:tcPr>
                </a:tc>
                <a:tc>
                  <a:txBody>
                    <a:bodyPr/>
                    <a:lstStyle/>
                    <a:p>
                      <a:pPr indent="0" marL="0">
                        <a:buNone/>
                      </a:pPr>
                      <a:r>
                        <a:rPr lang="en-US" sz="1200" dirty="0">
                          <a:solidFill>
                            <a:srgbClr val="FFFFFF"/>
                          </a:solidFill>
                        </a:rPr>
                        <a:t>Agua en vez de bebidas azucaradas; desayuno; una verdura más</a:t>
                      </a:r>
                      <a:endParaRPr lang="en-US" sz="1200" dirty="0"/>
                    </a:p>
                  </a:txBody>
                  <a:tcPr marL="54864" marR="54864" marT="54864" marB="54864" anchor="ctr">
                    <a:lnL w="12700" cap="flat" cmpd="sng" algn="ctr">
                      <a:solidFill>
                        <a:srgbClr val="0F4C5C"/>
                      </a:solidFill>
                      <a:prstDash val="solid"/>
                      <a:round/>
                      <a:headEnd type="none" w="med" len="med"/>
                      <a:tailEnd type="none" w="med" len="med"/>
                    </a:lnL>
                    <a:lnR w="12700" cap="flat" cmpd="sng" algn="ctr">
                      <a:solidFill>
                        <a:srgbClr val="0F4C5C"/>
                      </a:solidFill>
                      <a:prstDash val="solid"/>
                      <a:round/>
                      <a:headEnd type="none" w="med" len="med"/>
                      <a:tailEnd type="none" w="med" len="med"/>
                    </a:lnR>
                    <a:lnT w="12700" cap="flat" cmpd="sng" algn="ctr">
                      <a:solidFill>
                        <a:srgbClr val="0F4C5C"/>
                      </a:solidFill>
                      <a:prstDash val="solid"/>
                      <a:round/>
                      <a:headEnd type="none" w="med" len="med"/>
                      <a:tailEnd type="none" w="med" len="med"/>
                    </a:lnT>
                    <a:lnB w="12700" cap="flat" cmpd="sng" algn="ctr">
                      <a:solidFill>
                        <a:srgbClr val="0F4C5C"/>
                      </a:solidFill>
                      <a:prstDash val="solid"/>
                      <a:round/>
                      <a:headEnd type="none" w="med" len="med"/>
                      <a:tailEnd type="none" w="med" len="med"/>
                    </a:lnB>
                    <a:solidFill>
                      <a:srgbClr val="0B2E3A"/>
                    </a:solidFill>
                  </a:tcPr>
                </a:tc>
                <a:tc>
                  <a:txBody>
                    <a:bodyPr/>
                    <a:lstStyle/>
                    <a:p>
                      <a:pPr indent="0" marL="0">
                        <a:buNone/>
                      </a:pPr>
                      <a:r>
                        <a:rPr lang="en-US" sz="1200" dirty="0">
                          <a:solidFill>
                            <a:srgbClr val="FFFFFF"/>
                          </a:solidFill>
                        </a:rPr>
                        <a:t>Mi único cambio: ____________________</a:t>
                      </a:r>
                      <a:endParaRPr lang="en-US" sz="1200" dirty="0"/>
                    </a:p>
                  </a:txBody>
                  <a:tcPr marL="54864" marR="54864" marT="54864" marB="54864" anchor="ctr">
                    <a:lnL w="12700" cap="flat" cmpd="sng" algn="ctr">
                      <a:solidFill>
                        <a:srgbClr val="0F4C5C"/>
                      </a:solidFill>
                      <a:prstDash val="solid"/>
                      <a:round/>
                      <a:headEnd type="none" w="med" len="med"/>
                      <a:tailEnd type="none" w="med" len="med"/>
                    </a:lnL>
                    <a:lnR w="12700" cap="flat" cmpd="sng" algn="ctr">
                      <a:solidFill>
                        <a:srgbClr val="0F4C5C"/>
                      </a:solidFill>
                      <a:prstDash val="solid"/>
                      <a:round/>
                      <a:headEnd type="none" w="med" len="med"/>
                      <a:tailEnd type="none" w="med" len="med"/>
                    </a:lnR>
                    <a:lnT w="12700" cap="flat" cmpd="sng" algn="ctr">
                      <a:solidFill>
                        <a:srgbClr val="0F4C5C"/>
                      </a:solidFill>
                      <a:prstDash val="solid"/>
                      <a:round/>
                      <a:headEnd type="none" w="med" len="med"/>
                      <a:tailEnd type="none" w="med" len="med"/>
                    </a:lnT>
                    <a:lnB w="12700" cap="flat" cmpd="sng" algn="ctr">
                      <a:solidFill>
                        <a:srgbClr val="0F4C5C"/>
                      </a:solidFill>
                      <a:prstDash val="solid"/>
                      <a:round/>
                      <a:headEnd type="none" w="med" len="med"/>
                      <a:tailEnd type="none" w="med" len="med"/>
                    </a:lnB>
                    <a:solidFill>
                      <a:srgbClr val="0B2E3A"/>
                    </a:solidFill>
                  </a:tcPr>
                </a:tc>
              </a:tr>
            </a:tbl>
          </a:graphicData>
        </a:graphic>
      </p:graphicFrame>
      <p:sp>
        <p:nvSpPr>
          <p:cNvPr id="4" name="caption"/>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chemeClr val="accent5"/>
                </a:solidFill>
              </a:rPr>
              <a:t>Regla: un plan que puedas cumplir en una semana mala. Pequeño y seguro gana a grande e imaginario.</a:t>
            </a:r>
            <a:endParaRPr lang="en-US" sz="13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8C2"/>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rgbClr val="0B2E3A"/>
                </a:solidFill>
              </a:rPr>
              <a:t>Quiz relámpago: dedos arriba</a:t>
            </a:r>
            <a:endParaRPr lang="en-US" sz="2800" dirty="0"/>
          </a:p>
        </p:txBody>
      </p:sp>
      <p:sp>
        <p:nvSpPr>
          <p:cNvPr id="3" name="quiz row"/>
          <p:cNvSpPr/>
          <p:nvPr/>
        </p:nvSpPr>
        <p:spPr>
          <a:xfrm>
            <a:off x="457200" y="1188720"/>
            <a:ext cx="8229600" cy="566928"/>
          </a:xfrm>
          <a:prstGeom prst="roundRect">
            <a:avLst>
              <a:gd name="adj" fmla="val 16129"/>
            </a:avLst>
          </a:prstGeom>
          <a:solidFill>
            <a:schemeClr val="bg2"/>
          </a:solidFill>
          <a:ln w="12700">
            <a:solidFill>
              <a:schemeClr val="bg2"/>
            </a:solidFill>
            <a:prstDash val="solid"/>
          </a:ln>
        </p:spPr>
      </p:sp>
      <p:sp>
        <p:nvSpPr>
          <p:cNvPr id="4" name="quiz text"/>
          <p:cNvSpPr txBox="1"/>
          <p:nvPr/>
        </p:nvSpPr>
        <p:spPr>
          <a:xfrm>
            <a:off x="640080" y="1188720"/>
            <a:ext cx="7315200" cy="566928"/>
          </a:xfrm>
          <a:prstGeom prst="rect">
            <a:avLst/>
          </a:prstGeom>
          <a:noFill/>
          <a:ln/>
        </p:spPr>
        <p:txBody>
          <a:bodyPr wrap="square" lIns="0" tIns="0" rIns="0" bIns="0" rtlCol="0" anchor="ctr"/>
          <a:lstStyle/>
          <a:p>
            <a:pPr indent="0" marL="0">
              <a:buNone/>
            </a:pPr>
            <a:r>
              <a:rPr lang="en-US" sz="1300" b="1" dirty="0">
                <a:solidFill>
                  <a:schemeClr val="tx1"/>
                </a:solidFill>
              </a:rPr>
              <a:t>1. ¿Cuántos minutos al día recomienda la OMS?  </a:t>
            </a:r>
            <a:pPr indent="0" marL="0">
              <a:buNone/>
            </a:pPr>
            <a:r>
              <a:rPr lang="en-US" sz="1300" dirty="0">
                <a:solidFill>
                  <a:schemeClr val="tx2"/>
                </a:solidFill>
              </a:rPr>
              <a:t>A) 20   B) 30   C) 60   D) 90</a:t>
            </a:r>
            <a:endParaRPr lang="en-US" sz="1300" dirty="0"/>
          </a:p>
        </p:txBody>
      </p:sp>
      <p:sp>
        <p:nvSpPr>
          <p:cNvPr id="5" name="quiz answer"/>
          <p:cNvSpPr txBox="1"/>
          <p:nvPr/>
        </p:nvSpPr>
        <p:spPr>
          <a:xfrm>
            <a:off x="8001000" y="1261872"/>
            <a:ext cx="548640" cy="420624"/>
          </a:xfrm>
          <a:prstGeom prst="rect">
            <a:avLst/>
          </a:prstGeom>
          <a:solidFill>
            <a:schemeClr val="accent2"/>
          </a:solid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6" name="quiz row"/>
          <p:cNvSpPr/>
          <p:nvPr/>
        </p:nvSpPr>
        <p:spPr>
          <a:xfrm>
            <a:off x="457200" y="1847088"/>
            <a:ext cx="8229600" cy="566928"/>
          </a:xfrm>
          <a:prstGeom prst="roundRect">
            <a:avLst>
              <a:gd name="adj" fmla="val 16129"/>
            </a:avLst>
          </a:prstGeom>
          <a:solidFill>
            <a:schemeClr val="bg2"/>
          </a:solidFill>
          <a:ln w="12700">
            <a:solidFill>
              <a:schemeClr val="bg2"/>
            </a:solidFill>
            <a:prstDash val="solid"/>
          </a:ln>
        </p:spPr>
      </p:sp>
      <p:sp>
        <p:nvSpPr>
          <p:cNvPr id="7" name="quiz text"/>
          <p:cNvSpPr txBox="1"/>
          <p:nvPr/>
        </p:nvSpPr>
        <p:spPr>
          <a:xfrm>
            <a:off x="640080" y="1847088"/>
            <a:ext cx="7315200" cy="566928"/>
          </a:xfrm>
          <a:prstGeom prst="rect">
            <a:avLst/>
          </a:prstGeom>
          <a:noFill/>
          <a:ln/>
        </p:spPr>
        <p:txBody>
          <a:bodyPr wrap="square" lIns="0" tIns="0" rIns="0" bIns="0" rtlCol="0" anchor="ctr"/>
          <a:lstStyle/>
          <a:p>
            <a:pPr indent="0" marL="0">
              <a:buNone/>
            </a:pPr>
            <a:r>
              <a:rPr lang="en-US" sz="1300" b="1" dirty="0">
                <a:solidFill>
                  <a:schemeClr val="tx1"/>
                </a:solidFill>
              </a:rPr>
              <a:t>2. ¿Cuántos días a la semana hay que cargar músculos y huesos?  </a:t>
            </a:r>
            <a:pPr indent="0" marL="0">
              <a:buNone/>
            </a:pPr>
            <a:r>
              <a:rPr lang="en-US" sz="1300" dirty="0">
                <a:solidFill>
                  <a:schemeClr val="tx2"/>
                </a:solidFill>
              </a:rPr>
              <a:t>A) 1   B) 3   C) 5   D) 7</a:t>
            </a:r>
            <a:endParaRPr lang="en-US" sz="1300" dirty="0"/>
          </a:p>
        </p:txBody>
      </p:sp>
      <p:sp>
        <p:nvSpPr>
          <p:cNvPr id="8" name="quiz answer"/>
          <p:cNvSpPr txBox="1"/>
          <p:nvPr/>
        </p:nvSpPr>
        <p:spPr>
          <a:xfrm>
            <a:off x="8001000" y="1920240"/>
            <a:ext cx="548640" cy="420624"/>
          </a:xfrm>
          <a:prstGeom prst="rect">
            <a:avLst/>
          </a:prstGeom>
          <a:solidFill>
            <a:schemeClr val="accent2"/>
          </a:solid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9" name="quiz row"/>
          <p:cNvSpPr/>
          <p:nvPr/>
        </p:nvSpPr>
        <p:spPr>
          <a:xfrm>
            <a:off x="457200" y="2505456"/>
            <a:ext cx="8229600" cy="566928"/>
          </a:xfrm>
          <a:prstGeom prst="roundRect">
            <a:avLst>
              <a:gd name="adj" fmla="val 16129"/>
            </a:avLst>
          </a:prstGeom>
          <a:solidFill>
            <a:schemeClr val="bg2"/>
          </a:solidFill>
          <a:ln w="12700">
            <a:solidFill>
              <a:schemeClr val="bg2"/>
            </a:solidFill>
            <a:prstDash val="solid"/>
          </a:ln>
        </p:spPr>
      </p:sp>
      <p:sp>
        <p:nvSpPr>
          <p:cNvPr id="10" name="quiz text"/>
          <p:cNvSpPr txBox="1"/>
          <p:nvPr/>
        </p:nvSpPr>
        <p:spPr>
          <a:xfrm>
            <a:off x="640080" y="2505456"/>
            <a:ext cx="7315200" cy="566928"/>
          </a:xfrm>
          <a:prstGeom prst="rect">
            <a:avLst/>
          </a:prstGeom>
          <a:noFill/>
          <a:ln/>
        </p:spPr>
        <p:txBody>
          <a:bodyPr wrap="square" lIns="0" tIns="0" rIns="0" bIns="0" rtlCol="0" anchor="ctr"/>
          <a:lstStyle/>
          <a:p>
            <a:pPr indent="0" marL="0">
              <a:buNone/>
            </a:pPr>
            <a:r>
              <a:rPr lang="en-US" sz="1300" b="1" dirty="0">
                <a:solidFill>
                  <a:schemeClr val="tx1"/>
                </a:solidFill>
              </a:rPr>
              <a:t>3. ¿Horas de sueño recomendadas a tu edad?  </a:t>
            </a:r>
            <a:pPr indent="0" marL="0">
              <a:buNone/>
            </a:pPr>
            <a:r>
              <a:rPr lang="en-US" sz="1300" dirty="0">
                <a:solidFill>
                  <a:schemeClr val="tx2"/>
                </a:solidFill>
              </a:rPr>
              <a:t>A) 6-7   B) 7-8   C) 8-10   D) 10-12</a:t>
            </a:r>
            <a:endParaRPr lang="en-US" sz="1300" dirty="0"/>
          </a:p>
        </p:txBody>
      </p:sp>
      <p:sp>
        <p:nvSpPr>
          <p:cNvPr id="11" name="quiz answer"/>
          <p:cNvSpPr txBox="1"/>
          <p:nvPr/>
        </p:nvSpPr>
        <p:spPr>
          <a:xfrm>
            <a:off x="8001000" y="2578608"/>
            <a:ext cx="548640" cy="420624"/>
          </a:xfrm>
          <a:prstGeom prst="rect">
            <a:avLst/>
          </a:prstGeom>
          <a:solidFill>
            <a:schemeClr val="accent2"/>
          </a:solid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2" name="quiz row"/>
          <p:cNvSpPr/>
          <p:nvPr/>
        </p:nvSpPr>
        <p:spPr>
          <a:xfrm>
            <a:off x="457200" y="3163824"/>
            <a:ext cx="8229600" cy="566928"/>
          </a:xfrm>
          <a:prstGeom prst="roundRect">
            <a:avLst>
              <a:gd name="adj" fmla="val 16129"/>
            </a:avLst>
          </a:prstGeom>
          <a:solidFill>
            <a:schemeClr val="bg2"/>
          </a:solidFill>
          <a:ln w="12700">
            <a:solidFill>
              <a:schemeClr val="bg2"/>
            </a:solidFill>
            <a:prstDash val="solid"/>
          </a:ln>
        </p:spPr>
      </p:sp>
      <p:sp>
        <p:nvSpPr>
          <p:cNvPr id="13" name="quiz text"/>
          <p:cNvSpPr txBox="1"/>
          <p:nvPr/>
        </p:nvSpPr>
        <p:spPr>
          <a:xfrm>
            <a:off x="640080" y="3163824"/>
            <a:ext cx="7315200" cy="566928"/>
          </a:xfrm>
          <a:prstGeom prst="rect">
            <a:avLst/>
          </a:prstGeom>
          <a:noFill/>
          <a:ln/>
        </p:spPr>
        <p:txBody>
          <a:bodyPr wrap="square" lIns="0" tIns="0" rIns="0" bIns="0" rtlCol="0" anchor="ctr"/>
          <a:lstStyle/>
          <a:p>
            <a:pPr indent="0" marL="0">
              <a:buNone/>
            </a:pPr>
            <a:r>
              <a:rPr lang="en-US" sz="1300" b="1" dirty="0">
                <a:solidFill>
                  <a:schemeClr val="tx1"/>
                </a:solidFill>
              </a:rPr>
              <a:t>4. ¿Porcentaje de estudiantes españoles que no llegan a la hora?  </a:t>
            </a:r>
            <a:pPr indent="0" marL="0">
              <a:buNone/>
            </a:pPr>
            <a:r>
              <a:rPr lang="en-US" sz="1300" dirty="0">
                <a:solidFill>
                  <a:schemeClr val="tx2"/>
                </a:solidFill>
              </a:rPr>
              <a:t>A) 30   B) 50   C) 70   D) 90</a:t>
            </a:r>
            <a:endParaRPr lang="en-US" sz="1300" dirty="0"/>
          </a:p>
        </p:txBody>
      </p:sp>
      <p:sp>
        <p:nvSpPr>
          <p:cNvPr id="14" name="quiz answer"/>
          <p:cNvSpPr txBox="1"/>
          <p:nvPr/>
        </p:nvSpPr>
        <p:spPr>
          <a:xfrm>
            <a:off x="8001000" y="3236976"/>
            <a:ext cx="548640" cy="420624"/>
          </a:xfrm>
          <a:prstGeom prst="rect">
            <a:avLst/>
          </a:prstGeom>
          <a:solidFill>
            <a:schemeClr val="accent2"/>
          </a:solid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5" name="quiz row"/>
          <p:cNvSpPr/>
          <p:nvPr/>
        </p:nvSpPr>
        <p:spPr>
          <a:xfrm>
            <a:off x="457200" y="3822192"/>
            <a:ext cx="8229600" cy="566928"/>
          </a:xfrm>
          <a:prstGeom prst="roundRect">
            <a:avLst>
              <a:gd name="adj" fmla="val 16129"/>
            </a:avLst>
          </a:prstGeom>
          <a:solidFill>
            <a:schemeClr val="bg2"/>
          </a:solidFill>
          <a:ln w="12700">
            <a:solidFill>
              <a:schemeClr val="bg2"/>
            </a:solidFill>
            <a:prstDash val="solid"/>
          </a:ln>
        </p:spPr>
      </p:sp>
      <p:sp>
        <p:nvSpPr>
          <p:cNvPr id="16" name="quiz text"/>
          <p:cNvSpPr txBox="1"/>
          <p:nvPr/>
        </p:nvSpPr>
        <p:spPr>
          <a:xfrm>
            <a:off x="640080" y="3822192"/>
            <a:ext cx="7315200" cy="566928"/>
          </a:xfrm>
          <a:prstGeom prst="rect">
            <a:avLst/>
          </a:prstGeom>
          <a:noFill/>
          <a:ln/>
        </p:spPr>
        <p:txBody>
          <a:bodyPr wrap="square" lIns="0" tIns="0" rIns="0" bIns="0" rtlCol="0" anchor="ctr"/>
          <a:lstStyle/>
          <a:p>
            <a:pPr indent="0" marL="0">
              <a:buNone/>
            </a:pPr>
            <a:r>
              <a:rPr lang="en-US" sz="1300" b="1" dirty="0">
                <a:solidFill>
                  <a:schemeClr val="tx1"/>
                </a:solidFill>
              </a:rPr>
              <a:t>5. ¿Qué hormona sube cuando duermes poco y te da más hambre?  </a:t>
            </a:r>
            <a:pPr indent="0" marL="0">
              <a:buNone/>
            </a:pPr>
            <a:r>
              <a:rPr lang="en-US" sz="1300" dirty="0">
                <a:solidFill>
                  <a:schemeClr val="tx2"/>
                </a:solidFill>
              </a:rPr>
              <a:t>A) Leptina   B) Grelina   C) Insulina   D) Melatonina</a:t>
            </a:r>
            <a:endParaRPr lang="en-US" sz="1300" dirty="0"/>
          </a:p>
        </p:txBody>
      </p:sp>
      <p:sp>
        <p:nvSpPr>
          <p:cNvPr id="17" name="quiz answer"/>
          <p:cNvSpPr txBox="1"/>
          <p:nvPr/>
        </p:nvSpPr>
        <p:spPr>
          <a:xfrm>
            <a:off x="8001000" y="3895344"/>
            <a:ext cx="548640" cy="420624"/>
          </a:xfrm>
          <a:prstGeom prst="rect">
            <a:avLst/>
          </a:prstGeom>
          <a:solidFill>
            <a:schemeClr val="accent2"/>
          </a:solid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7C8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accent1"/>
                </a:solidFill>
              </a:rPr>
              <a:t>Nuestros datos. Una cosa, esta semana</a:t>
            </a:r>
            <a:endParaRPr lang="en-US" sz="3000" dirty="0"/>
          </a:p>
        </p:txBody>
      </p:sp>
      <p:sp>
        <p:nvSpPr>
          <p:cNvPr id="3" name="close text"/>
          <p:cNvSpPr txBox="1"/>
          <p:nvPr/>
        </p:nvSpPr>
        <p:spPr>
          <a:xfrm>
            <a:off x="457200" y="1188720"/>
            <a:ext cx="5394960" cy="2560320"/>
          </a:xfrm>
          <a:prstGeom prst="rect">
            <a:avLst/>
          </a:prstGeom>
          <a:noFill/>
          <a:ln/>
        </p:spPr>
        <p:txBody>
          <a:bodyPr wrap="square" lIns="0" tIns="0" rIns="0" bIns="0" rtlCol="0" anchor="t"/>
          <a:lstStyle/>
          <a:p>
            <a:pPr indent="0" marL="0">
              <a:spcAft>
                <a:spcPts val="800"/>
              </a:spcAft>
              <a:buNone/>
            </a:pPr>
            <a:r>
              <a:rPr lang="en-US" sz="1400" dirty="0">
                <a:solidFill>
                  <a:schemeClr val="bg1"/>
                </a:solidFill>
              </a:rPr>
              <a:t>Al empezar contamos manos: 60 min de movimiento, 8 h de sueño, 3+ horas de pantalla, desayuno.</a:t>
            </a:r>
            <a:endParaRPr lang="en-US" sz="1400" dirty="0"/>
          </a:p>
          <a:p>
            <a:pPr indent="0" marL="0">
              <a:spcAft>
                <a:spcPts val="800"/>
              </a:spcAft>
              <a:buNone/>
            </a:pPr>
            <a:r>
              <a:rPr lang="en-US" sz="1400" dirty="0">
                <a:solidFill>
                  <a:schemeClr val="bg1"/>
                </a:solidFill>
              </a:rPr>
              <a:t>Si cada uno cambia UNA de esas cuatro cosas esta semana, ¿cómo serían nuestros números dentro de un mes?</a:t>
            </a:r>
            <a:endParaRPr lang="en-US" sz="1400" dirty="0"/>
          </a:p>
          <a:p>
            <a:pPr indent="0" marL="0">
              <a:buNone/>
            </a:pPr>
            <a:r>
              <a:rPr lang="en-US" sz="1400" dirty="0">
                <a:solidFill>
                  <a:schemeClr val="bg1"/>
                </a:solidFill>
              </a:rPr>
              <a:t>Escribe tu única cosa en la tarjeta. Concreta: qué, cuándo, dónde. No "hacer más ejercicio". "Ir andando al instituto de lunes a jueves, salir a las 7:50."</a:t>
            </a:r>
            <a:endParaRPr lang="en-US" sz="1400" dirty="0"/>
          </a:p>
        </p:txBody>
      </p:sp>
      <p:sp>
        <p:nvSpPr>
          <p:cNvPr id="4" name="pledge card"/>
          <p:cNvSpPr/>
          <p:nvPr/>
        </p:nvSpPr>
        <p:spPr>
          <a:xfrm>
            <a:off x="6126480" y="1234440"/>
            <a:ext cx="2560320" cy="2377440"/>
          </a:xfrm>
          <a:prstGeom prst="roundRect">
            <a:avLst>
              <a:gd name="adj" fmla="val 4615"/>
            </a:avLst>
          </a:prstGeom>
          <a:solidFill>
            <a:schemeClr val="accent1"/>
          </a:solidFill>
          <a:ln w="12700">
            <a:solidFill>
              <a:schemeClr val="accent1"/>
            </a:solidFill>
            <a:prstDash val="solid"/>
          </a:ln>
        </p:spPr>
      </p:sp>
      <p:sp>
        <p:nvSpPr>
          <p:cNvPr id="5" name="pledge text"/>
          <p:cNvSpPr txBox="1"/>
          <p:nvPr/>
        </p:nvSpPr>
        <p:spPr>
          <a:xfrm>
            <a:off x="6309360" y="1371600"/>
            <a:ext cx="2194560" cy="2103120"/>
          </a:xfrm>
          <a:prstGeom prst="rect">
            <a:avLst/>
          </a:prstGeom>
          <a:noFill/>
          <a:ln/>
        </p:spPr>
        <p:txBody>
          <a:bodyPr wrap="square" lIns="0" tIns="0" rIns="0" bIns="0" rtlCol="0" anchor="t"/>
          <a:lstStyle/>
          <a:p>
            <a:pPr indent="0" marL="0">
              <a:spcAft>
                <a:spcPts val="1000"/>
              </a:spcAft>
              <a:buNone/>
            </a:pPr>
            <a:r>
              <a:rPr lang="en-US" sz="1600" b="1" dirty="0">
                <a:solidFill>
                  <a:schemeClr val="tx1"/>
                </a:solidFill>
              </a:rPr>
              <a:t>MI ÚNICA COSA</a:t>
            </a:r>
            <a:endParaRPr lang="en-US" sz="1600" dirty="0"/>
          </a:p>
          <a:p>
            <a:pPr indent="0" marL="0">
              <a:spcAft>
                <a:spcPts val="600"/>
              </a:spcAft>
              <a:buNone/>
            </a:pPr>
            <a:r>
              <a:rPr lang="en-US" sz="1400" dirty="0">
                <a:solidFill>
                  <a:schemeClr val="tx1"/>
                </a:solidFill>
              </a:rPr>
              <a:t>Qué: __________</a:t>
            </a:r>
            <a:endParaRPr lang="en-US" sz="1600" dirty="0"/>
          </a:p>
          <a:p>
            <a:pPr indent="0" marL="0">
              <a:spcAft>
                <a:spcPts val="600"/>
              </a:spcAft>
              <a:buNone/>
            </a:pPr>
            <a:r>
              <a:rPr lang="en-US" sz="1400" dirty="0">
                <a:solidFill>
                  <a:schemeClr val="tx1"/>
                </a:solidFill>
              </a:rPr>
              <a:t>Cuándo: __________</a:t>
            </a:r>
            <a:endParaRPr lang="en-US" sz="1600" dirty="0"/>
          </a:p>
          <a:p>
            <a:pPr indent="0" marL="0">
              <a:buNone/>
            </a:pPr>
            <a:r>
              <a:rPr lang="en-US" sz="1400" dirty="0">
                <a:solidFill>
                  <a:schemeClr val="tx1"/>
                </a:solidFill>
              </a:rPr>
              <a:t>Dónde: __________</a:t>
            </a:r>
            <a:endParaRPr lang="en-US" sz="1600" dirty="0"/>
          </a:p>
        </p:txBody>
      </p:sp>
      <p:sp>
        <p:nvSpPr>
          <p:cNvPr id="6" name="closing line"/>
          <p:cNvSpPr txBox="1"/>
          <p:nvPr/>
        </p:nvSpPr>
        <p:spPr>
          <a:xfrm>
            <a:off x="457200" y="3931920"/>
            <a:ext cx="7406640" cy="731520"/>
          </a:xfrm>
          <a:prstGeom prst="rect">
            <a:avLst/>
          </a:prstGeom>
          <a:noFill/>
          <a:ln/>
        </p:spPr>
        <p:txBody>
          <a:bodyPr wrap="square" lIns="0" tIns="0" rIns="0" bIns="0" rtlCol="0" anchor="ctr"/>
          <a:lstStyle/>
          <a:p>
            <a:pPr indent="0" marL="0">
              <a:buNone/>
            </a:pPr>
            <a:r>
              <a:rPr lang="en-US" sz="1600" b="1" i="1" dirty="0">
                <a:solidFill>
                  <a:schemeClr val="accent4"/>
                </a:solidFill>
              </a:rPr>
              <a:t>Es biología, no fuerza de voluntad. Y la biología responde a lo que haces, desde la primera semana.</a:t>
            </a:r>
            <a:endParaRPr lang="en-US" sz="1600" dirty="0"/>
          </a:p>
        </p:txBody>
      </p:sp>
      <p:sp>
        <p:nvSpPr>
          <p:cNvPr id="7" name="icon circle"/>
          <p:cNvSpPr/>
          <p:nvPr/>
        </p:nvSpPr>
        <p:spPr>
          <a:xfrm>
            <a:off x="8138160" y="4069080"/>
            <a:ext cx="548640" cy="548640"/>
          </a:xfrm>
          <a:prstGeom prst="ellipse">
            <a:avLst/>
          </a:prstGeom>
          <a:solidFill>
            <a:schemeClr val="accent1"/>
          </a:solidFill>
          <a:ln w="12700">
            <a:solidFill>
              <a:schemeClr val="accent1"/>
            </a:solidFill>
            <a:prstDash val="solid"/>
          </a:ln>
        </p:spPr>
      </p:sp>
      <p:pic>
        <p:nvPicPr>
          <p:cNvPr id="8" name="icon" descr="preencoded.png">    </p:cNvPr>
          <p:cNvPicPr>
            <a:picLocks noChangeAspect="1"/>
          </p:cNvPicPr>
          <p:nvPr/>
        </p:nvPicPr>
        <p:blipFill>
          <a:blip r:embed="rId1"/>
          <a:stretch>
            <a:fillRect/>
          </a:stretch>
        </p:blipFill>
        <p:spPr>
          <a:xfrm>
            <a:off x="8258861" y="4189781"/>
            <a:ext cx="307238" cy="307238"/>
          </a:xfrm>
          <a:prstGeom prst="rect">
            <a:avLst/>
          </a:prstGeom>
        </p:spPr>
      </p:pic>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8C2"/>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rgbClr val="0B2E3A"/>
                </a:solidFill>
              </a:rPr>
              <a:t>Referencias (para el profesorado)</a:t>
            </a:r>
            <a:endParaRPr lang="en-US" sz="2800" dirty="0"/>
          </a:p>
        </p:txBody>
      </p:sp>
      <p:sp>
        <p:nvSpPr>
          <p:cNvPr id="3" name="refs"/>
          <p:cNvSpPr txBox="1"/>
          <p:nvPr/>
        </p:nvSpPr>
        <p:spPr>
          <a:xfrm>
            <a:off x="457200" y="1188720"/>
            <a:ext cx="8229600" cy="347472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chemeClr val="tx1"/>
                </a:solidFill>
              </a:rPr>
              <a:t>World Health Organization. WHO guidelines on physical activity and sedentary behaviour. Geneva: WHO; 2020.</a:t>
            </a:r>
            <a:endParaRPr lang="en-US" sz="1050" dirty="0"/>
          </a:p>
          <a:p>
            <a:pPr marL="342900" indent="-342900">
              <a:spcAft>
                <a:spcPts val="600"/>
              </a:spcAft>
              <a:buSzPct val="100000"/>
              <a:buChar char="•"/>
            </a:pPr>
            <a:r>
              <a:rPr lang="en-US" sz="1050" dirty="0">
                <a:solidFill>
                  <a:schemeClr val="tx1"/>
                </a:solidFill>
              </a:rPr>
              <a:t>Guthold R, Stevens GA, Riley LM, Bull FC. Global trends in insufficient physical activity among adolescents: a pooled analysis of 298 population-based surveys with 1.6 million participants. Lancet Child Adolesc Health. 2020;4(1):23-35.</a:t>
            </a:r>
            <a:endParaRPr lang="en-US" sz="1050" dirty="0"/>
          </a:p>
          <a:p>
            <a:pPr marL="342900" indent="-342900">
              <a:spcAft>
                <a:spcPts val="600"/>
              </a:spcAft>
              <a:buSzPct val="100000"/>
              <a:buChar char="•"/>
            </a:pPr>
            <a:r>
              <a:rPr lang="en-US" sz="1050" dirty="0">
                <a:solidFill>
                  <a:schemeClr val="tx1"/>
                </a:solidFill>
              </a:rPr>
              <a:t>Gasol Foundation. Estudio PASOS 2022: actividad física, sedentarismo, estilos de vida y obesidad en la población infantil y adolescente española. Barcelona; 2023.</a:t>
            </a:r>
            <a:endParaRPr lang="en-US" sz="1050" dirty="0"/>
          </a:p>
          <a:p>
            <a:pPr marL="342900" indent="-342900">
              <a:spcAft>
                <a:spcPts val="600"/>
              </a:spcAft>
              <a:buSzPct val="100000"/>
              <a:buChar char="•"/>
            </a:pPr>
            <a:r>
              <a:rPr lang="en-US" sz="1050" dirty="0">
                <a:solidFill>
                  <a:schemeClr val="tx1"/>
                </a:solidFill>
              </a:rPr>
              <a:t>AESAN. Estudio ALADINO 2023: vigilancia del crecimiento, alimentación, actividad física, desarrollo infantil y obesidad en España. Madrid: Ministerio de Derechos Sociales, Consumo y Agenda 2030; 2024.</a:t>
            </a:r>
            <a:endParaRPr lang="en-US" sz="1050" dirty="0"/>
          </a:p>
          <a:p>
            <a:pPr marL="342900" indent="-342900">
              <a:spcAft>
                <a:spcPts val="600"/>
              </a:spcAft>
              <a:buSzPct val="100000"/>
              <a:buChar char="•"/>
            </a:pPr>
            <a:r>
              <a:rPr lang="en-US" sz="1050" dirty="0">
                <a:solidFill>
                  <a:schemeClr val="tx1"/>
                </a:solidFill>
              </a:rPr>
              <a:t>Paruthi S, et al. Recommended amount of sleep for pediatric populations: a consensus statement of the American Academy of Sleep Medicine. J Clin Sleep Med. 2016;12(6):785-6.</a:t>
            </a:r>
            <a:endParaRPr lang="en-US" sz="1050" dirty="0"/>
          </a:p>
          <a:p>
            <a:pPr marL="342900" indent="-342900">
              <a:spcAft>
                <a:spcPts val="600"/>
              </a:spcAft>
              <a:buSzPct val="100000"/>
              <a:buChar char="•"/>
            </a:pPr>
            <a:r>
              <a:rPr lang="en-US" sz="1050" dirty="0">
                <a:solidFill>
                  <a:schemeClr val="tx1"/>
                </a:solidFill>
              </a:rPr>
              <a:t>Álvarez-Bueno C, et al. Academic achievement and physical activity: a meta-analysis. Pediatrics. 2017;140(6):e20171498.</a:t>
            </a:r>
            <a:endParaRPr lang="en-US" sz="1050" dirty="0"/>
          </a:p>
          <a:p>
            <a:pPr marL="342900" indent="-342900">
              <a:spcAft>
                <a:spcPts val="600"/>
              </a:spcAft>
              <a:buSzPct val="100000"/>
              <a:buChar char="•"/>
            </a:pPr>
            <a:r>
              <a:rPr lang="en-US" sz="1050" dirty="0">
                <a:solidFill>
                  <a:schemeClr val="tx1"/>
                </a:solidFill>
              </a:rPr>
              <a:t>Erickson KI, et al. Physical activity, cognition, and brain outcomes: a review of the 2018 Physical Activity Guidelines. Med Sci Sports Exerc. 2019;51(6):1242-51.</a:t>
            </a:r>
            <a:endParaRPr lang="en-US" sz="1050" dirty="0"/>
          </a:p>
          <a:p>
            <a:pPr marL="342900" indent="-342900">
              <a:spcAft>
                <a:spcPts val="600"/>
              </a:spcAft>
              <a:buSzPct val="100000"/>
              <a:buChar char="•"/>
            </a:pPr>
            <a:r>
              <a:rPr lang="en-US" sz="1050" dirty="0">
                <a:solidFill>
                  <a:schemeClr val="tx1"/>
                </a:solidFill>
              </a:rPr>
              <a:t>Spiegel K, Tasali E, Penev P, Van Cauter E. Brief communication: sleep curtailment in healthy young men is associated with decreased leptin levels, elevated ghrelin levels, and increased hunger and appetite. Ann Intern Med. 2004;141(11):846-50.</a:t>
            </a:r>
            <a:endParaRPr lang="en-US" sz="105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7C86"/>
                </a:solidFill>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SixtyMinuteQuestion">
  <a:themeElements>
    <a:clrScheme name="SixtyMinuteQuestion">
      <a:dk1>
        <a:srgbClr val="0B2E3A"/>
      </a:dk1>
      <a:lt1>
        <a:srgbClr val="FFFFFF"/>
      </a:lt1>
      <a:dk2>
        <a:srgbClr val="0F4C5C"/>
      </a:dk2>
      <a:lt2>
        <a:srgbClr val="EEF5F3"/>
      </a:lt2>
      <a:accent1>
        <a:srgbClr val="C8F23D"/>
      </a:accent1>
      <a:accent2>
        <a:srgbClr val="FF6B57"/>
      </a:accent2>
      <a:accent3>
        <a:srgbClr val="2EC4B6"/>
      </a:accent3>
      <a:accent4>
        <a:srgbClr val="FFD166"/>
      </a:accent4>
      <a:accent5>
        <a:srgbClr val="9BB8C2"/>
      </a:accent5>
      <a:accent6>
        <a:srgbClr val="5C7C86"/>
      </a:accent6>
      <a:hlink>
        <a:srgbClr val="0F4C5C"/>
      </a:hlink>
      <a:folHlink>
        <a:srgbClr val="5C7C86"/>
      </a:folHlink>
    </a:clrScheme>
    <a:fontScheme name="SixtyMinuteQuest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pregunta de los 60 minutos</dc:title>
  <dc:subject>PptxGenJS Presentation</dc:subject>
  <dc:creator>Dra. Cristina Petratti</dc:creator>
  <cp:lastModifiedBy>Dra. Cristina Petratti</cp:lastModifiedBy>
  <cp:revision>1</cp:revision>
  <dcterms:created xsi:type="dcterms:W3CDTF">2026-10-07T08:01:43Z</dcterms:created>
  <dcterms:modified xsi:type="dcterms:W3CDTF">2026-10-07T08:01:43Z</dcterms:modified>
</cp:coreProperties>
</file>